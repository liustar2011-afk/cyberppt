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0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319a03cc530d59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096000"/>
            <a:chOff x="0" y="0"/>
            <a:chExt cx="12192000" cy="6096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09600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23825" y="200025"/>
            <a:ext cx="1104900" cy="2162175"/>
            <a:chOff x="123825" y="200025"/>
            <a:chExt cx="1104900" cy="2162175"/>
          </a:xfrm>
        </p:grpSpPr>
        <p:sp>
          <p:nvSpPr>
            <p:cNvPr id="4" name="Rectangle 4"/>
            <p:cNvSpPr/>
            <p:nvPr/>
          </p:nvSpPr>
          <p:spPr>
            <a:xfrm>
              <a:off x="123825" y="200025"/>
              <a:ext cx="1104900" cy="2162175"/>
            </a:xfrm>
            <a:prstGeom prst="roundRect">
              <a:avLst>
                <a:gd name="adj" fmla="val 8621"/>
              </a:avLst>
            </a:prstGeom>
            <a:gradFill>
              <a:gsLst>
                <a:gs pos="0">
                  <a:srgbClr val="0E3B78"/>
                </a:gs>
                <a:gs pos="100000">
                  <a:srgbClr val="082C6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68140" y="473869"/>
              <a:ext cx="81627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建设期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04800" y="895350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9525">
              <a:solidFill>
                <a:srgbClr val="D9E6F7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38175" y="85725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76275" y="9334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9E6F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71475" y="1504950"/>
              <a:ext cx="609600" cy="571500"/>
            </a:xfrm>
            <a:prstGeom prst="roundRect">
              <a:avLst>
                <a:gd name="adj" fmla="val 6667"/>
              </a:avLst>
            </a:prstGeom>
            <a:noFill/>
            <a:ln w="47625">
              <a:solidFill>
                <a:srgbClr val="7C99BD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71475" y="164782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47625">
              <a:solidFill>
                <a:srgbClr val="7C99BD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04825" y="1762125"/>
              <a:ext cx="76200" cy="76200"/>
            </a:xfrm>
            <a:prstGeom prst="ellipse">
              <a:avLst/>
            </a:prstGeom>
            <a:solidFill>
              <a:srgbClr val="7C99BD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47700" y="1762125"/>
              <a:ext cx="76200" cy="76200"/>
            </a:xfrm>
            <a:prstGeom prst="ellipse">
              <a:avLst/>
            </a:prstGeom>
            <a:solidFill>
              <a:srgbClr val="7C99B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90575" y="1762125"/>
              <a:ext cx="76200" cy="76200"/>
            </a:xfrm>
            <a:prstGeom prst="ellipse">
              <a:avLst/>
            </a:prstGeom>
            <a:solidFill>
              <a:srgbClr val="7C99BD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552575" y="292894"/>
            <a:ext cx="4535319" cy="2095976"/>
            <a:chOff x="1552575" y="292894"/>
            <a:chExt cx="4535319" cy="2095976"/>
          </a:xfrm>
        </p:grpSpPr>
        <p:sp>
          <p:nvSpPr>
            <p:cNvPr id="15" name="TextBox 15"/>
            <p:cNvSpPr txBox="1"/>
            <p:nvPr/>
          </p:nvSpPr>
          <p:spPr>
            <a:xfrm>
              <a:off x="1552575" y="29289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总体要求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55242" y="6353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数据供得出、流得动、用得好、保安全，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55242" y="8829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建设可信连接、统一目录和安全管控等能力。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52575" y="13787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建设节点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562100" y="19907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103B7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085975" y="1943100"/>
              <a:ext cx="95250" cy="95250"/>
            </a:xfrm>
            <a:prstGeom prst="ellipse">
              <a:avLst/>
            </a:prstGeom>
            <a:solidFill>
              <a:srgbClr val="103B7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75332" y="1744980"/>
              <a:ext cx="15945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2026年12月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8380" y="20955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初验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524250" y="1990725"/>
              <a:ext cx="1009650" cy="9525"/>
            </a:xfrm>
            <a:custGeom>
              <a:avLst/>
              <a:gdLst/>
              <a:ahLst/>
              <a:cxnLst/>
              <a:rect l="l" t="t" r="r" b="b"/>
              <a:pathLst>
                <a:path w="1009650" h="9525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w="19050">
              <a:solidFill>
                <a:srgbClr val="103B7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86275" y="1943100"/>
              <a:ext cx="95250" cy="95250"/>
            </a:xfrm>
            <a:prstGeom prst="ellipse">
              <a:avLst/>
            </a:prstGeom>
            <a:solidFill>
              <a:srgbClr val="103B7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56582" y="1744980"/>
              <a:ext cx="14313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2027年6月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9630" y="20955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终验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62075" y="2457450"/>
            <a:ext cx="8143875" cy="1181100"/>
            <a:chOff x="1362075" y="2457450"/>
            <a:chExt cx="8143875" cy="1181100"/>
          </a:xfrm>
        </p:grpSpPr>
        <p:sp>
          <p:nvSpPr>
            <p:cNvPr id="28" name="Rectangle 28"/>
            <p:cNvSpPr/>
            <p:nvPr/>
          </p:nvSpPr>
          <p:spPr>
            <a:xfrm>
              <a:off x="1362075" y="2457450"/>
              <a:ext cx="8143875" cy="1181100"/>
            </a:xfrm>
            <a:prstGeom prst="roundRect">
              <a:avLst>
                <a:gd name="adj" fmla="val 7258"/>
              </a:avLst>
            </a:prstGeom>
            <a:solidFill>
              <a:srgbClr val="EEF4FA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305175" y="2581275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324475" y="2581275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248525" y="2581275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58785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主体接入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4772" y="29427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总体建设任务完成时，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04772" y="3180874"/>
              <a:ext cx="1523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实现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600家以上</a:t>
              </a:r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数据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04772" y="33999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流通利用主体接入。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39985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行业流通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81197" y="2942749"/>
              <a:ext cx="16860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支持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5个以上</a:t>
              </a:r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重点行业的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81197" y="31808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跨区域、跨行业数据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81197" y="33999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流通利用。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11660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产品发布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57647" y="2942749"/>
              <a:ext cx="1348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发布不少于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1200个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57647" y="31808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数据产品。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07160" y="2584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示范场景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62647" y="2942749"/>
              <a:ext cx="18027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打造</a:t>
              </a:r>
              <a:r>
                <a:rPr lang="zh-CN" sz="15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20个以上</a:t>
              </a:r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示范性强、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62647" y="318087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带动性广的典型应用场景。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825" y="3981450"/>
            <a:ext cx="1104900" cy="1857375"/>
            <a:chOff x="123825" y="3981450"/>
            <a:chExt cx="1104900" cy="1857375"/>
          </a:xfrm>
        </p:grpSpPr>
        <p:sp>
          <p:nvSpPr>
            <p:cNvPr id="47" name="Rectangle 47"/>
            <p:cNvSpPr/>
            <p:nvPr/>
          </p:nvSpPr>
          <p:spPr>
            <a:xfrm>
              <a:off x="123825" y="3981450"/>
              <a:ext cx="1104900" cy="1857375"/>
            </a:xfrm>
            <a:prstGeom prst="roundRect">
              <a:avLst>
                <a:gd name="adj" fmla="val 8621"/>
              </a:avLst>
            </a:prstGeom>
            <a:gradFill>
              <a:gsLst>
                <a:gs pos="0">
                  <a:srgbClr val="0E3B78"/>
                </a:gs>
                <a:gs pos="100000">
                  <a:srgbClr val="082C6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8140" y="4274344"/>
              <a:ext cx="81627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运营期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04800" y="4695825"/>
              <a:ext cx="752475" cy="9525"/>
            </a:xfrm>
            <a:custGeom>
              <a:avLst/>
              <a:gdLst/>
              <a:ahLst/>
              <a:cxnLst/>
              <a:rect l="l" t="t" r="r" b="b"/>
              <a:pathLst>
                <a:path w="752475" h="9525">
                  <a:moveTo>
                    <a:pt x="0" y="0"/>
                  </a:moveTo>
                  <a:lnTo>
                    <a:pt x="752475" y="0"/>
                  </a:lnTo>
                </a:path>
              </a:pathLst>
            </a:custGeom>
            <a:noFill/>
            <a:ln w="9525">
              <a:solidFill>
                <a:srgbClr val="D9E6F7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38175" y="4657725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90525" y="4943475"/>
              <a:ext cx="542925" cy="542925"/>
            </a:xfrm>
            <a:prstGeom prst="roundRect">
              <a:avLst>
                <a:gd name="adj" fmla="val 7018"/>
              </a:avLst>
            </a:prstGeom>
            <a:noFill/>
            <a:ln w="47625">
              <a:solidFill>
                <a:srgbClr val="7C99BD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504825" y="511492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8100">
              <a:solidFill>
                <a:srgbClr val="7C99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04825" y="524827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38100">
              <a:solidFill>
                <a:srgbClr val="7C99BD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410081" y="4034790"/>
            <a:ext cx="7691806" cy="1642110"/>
            <a:chOff x="1410081" y="4034790"/>
            <a:chExt cx="7691806" cy="1642110"/>
          </a:xfrm>
        </p:grpSpPr>
        <p:sp>
          <p:nvSpPr>
            <p:cNvPr id="55" name="TextBox 55"/>
            <p:cNvSpPr txBox="1"/>
            <p:nvPr/>
          </p:nvSpPr>
          <p:spPr>
            <a:xfrm>
              <a:off x="1410081" y="4034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持续运营评价原则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3419475" y="44767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5400675" y="44767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7191375" y="44767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9525">
              <a:solidFill>
                <a:srgbClr val="B7C9D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411224" y="46115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01　真实使用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14272" y="49620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有效产品应有独立标识、明确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14272" y="51811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版本、权利依据、质量说明和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14272" y="54001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真实使用记录。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601974" y="46115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02　服务质量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605022" y="49620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服务等级、质量责任和客户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605022" y="51811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支持要求落实到产品说明及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605022" y="54001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合同文件。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83174" y="46115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03　经营效果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86222" y="49620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检验产品价格、资源投入和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586222" y="51811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持续服务责任是否匹配。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73874" y="46115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03B76"/>
                  </a:solidFill>
                  <a:latin typeface="Microsoft YaHei"/>
                  <a:ea typeface="Microsoft YaHei"/>
                  <a:cs typeface="Microsoft YaHei"/>
                </a:rPr>
                <a:t>04　安全合规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76922" y="49620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将分类分级、权利核查、用途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76922" y="51811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限定和风险处置贯穿全过程。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2026-08-14T03:34:31Z</dcterms:created>
  <dcterms:modified xsi:type="dcterms:W3CDTF">2026-08-14T03:34:31Z</dcterms:modified>
  <cp:category/>
  <cp:contentStatus/>
</cp:coreProperties>
</file>