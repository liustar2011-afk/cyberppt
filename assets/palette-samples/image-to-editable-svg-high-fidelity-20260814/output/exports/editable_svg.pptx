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6897350" cy="84486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6771652828710c44.jpg"/>
  <Relationship Id="rId3" Type="http://schemas.openxmlformats.org/officeDocument/2006/relationships/image" Target="../media/image_6db13f8c97d2e83d.jpg"/>
  <Relationship Id="rId4" Type="http://schemas.openxmlformats.org/officeDocument/2006/relationships/image" Target="../media/image_340fd44a434e4c5b.jpg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077671f13cd7cf10.jp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6897350" cy="8448675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F5F3EF"/>
              </a:gs>
            </a:gsLst>
            <a:lin ang="2700000" scaled="1"/>
          </a:gra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0" y="0"/>
            <a:ext cx="6667500" cy="8448675"/>
            <a:chOff x="0" y="0"/>
            <a:chExt cx="6667500" cy="8448675"/>
          </a:xfrm>
        </p:grpSpPr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6477000" cy="2762250"/>
            </a:xfrm>
            <a:prstGeom prst="rect">
              <a:avLst/>
            </a:prstGeom>
          </p:spPr>
        </p:pic>
        <p:pic>
          <p:nvPicPr>
            <p:cNvPr id="4" name="Image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2762250"/>
              <a:ext cx="4095750" cy="3429000"/>
            </a:xfrm>
            <a:prstGeom prst="rect">
              <a:avLst/>
            </a:prstGeom>
          </p:spPr>
        </p:pic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6010275"/>
              <a:ext cx="6667500" cy="2438400"/>
            </a:xfrm>
            <a:prstGeom prst="rect">
              <a:avLst/>
            </a:prstGeom>
          </p:spPr>
        </p:pic>
      </p:grpSp>
      <p:grpSp>
        <p:nvGrpSpPr>
          <p:cNvPr id="31" name="Group 31"/>
          <p:cNvGrpSpPr/>
          <p:nvPr/>
        </p:nvGrpSpPr>
        <p:grpSpPr>
          <a:xfrm>
            <a:off x="3333750" y="0"/>
            <a:ext cx="4233101" cy="8448675"/>
            <a:chOff x="3333750" y="0"/>
            <a:chExt cx="4233101" cy="8448675"/>
          </a:xfrm>
        </p:grpSpPr>
        <p:sp>
          <p:nvSpPr>
            <p:cNvPr id="7" name="Freeform 7"/>
            <p:cNvSpPr/>
            <p:nvPr/>
          </p:nvSpPr>
          <p:spPr>
            <a:xfrm>
              <a:off x="3333750" y="0"/>
              <a:ext cx="4210050" cy="8448675"/>
            </a:xfrm>
            <a:custGeom>
              <a:avLst/>
              <a:gdLst/>
              <a:ahLst/>
              <a:cxnLst/>
              <a:rect l="l" t="t" r="r" b="b"/>
              <a:pathLst>
                <a:path w="4210050" h="8448675">
                  <a:moveTo>
                    <a:pt x="2762250" y="0"/>
                  </a:moveTo>
                  <a:cubicBezTo>
                    <a:pt x="3667125" y="523875"/>
                    <a:pt x="2952750" y="1238250"/>
                    <a:pt x="1905000" y="2047875"/>
                  </a:cubicBezTo>
                  <a:cubicBezTo>
                    <a:pt x="904875" y="2809875"/>
                    <a:pt x="123825" y="3476625"/>
                    <a:pt x="285750" y="4762500"/>
                  </a:cubicBezTo>
                  <a:cubicBezTo>
                    <a:pt x="419100" y="5810250"/>
                    <a:pt x="1314450" y="6515100"/>
                    <a:pt x="2800350" y="6667500"/>
                  </a:cubicBezTo>
                  <a:lnTo>
                    <a:pt x="4210050" y="8448675"/>
                  </a:lnTo>
                  <a:lnTo>
                    <a:pt x="304800" y="8448675"/>
                  </a:lnTo>
                  <a:lnTo>
                    <a:pt x="304800" y="6191250"/>
                  </a:lnTo>
                  <a:cubicBezTo>
                    <a:pt x="28575" y="5286375"/>
                    <a:pt x="0" y="4010025"/>
                    <a:pt x="447675" y="3209925"/>
                  </a:cubicBezTo>
                  <a:cubicBezTo>
                    <a:pt x="962025" y="2314575"/>
                    <a:pt x="2238375" y="1714500"/>
                    <a:pt x="2962275" y="828675"/>
                  </a:cubicBezTo>
                  <a:cubicBezTo>
                    <a:pt x="3238500" y="495300"/>
                    <a:pt x="3314700" y="209550"/>
                    <a:pt x="3238500" y="0"/>
                  </a:cubicBezTo>
                  <a:close/>
                </a:path>
              </a:pathLst>
            </a:custGeom>
            <a:solidFill>
              <a:srgbClr val="F8F7F4"/>
            </a:solidFill>
            <a:ln w="66675">
              <a:solidFill>
                <a:srgbClr val="D9DDE1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4400550" y="2009775"/>
              <a:ext cx="2457450" cy="600075"/>
            </a:xfrm>
            <a:custGeom>
              <a:avLst/>
              <a:gdLst/>
              <a:ahLst/>
              <a:cxnLst/>
              <a:rect l="l" t="t" r="r" b="b"/>
              <a:pathLst>
                <a:path w="2457450" h="600075">
                  <a:moveTo>
                    <a:pt x="47625" y="114300"/>
                  </a:moveTo>
                  <a:cubicBezTo>
                    <a:pt x="628650" y="0"/>
                    <a:pt x="1323975" y="47625"/>
                    <a:pt x="2457450" y="257175"/>
                  </a:cubicBezTo>
                  <a:lnTo>
                    <a:pt x="1952625" y="600075"/>
                  </a:lnTo>
                  <a:cubicBezTo>
                    <a:pt x="1285875" y="409575"/>
                    <a:pt x="609600" y="371475"/>
                    <a:pt x="0" y="457200"/>
                  </a:cubicBezTo>
                  <a:close/>
                </a:path>
              </a:pathLst>
            </a:custGeom>
            <a:solidFill>
              <a:srgbClr val="07346C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6372225" y="1924050"/>
              <a:ext cx="504825" cy="695325"/>
            </a:xfrm>
            <a:custGeom>
              <a:avLst/>
              <a:gdLst/>
              <a:ahLst/>
              <a:cxnLst/>
              <a:rect l="l" t="t" r="r" b="b"/>
              <a:pathLst>
                <a:path w="504825" h="695325">
                  <a:moveTo>
                    <a:pt x="9525" y="0"/>
                  </a:moveTo>
                  <a:lnTo>
                    <a:pt x="504825" y="342900"/>
                  </a:lnTo>
                  <a:lnTo>
                    <a:pt x="0" y="695325"/>
                  </a:lnTo>
                  <a:close/>
                </a:path>
              </a:pathLst>
            </a:custGeom>
            <a:solidFill>
              <a:srgbClr val="07346C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4857750" y="2571750"/>
              <a:ext cx="457200" cy="457200"/>
            </a:xfrm>
            <a:prstGeom prst="ellipse">
              <a:avLst/>
            </a:prstGeom>
            <a:noFill/>
            <a:ln w="57150">
              <a:solidFill>
                <a:srgbClr val="08346C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4953000" y="2667000"/>
              <a:ext cx="266700" cy="266700"/>
            </a:xfrm>
            <a:prstGeom prst="ellipse">
              <a:avLst/>
            </a:prstGeom>
            <a:noFill/>
            <a:ln w="47625">
              <a:solidFill>
                <a:srgbClr val="08346C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5086350" y="2581275"/>
              <a:ext cx="161925" cy="219075"/>
            </a:xfrm>
            <a:custGeom>
              <a:avLst/>
              <a:gdLst/>
              <a:ahLst/>
              <a:cxnLst/>
              <a:rect l="l" t="t" r="r" b="b"/>
              <a:pathLst>
                <a:path w="161925" h="219075">
                  <a:moveTo>
                    <a:pt x="0" y="219075"/>
                  </a:moveTo>
                  <a:lnTo>
                    <a:pt x="114300" y="104775"/>
                  </a:lnTo>
                  <a:moveTo>
                    <a:pt x="85725" y="0"/>
                  </a:moveTo>
                  <a:lnTo>
                    <a:pt x="161925" y="104775"/>
                  </a:lnTo>
                  <a:moveTo>
                    <a:pt x="85725" y="0"/>
                  </a:moveTo>
                  <a:lnTo>
                    <a:pt x="76200" y="133350"/>
                  </a:lnTo>
                </a:path>
              </a:pathLst>
            </a:custGeom>
            <a:noFill/>
            <a:ln w="57150">
              <a:solidFill>
                <a:srgbClr val="08346C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143375" y="3255169"/>
              <a:ext cx="20383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dirty="0">
                  <a:solidFill>
                    <a:srgbClr val="111111"/>
                  </a:solidFill>
                  <a:latin typeface="Segoe UI"/>
                  <a:ea typeface="Microsoft YaHei"/>
                  <a:cs typeface="Segoe UI"/>
                </a:rPr>
                <a:t>首期服务方向围绕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142613" y="3600926"/>
              <a:ext cx="2882932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103D78"/>
                  </a:solidFill>
                  <a:latin typeface="Segoe UI"/>
                  <a:ea typeface="Microsoft YaHei"/>
                  <a:cs typeface="Segoe UI"/>
                </a:rPr>
                <a:t>需求明确、资源清晰、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142613" y="3943826"/>
              <a:ext cx="2882932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103D78"/>
                  </a:solidFill>
                  <a:latin typeface="Segoe UI"/>
                  <a:ea typeface="Microsoft YaHei"/>
                  <a:cs typeface="Segoe UI"/>
                </a:rPr>
                <a:t>成果可验、价格可执行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143375" y="4331494"/>
              <a:ext cx="3048000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dirty="0">
                  <a:solidFill>
                    <a:srgbClr val="111111"/>
                  </a:solidFill>
                  <a:latin typeface="Segoe UI"/>
                  <a:ea typeface="Microsoft YaHei"/>
                  <a:cs typeface="Segoe UI"/>
                </a:rPr>
                <a:t>的领域，优先形成可展示、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143375" y="4702969"/>
              <a:ext cx="20383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dirty="0">
                  <a:solidFill>
                    <a:srgbClr val="111111"/>
                  </a:solidFill>
                  <a:latin typeface="Segoe UI"/>
                  <a:ea typeface="Microsoft YaHei"/>
                  <a:cs typeface="Segoe UI"/>
                </a:rPr>
                <a:t>可交付、可复制的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143375" y="5055394"/>
              <a:ext cx="1281112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dirty="0">
                  <a:solidFill>
                    <a:srgbClr val="111111"/>
                  </a:solidFill>
                  <a:latin typeface="Segoe UI"/>
                  <a:ea typeface="Microsoft YaHei"/>
                  <a:cs typeface="Segoe UI"/>
                </a:rPr>
                <a:t>行业服务。</a:t>
              </a:r>
            </a:p>
          </p:txBody>
        </p:sp>
        <p:grpSp>
          <p:nvGrpSpPr>
            <p:cNvPr id="25" name="Group 25"/>
            <p:cNvGrpSpPr/>
            <p:nvPr/>
          </p:nvGrpSpPr>
          <p:grpSpPr>
            <a:xfrm>
              <a:off x="4667250" y="5495925"/>
              <a:ext cx="2514600" cy="400050"/>
              <a:chOff x="4667250" y="5495925"/>
              <a:chExt cx="2514600" cy="400050"/>
            </a:xfrm>
          </p:grpSpPr>
          <p:sp>
            <p:nvSpPr>
              <p:cNvPr id="19" name="Ellipse 19"/>
              <p:cNvSpPr/>
              <p:nvPr/>
            </p:nvSpPr>
            <p:spPr>
              <a:xfrm>
                <a:off x="4667250" y="5534025"/>
                <a:ext cx="285750" cy="285750"/>
              </a:xfrm>
              <a:prstGeom prst="ellipse">
                <a:avLst/>
              </a:prstGeom>
              <a:noFill/>
              <a:ln w="28575">
                <a:solidFill>
                  <a:srgbClr val="08346C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4743450" y="5591175"/>
                <a:ext cx="17145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42875">
                    <a:moveTo>
                      <a:pt x="0" y="85725"/>
                    </a:moveTo>
                    <a:lnTo>
                      <a:pt x="57150" y="142875"/>
                    </a:lnTo>
                    <a:lnTo>
                      <a:pt x="171450" y="0"/>
                    </a:lnTo>
                  </a:path>
                </a:pathLst>
              </a:custGeom>
              <a:noFill/>
              <a:ln w="28575">
                <a:solidFill>
                  <a:srgbClr val="08346C"/>
                </a:solidFill>
              </a:ln>
            </p:spPr>
          </p:sp>
          <p:sp>
            <p:nvSpPr>
              <p:cNvPr id="21" name="Ellipse 21"/>
              <p:cNvSpPr/>
              <p:nvPr/>
            </p:nvSpPr>
            <p:spPr>
              <a:xfrm>
                <a:off x="5448300" y="5610225"/>
                <a:ext cx="247650" cy="133350"/>
              </a:xfrm>
              <a:prstGeom prst="ellipse">
                <a:avLst/>
              </a:prstGeom>
              <a:noFill/>
              <a:ln w="28575">
                <a:solidFill>
                  <a:srgbClr val="08346C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5448300" y="5676900"/>
                <a:ext cx="247650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209550">
                    <a:moveTo>
                      <a:pt x="0" y="0"/>
                    </a:moveTo>
                    <a:lnTo>
                      <a:pt x="0" y="133350"/>
                    </a:lnTo>
                    <a:cubicBezTo>
                      <a:pt x="76200" y="209550"/>
                      <a:pt x="228600" y="209550"/>
                      <a:pt x="247650" y="133350"/>
                    </a:cubicBezTo>
                    <a:lnTo>
                      <a:pt x="247650" y="0"/>
                    </a:lnTo>
                  </a:path>
                </a:pathLst>
              </a:custGeom>
              <a:noFill/>
              <a:ln w="28575">
                <a:solidFill>
                  <a:srgbClr val="08346C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6076950" y="5524500"/>
                <a:ext cx="266700" cy="371475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371475">
                    <a:moveTo>
                      <a:pt x="133350" y="0"/>
                    </a:moveTo>
                    <a:lnTo>
                      <a:pt x="266700" y="47625"/>
                    </a:lnTo>
                    <a:lnTo>
                      <a:pt x="266700" y="180975"/>
                    </a:lnTo>
                    <a:cubicBezTo>
                      <a:pt x="266700" y="276225"/>
                      <a:pt x="200025" y="342900"/>
                      <a:pt x="133350" y="371475"/>
                    </a:cubicBezTo>
                    <a:cubicBezTo>
                      <a:pt x="66675" y="342900"/>
                      <a:pt x="0" y="276225"/>
                      <a:pt x="0" y="180975"/>
                    </a:cubicBezTo>
                    <a:lnTo>
                      <a:pt x="0" y="47625"/>
                    </a:lnTo>
                    <a:close/>
                  </a:path>
                </a:pathLst>
              </a:custGeom>
              <a:noFill/>
              <a:ln w="28575">
                <a:solidFill>
                  <a:srgbClr val="08346C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6867525" y="5495925"/>
                <a:ext cx="314325" cy="314325"/>
              </a:xfrm>
              <a:custGeom>
                <a:avLst/>
                <a:gdLst/>
                <a:ahLst/>
                <a:cxnLst/>
                <a:rect l="l" t="t" r="r" b="b"/>
                <a:pathLst>
                  <a:path w="314325" h="314325">
                    <a:moveTo>
                      <a:pt x="28575" y="76200"/>
                    </a:moveTo>
                    <a:lnTo>
                      <a:pt x="200025" y="0"/>
                    </a:lnTo>
                    <a:lnTo>
                      <a:pt x="314325" y="114300"/>
                    </a:lnTo>
                    <a:lnTo>
                      <a:pt x="152400" y="314325"/>
                    </a:lnTo>
                    <a:lnTo>
                      <a:pt x="0" y="266700"/>
                    </a:lnTo>
                    <a:close/>
                  </a:path>
                </a:pathLst>
              </a:custGeom>
              <a:noFill/>
              <a:ln w="28575">
                <a:solidFill>
                  <a:srgbClr val="08346C"/>
                </a:solidFill>
              </a:ln>
            </p:spPr>
          </p:sp>
        </p:grpSp>
        <p:grpSp>
          <p:nvGrpSpPr>
            <p:cNvPr id="30" name="Group 30"/>
            <p:cNvGrpSpPr/>
            <p:nvPr/>
          </p:nvGrpSpPr>
          <p:grpSpPr>
            <a:xfrm>
              <a:off x="4509897" y="5933599"/>
              <a:ext cx="3056954" cy="190690"/>
              <a:chOff x="4509897" y="5933599"/>
              <a:chExt cx="3056954" cy="190690"/>
            </a:xfrm>
          </p:grpSpPr>
          <p:sp>
            <p:nvSpPr>
              <p:cNvPr id="26" name="TextBox 26"/>
              <p:cNvSpPr txBox="1"/>
              <p:nvPr/>
            </p:nvSpPr>
            <p:spPr>
              <a:xfrm>
                <a:off x="4509897" y="5933599"/>
                <a:ext cx="53492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111111"/>
                    </a:solidFill>
                    <a:latin typeface="Segoe UI"/>
                    <a:ea typeface="Microsoft YaHei"/>
                    <a:cs typeface="Segoe UI"/>
                  </a:rPr>
                  <a:t>需求明确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5262372" y="5933599"/>
                <a:ext cx="53492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111111"/>
                    </a:solidFill>
                    <a:latin typeface="Segoe UI"/>
                    <a:ea typeface="Microsoft YaHei"/>
                    <a:cs typeface="Segoe UI"/>
                  </a:rPr>
                  <a:t>资源清晰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6100572" y="5933599"/>
                <a:ext cx="53492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111111"/>
                    </a:solidFill>
                    <a:latin typeface="Segoe UI"/>
                    <a:ea typeface="Microsoft YaHei"/>
                    <a:cs typeface="Segoe UI"/>
                  </a:rPr>
                  <a:t>成果可验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6900672" y="5933599"/>
                <a:ext cx="666179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111111"/>
                    </a:solidFill>
                    <a:latin typeface="Segoe UI"/>
                    <a:ea typeface="Microsoft YaHei"/>
                    <a:cs typeface="Segoe UI"/>
                  </a:rPr>
                  <a:t>价格可执行</a:t>
                </a:r>
              </a:p>
            </p:txBody>
          </p:sp>
        </p:grpSp>
      </p:grpSp>
      <p:grpSp>
        <p:nvGrpSpPr>
          <p:cNvPr id="98" name="Group 98"/>
          <p:cNvGrpSpPr/>
          <p:nvPr/>
        </p:nvGrpSpPr>
        <p:grpSpPr>
          <a:xfrm>
            <a:off x="7667625" y="342900"/>
            <a:ext cx="9289875" cy="8096250"/>
            <a:chOff x="7667625" y="342900"/>
            <a:chExt cx="9289875" cy="8096250"/>
          </a:xfrm>
        </p:grpSpPr>
        <p:sp>
          <p:nvSpPr>
            <p:cNvPr id="32" name="Line 32"/>
            <p:cNvSpPr/>
            <p:nvPr/>
          </p:nvSpPr>
          <p:spPr>
            <a:xfrm>
              <a:off x="7667625" y="590550"/>
              <a:ext cx="8943975" cy="9525"/>
            </a:xfrm>
            <a:custGeom>
              <a:avLst/>
              <a:gdLst/>
              <a:ahLst/>
              <a:cxnLst/>
              <a:rect l="l" t="t" r="r" b="b"/>
              <a:pathLst>
                <a:path w="8943975" h="9525">
                  <a:moveTo>
                    <a:pt x="0" y="0"/>
                  </a:moveTo>
                  <a:lnTo>
                    <a:pt x="8943975" y="0"/>
                  </a:lnTo>
                </a:path>
              </a:pathLst>
            </a:custGeom>
            <a:noFill/>
            <a:ln w="9525">
              <a:solidFill>
                <a:srgbClr val="99A7B7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7858125" y="342900"/>
              <a:ext cx="5076825" cy="409575"/>
            </a:xfrm>
            <a:custGeom>
              <a:avLst/>
              <a:gdLst/>
              <a:ahLst/>
              <a:cxnLst/>
              <a:rect l="l" t="t" r="r" b="b"/>
              <a:pathLst>
                <a:path w="5076825" h="409575">
                  <a:moveTo>
                    <a:pt x="0" y="0"/>
                  </a:moveTo>
                  <a:lnTo>
                    <a:pt x="5076825" y="0"/>
                  </a:lnTo>
                  <a:lnTo>
                    <a:pt x="4933950" y="409575"/>
                  </a:lnTo>
                  <a:lnTo>
                    <a:pt x="0" y="409575"/>
                  </a:lnTo>
                  <a:close/>
                </a:path>
              </a:pathLst>
            </a:custGeom>
            <a:gradFill>
              <a:gsLst>
                <a:gs pos="0">
                  <a:srgbClr val="123F78"/>
                </a:gs>
                <a:gs pos="100000">
                  <a:srgbClr val="06295B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7667625" y="590550"/>
              <a:ext cx="171450" cy="1524000"/>
            </a:xfrm>
            <a:custGeom>
              <a:avLst/>
              <a:gdLst/>
              <a:ahLst/>
              <a:cxnLst/>
              <a:rect l="l" t="t" r="r" b="b"/>
              <a:pathLst>
                <a:path w="171450" h="1524000">
                  <a:moveTo>
                    <a:pt x="0" y="0"/>
                  </a:moveTo>
                  <a:lnTo>
                    <a:pt x="171450" y="0"/>
                  </a:lnTo>
                  <a:moveTo>
                    <a:pt x="0" y="0"/>
                  </a:moveTo>
                  <a:lnTo>
                    <a:pt x="0" y="1524000"/>
                  </a:lnTo>
                  <a:moveTo>
                    <a:pt x="0" y="1524000"/>
                  </a:moveTo>
                  <a:lnTo>
                    <a:pt x="171450" y="1524000"/>
                  </a:lnTo>
                </a:path>
              </a:pathLst>
            </a:custGeom>
            <a:noFill/>
            <a:ln w="28575">
              <a:solidFill>
                <a:srgbClr val="0A376F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086725" y="445294"/>
              <a:ext cx="5054679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一、选择原则｜优先形成可验证产品和场景</a:t>
              </a:r>
            </a:p>
          </p:txBody>
        </p:sp>
        <p:grpSp>
          <p:nvGrpSpPr>
            <p:cNvPr id="40" name="Group 40"/>
            <p:cNvGrpSpPr/>
            <p:nvPr/>
          </p:nvGrpSpPr>
          <p:grpSpPr>
            <a:xfrm>
              <a:off x="8077200" y="1076325"/>
              <a:ext cx="5362575" cy="609600"/>
              <a:chOff x="8077200" y="1076325"/>
              <a:chExt cx="5362575" cy="60960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8077200" y="1095375"/>
                <a:ext cx="342900" cy="590550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590550">
                    <a:moveTo>
                      <a:pt x="0" y="76200"/>
                    </a:moveTo>
                    <a:lnTo>
                      <a:pt x="342900" y="76200"/>
                    </a:lnTo>
                    <a:lnTo>
                      <a:pt x="342900" y="590550"/>
                    </a:lnTo>
                    <a:lnTo>
                      <a:pt x="0" y="590550"/>
                    </a:lnTo>
                    <a:close/>
                    <a:moveTo>
                      <a:pt x="85725" y="0"/>
                    </a:moveTo>
                    <a:lnTo>
                      <a:pt x="257175" y="0"/>
                    </a:lnTo>
                    <a:lnTo>
                      <a:pt x="257175" y="76200"/>
                    </a:lnTo>
                    <a:lnTo>
                      <a:pt x="85725" y="76200"/>
                    </a:lnTo>
                    <a:close/>
                  </a:path>
                </a:pathLst>
              </a:custGeom>
              <a:noFill/>
              <a:ln w="47625">
                <a:solidFill>
                  <a:srgbClr val="0A376F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105775" y="1247775"/>
                <a:ext cx="1524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419100">
                    <a:moveTo>
                      <a:pt x="0" y="57150"/>
                    </a:moveTo>
                    <a:lnTo>
                      <a:pt x="57150" y="114300"/>
                    </a:lnTo>
                    <a:lnTo>
                      <a:pt x="152400" y="0"/>
                    </a:lnTo>
                    <a:moveTo>
                      <a:pt x="0" y="209550"/>
                    </a:moveTo>
                    <a:lnTo>
                      <a:pt x="57150" y="266700"/>
                    </a:lnTo>
                    <a:lnTo>
                      <a:pt x="152400" y="152400"/>
                    </a:lnTo>
                    <a:moveTo>
                      <a:pt x="0" y="361950"/>
                    </a:moveTo>
                    <a:lnTo>
                      <a:pt x="57150" y="419100"/>
                    </a:lnTo>
                    <a:lnTo>
                      <a:pt x="152400" y="304800"/>
                    </a:lnTo>
                  </a:path>
                </a:pathLst>
              </a:custGeom>
              <a:noFill/>
              <a:ln w="38100">
                <a:solidFill>
                  <a:srgbClr val="0A376F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12763500" y="1133475"/>
                <a:ext cx="676275" cy="552450"/>
              </a:xfrm>
              <a:custGeom>
                <a:avLst/>
                <a:gdLst/>
                <a:ahLst/>
                <a:cxnLst/>
                <a:rect l="l" t="t" r="r" b="b"/>
                <a:pathLst>
                  <a:path w="676275" h="552450">
                    <a:moveTo>
                      <a:pt x="0" y="419100"/>
                    </a:moveTo>
                    <a:lnTo>
                      <a:pt x="133350" y="419100"/>
                    </a:lnTo>
                    <a:lnTo>
                      <a:pt x="133350" y="247650"/>
                    </a:lnTo>
                    <a:lnTo>
                      <a:pt x="228600" y="247650"/>
                    </a:lnTo>
                    <a:lnTo>
                      <a:pt x="228600" y="419100"/>
                    </a:lnTo>
                    <a:lnTo>
                      <a:pt x="361950" y="419100"/>
                    </a:lnTo>
                    <a:lnTo>
                      <a:pt x="361950" y="133350"/>
                    </a:lnTo>
                    <a:lnTo>
                      <a:pt x="457200" y="133350"/>
                    </a:lnTo>
                    <a:lnTo>
                      <a:pt x="457200" y="419100"/>
                    </a:lnTo>
                    <a:lnTo>
                      <a:pt x="581025" y="419100"/>
                    </a:lnTo>
                    <a:lnTo>
                      <a:pt x="581025" y="0"/>
                    </a:lnTo>
                    <a:lnTo>
                      <a:pt x="676275" y="0"/>
                    </a:lnTo>
                    <a:lnTo>
                      <a:pt x="676275" y="552450"/>
                    </a:lnTo>
                    <a:lnTo>
                      <a:pt x="0" y="552450"/>
                    </a:lnTo>
                    <a:close/>
                  </a:path>
                </a:pathLst>
              </a:custGeom>
              <a:solidFill>
                <a:srgbClr val="0A376F"/>
              </a:solidFill>
              <a:ln>
                <a:noFill/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12744450" y="1076325"/>
                <a:ext cx="523875" cy="323850"/>
              </a:xfrm>
              <a:custGeom>
                <a:avLst/>
                <a:gdLst/>
                <a:ahLst/>
                <a:cxnLst/>
                <a:rect l="l" t="t" r="r" b="b"/>
                <a:pathLst>
                  <a:path w="523875" h="323850">
                    <a:moveTo>
                      <a:pt x="0" y="323850"/>
                    </a:moveTo>
                    <a:lnTo>
                      <a:pt x="180975" y="142875"/>
                    </a:lnTo>
                    <a:lnTo>
                      <a:pt x="304800" y="228600"/>
                    </a:lnTo>
                    <a:lnTo>
                      <a:pt x="523875" y="0"/>
                    </a:lnTo>
                  </a:path>
                </a:pathLst>
              </a:custGeom>
              <a:noFill/>
              <a:ln w="66675">
                <a:solidFill>
                  <a:srgbClr val="0A376F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8782812" y="966311"/>
              <a:ext cx="99284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0A376F"/>
                  </a:solidFill>
                  <a:latin typeface="Segoe UI"/>
                  <a:ea typeface="Microsoft YaHei"/>
                  <a:cs typeface="Segoe UI"/>
                </a:rPr>
                <a:t>首期标准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785098" y="1319689"/>
              <a:ext cx="32483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222222"/>
                  </a:solidFill>
                  <a:latin typeface="Segoe UI"/>
                  <a:ea typeface="Microsoft YaHei"/>
                  <a:cs typeface="Segoe UI"/>
                </a:rPr>
                <a:t>- 重点选择真实需求明确、资源权利清晰、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918448" y="1557814"/>
              <a:ext cx="27592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222222"/>
                  </a:solidFill>
                  <a:latin typeface="Segoe UI"/>
                  <a:ea typeface="Microsoft YaHei"/>
                  <a:cs typeface="Segoe UI"/>
                </a:rPr>
                <a:t>交付成果可验证、商务价格可执行、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918448" y="1795939"/>
              <a:ext cx="22442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222222"/>
                  </a:solidFill>
                  <a:latin typeface="Segoe UI"/>
                  <a:ea typeface="Microsoft YaHei"/>
                  <a:cs typeface="Segoe UI"/>
                </a:rPr>
                <a:t>持续服务有条件的服务方向。</a:t>
              </a:r>
            </a:p>
          </p:txBody>
        </p:sp>
        <p:sp>
          <p:nvSpPr>
            <p:cNvPr id="45" name="Line 45"/>
            <p:cNvSpPr/>
            <p:nvPr/>
          </p:nvSpPr>
          <p:spPr>
            <a:xfrm>
              <a:off x="12411075" y="962025"/>
              <a:ext cx="9525" cy="1009650"/>
            </a:xfrm>
            <a:custGeom>
              <a:avLst/>
              <a:gdLst/>
              <a:ahLst/>
              <a:cxnLst/>
              <a:rect l="l" t="t" r="r" b="b"/>
              <a:pathLst>
                <a:path w="9525" h="1009650">
                  <a:moveTo>
                    <a:pt x="0" y="0"/>
                  </a:moveTo>
                  <a:lnTo>
                    <a:pt x="0" y="1009650"/>
                  </a:lnTo>
                </a:path>
              </a:pathLst>
            </a:custGeom>
            <a:noFill/>
            <a:ln w="9525">
              <a:solidFill>
                <a:srgbClr val="AEB9C5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3611987" y="966311"/>
              <a:ext cx="99284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0A376F"/>
                  </a:solidFill>
                  <a:latin typeface="Segoe UI"/>
                  <a:ea typeface="Microsoft YaHei"/>
                  <a:cs typeface="Segoe UI"/>
                </a:rPr>
                <a:t>推进方式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3557123" y="1319689"/>
              <a:ext cx="27334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222222"/>
                  </a:solidFill>
                  <a:latin typeface="Segoe UI"/>
                  <a:ea typeface="Microsoft YaHei"/>
                  <a:cs typeface="Segoe UI"/>
                </a:rPr>
                <a:t>- 按照成熟一项、推进一项的原则，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3690473" y="1557814"/>
              <a:ext cx="24159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222222"/>
                  </a:solidFill>
                  <a:latin typeface="Segoe UI"/>
                  <a:ea typeface="Microsoft YaHei"/>
                  <a:cs typeface="Segoe UI"/>
                </a:rPr>
                <a:t>先形成样例、试点和首批客户，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3690473" y="1795939"/>
              <a:ext cx="17293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222222"/>
                  </a:solidFill>
                  <a:latin typeface="Segoe UI"/>
                  <a:ea typeface="Microsoft YaHei"/>
                  <a:cs typeface="Segoe UI"/>
                </a:rPr>
                <a:t>再逐步纳入正式运营。</a:t>
              </a:r>
            </a:p>
          </p:txBody>
        </p:sp>
        <p:sp>
          <p:nvSpPr>
            <p:cNvPr id="50" name="Line 50"/>
            <p:cNvSpPr/>
            <p:nvPr/>
          </p:nvSpPr>
          <p:spPr>
            <a:xfrm>
              <a:off x="7667625" y="2114550"/>
              <a:ext cx="8943975" cy="9525"/>
            </a:xfrm>
            <a:custGeom>
              <a:avLst/>
              <a:gdLst/>
              <a:ahLst/>
              <a:cxnLst/>
              <a:rect l="l" t="t" r="r" b="b"/>
              <a:pathLst>
                <a:path w="8943975" h="9525">
                  <a:moveTo>
                    <a:pt x="0" y="0"/>
                  </a:moveTo>
                  <a:lnTo>
                    <a:pt x="8943975" y="0"/>
                  </a:lnTo>
                </a:path>
              </a:pathLst>
            </a:custGeom>
            <a:noFill/>
            <a:ln w="9525">
              <a:solidFill>
                <a:srgbClr val="AEB9C5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7858125" y="2295525"/>
              <a:ext cx="5381625" cy="390525"/>
            </a:xfrm>
            <a:custGeom>
              <a:avLst/>
              <a:gdLst/>
              <a:ahLst/>
              <a:cxnLst/>
              <a:rect l="l" t="t" r="r" b="b"/>
              <a:pathLst>
                <a:path w="5381625" h="390525">
                  <a:moveTo>
                    <a:pt x="0" y="0"/>
                  </a:moveTo>
                  <a:lnTo>
                    <a:pt x="5381625" y="0"/>
                  </a:lnTo>
                  <a:lnTo>
                    <a:pt x="5238750" y="390525"/>
                  </a:lnTo>
                  <a:lnTo>
                    <a:pt x="0" y="390525"/>
                  </a:lnTo>
                  <a:close/>
                </a:path>
              </a:pathLst>
            </a:custGeom>
            <a:gradFill>
              <a:gsLst>
                <a:gs pos="0">
                  <a:srgbClr val="123F78"/>
                </a:gs>
                <a:gs pos="100000">
                  <a:srgbClr val="06295B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52" name="Freeform 52"/>
            <p:cNvSpPr/>
            <p:nvPr/>
          </p:nvSpPr>
          <p:spPr>
            <a:xfrm>
              <a:off x="7667625" y="2571750"/>
              <a:ext cx="171450" cy="3971925"/>
            </a:xfrm>
            <a:custGeom>
              <a:avLst/>
              <a:gdLst/>
              <a:ahLst/>
              <a:cxnLst/>
              <a:rect l="l" t="t" r="r" b="b"/>
              <a:pathLst>
                <a:path w="171450" h="3971925">
                  <a:moveTo>
                    <a:pt x="0" y="0"/>
                  </a:moveTo>
                  <a:lnTo>
                    <a:pt x="171450" y="0"/>
                  </a:lnTo>
                  <a:moveTo>
                    <a:pt x="0" y="0"/>
                  </a:moveTo>
                  <a:lnTo>
                    <a:pt x="0" y="3971925"/>
                  </a:lnTo>
                  <a:moveTo>
                    <a:pt x="0" y="3971925"/>
                  </a:moveTo>
                  <a:lnTo>
                    <a:pt x="171450" y="3971925"/>
                  </a:lnTo>
                </a:path>
              </a:pathLst>
            </a:custGeom>
            <a:noFill/>
            <a:ln w="28575">
              <a:solidFill>
                <a:srgbClr val="0A376F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086725" y="2397919"/>
              <a:ext cx="5054679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二、六类重点｜围绕已有基础形成首期示范</a:t>
              </a:r>
            </a:p>
          </p:txBody>
        </p:sp>
        <p:grpSp>
          <p:nvGrpSpPr>
            <p:cNvPr id="57" name="Group 57"/>
            <p:cNvGrpSpPr/>
            <p:nvPr/>
          </p:nvGrpSpPr>
          <p:grpSpPr>
            <a:xfrm>
              <a:off x="7858125" y="2733675"/>
              <a:ext cx="8734425" cy="3638550"/>
              <a:chOff x="7858125" y="2733675"/>
              <a:chExt cx="8734425" cy="3638550"/>
            </a:xfrm>
          </p:grpSpPr>
          <p:sp>
            <p:nvSpPr>
              <p:cNvPr id="54" name="Line 54"/>
              <p:cNvSpPr/>
              <p:nvPr/>
            </p:nvSpPr>
            <p:spPr>
              <a:xfrm>
                <a:off x="10715625" y="2819400"/>
                <a:ext cx="9525" cy="35528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552825">
                    <a:moveTo>
                      <a:pt x="0" y="0"/>
                    </a:moveTo>
                    <a:lnTo>
                      <a:pt x="0" y="3552825"/>
                    </a:lnTo>
                  </a:path>
                </a:pathLst>
              </a:custGeom>
              <a:noFill/>
              <a:ln w="9525">
                <a:solidFill>
                  <a:srgbClr val="C3CBD3"/>
                </a:solidFill>
              </a:ln>
            </p:spPr>
          </p:sp>
          <p:sp>
            <p:nvSpPr>
              <p:cNvPr id="55" name="Line 55"/>
              <p:cNvSpPr/>
              <p:nvPr/>
            </p:nvSpPr>
            <p:spPr>
              <a:xfrm>
                <a:off x="13849350" y="2733675"/>
                <a:ext cx="9525" cy="36385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638550">
                    <a:moveTo>
                      <a:pt x="0" y="0"/>
                    </a:moveTo>
                    <a:lnTo>
                      <a:pt x="0" y="3638550"/>
                    </a:lnTo>
                  </a:path>
                </a:pathLst>
              </a:custGeom>
              <a:noFill/>
              <a:ln w="9525">
                <a:solidFill>
                  <a:srgbClr val="C3CBD3"/>
                </a:solidFill>
              </a:ln>
            </p:spPr>
          </p:sp>
          <p:sp>
            <p:nvSpPr>
              <p:cNvPr id="56" name="Line 56"/>
              <p:cNvSpPr/>
              <p:nvPr/>
            </p:nvSpPr>
            <p:spPr>
              <a:xfrm>
                <a:off x="7858125" y="4657725"/>
                <a:ext cx="87344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734425" h="9525">
                    <a:moveTo>
                      <a:pt x="0" y="0"/>
                    </a:moveTo>
                    <a:lnTo>
                      <a:pt x="8734425" y="0"/>
                    </a:lnTo>
                  </a:path>
                </a:pathLst>
              </a:custGeom>
              <a:noFill/>
              <a:ln w="9525">
                <a:solidFill>
                  <a:srgbClr val="C3CBD3"/>
                </a:solidFill>
              </a:ln>
            </p:spPr>
          </p:sp>
        </p:grpSp>
        <p:grpSp>
          <p:nvGrpSpPr>
            <p:cNvPr id="64" name="Group 64"/>
            <p:cNvGrpSpPr/>
            <p:nvPr/>
          </p:nvGrpSpPr>
          <p:grpSpPr>
            <a:xfrm>
              <a:off x="8089392" y="3111818"/>
              <a:ext cx="8323078" cy="2207133"/>
              <a:chOff x="8089392" y="3111818"/>
              <a:chExt cx="8323078" cy="2207133"/>
            </a:xfrm>
          </p:grpSpPr>
          <p:sp>
            <p:nvSpPr>
              <p:cNvPr id="58" name="TextBox 58"/>
              <p:cNvSpPr txBox="1"/>
              <p:nvPr/>
            </p:nvSpPr>
            <p:spPr>
              <a:xfrm>
                <a:off x="8565642" y="3111818"/>
                <a:ext cx="230360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0A376F"/>
                    </a:solidFill>
                    <a:latin typeface="Segoe UI"/>
                    <a:ea typeface="Microsoft YaHei"/>
                    <a:cs typeface="Segoe UI"/>
                  </a:rPr>
                  <a:t>设备可靠性与生产运行服务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11451717" y="3111818"/>
                <a:ext cx="211277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0A376F"/>
                    </a:solidFill>
                    <a:latin typeface="Segoe UI"/>
                    <a:ea typeface="Microsoft YaHei"/>
                    <a:cs typeface="Segoe UI"/>
                  </a:rPr>
                  <a:t>绿色低碳与电碳因子服务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14299692" y="3111818"/>
                <a:ext cx="211277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0A376F"/>
                    </a:solidFill>
                    <a:latin typeface="Segoe UI"/>
                    <a:ea typeface="Microsoft YaHei"/>
                    <a:cs typeface="Segoe UI"/>
                  </a:rPr>
                  <a:t>电力供需与市场经营服务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8089392" y="5054918"/>
                <a:ext cx="230360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0A376F"/>
                    </a:solidFill>
                    <a:latin typeface="Segoe UI"/>
                    <a:ea typeface="Microsoft YaHei"/>
                    <a:cs typeface="Segoe UI"/>
                  </a:rPr>
                  <a:t>燃料价格预测与供应链服务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11175492" y="5054918"/>
                <a:ext cx="249442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0A376F"/>
                    </a:solidFill>
                    <a:latin typeface="Segoe UI"/>
                    <a:ea typeface="Microsoft YaHei"/>
                    <a:cs typeface="Segoe UI"/>
                  </a:rPr>
                  <a:t>科研教育与高质量数据集服务</a:t>
                </a: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14299692" y="5054918"/>
                <a:ext cx="192195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0A376F"/>
                    </a:solidFill>
                    <a:latin typeface="Segoe UI"/>
                    <a:ea typeface="Microsoft YaHei"/>
                    <a:cs typeface="Segoe UI"/>
                  </a:rPr>
                  <a:t>科技成果可信转化服务</a:t>
                </a:r>
              </a:p>
            </p:txBody>
          </p:sp>
        </p:grpSp>
        <p:grpSp>
          <p:nvGrpSpPr>
            <p:cNvPr id="85" name="Group 85"/>
            <p:cNvGrpSpPr/>
            <p:nvPr/>
          </p:nvGrpSpPr>
          <p:grpSpPr>
            <a:xfrm>
              <a:off x="7900035" y="3479006"/>
              <a:ext cx="9057465" cy="2591753"/>
              <a:chOff x="7900035" y="3479006"/>
              <a:chExt cx="9057465" cy="2591753"/>
            </a:xfrm>
          </p:grpSpPr>
          <p:sp>
            <p:nvSpPr>
              <p:cNvPr id="65" name="TextBox 65"/>
              <p:cNvSpPr txBox="1"/>
              <p:nvPr/>
            </p:nvSpPr>
            <p:spPr>
              <a:xfrm>
                <a:off x="7900035" y="3479006"/>
                <a:ext cx="316911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222222"/>
                    </a:solidFill>
                    <a:latin typeface="Segoe UI"/>
                    <a:ea typeface="Microsoft YaHei"/>
                    <a:cs typeface="Segoe UI"/>
                  </a:rPr>
                  <a:t>- 依托可靠性数据、运维知识、质量评价规则、</a:t>
                </a:r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7995285" y="3698081"/>
                <a:ext cx="273748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222222"/>
                    </a:solidFill>
                    <a:latin typeface="Segoe UI"/>
                    <a:ea typeface="Microsoft YaHei"/>
                    <a:cs typeface="Segoe UI"/>
                  </a:rPr>
                  <a:t>诊断模型和专家能力，形成可靠性分析、</a:t>
                </a:r>
              </a:p>
            </p:txBody>
          </p:sp>
          <p:sp>
            <p:nvSpPr>
              <p:cNvPr id="67" name="TextBox 67"/>
              <p:cNvSpPr txBox="1"/>
              <p:nvPr/>
            </p:nvSpPr>
            <p:spPr>
              <a:xfrm>
                <a:off x="7995285" y="3917156"/>
                <a:ext cx="288893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222222"/>
                    </a:solidFill>
                    <a:latin typeface="Segoe UI"/>
                    <a:ea typeface="Microsoft YaHei"/>
                    <a:cs typeface="Segoe UI"/>
                  </a:rPr>
                  <a:t>健康评价、故障预警、检修辅助、设备选型</a:t>
                </a:r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7995285" y="4136231"/>
                <a:ext cx="122301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222222"/>
                    </a:solidFill>
                    <a:latin typeface="Segoe UI"/>
                    <a:ea typeface="Microsoft YaHei"/>
                    <a:cs typeface="Segoe UI"/>
                  </a:rPr>
                  <a:t>和质量改进服务。</a:t>
                </a:r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10967085" y="3479006"/>
                <a:ext cx="286621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222222"/>
                    </a:solidFill>
                    <a:latin typeface="Segoe UI"/>
                    <a:ea typeface="Microsoft YaHei"/>
                    <a:cs typeface="Segoe UI"/>
                  </a:rPr>
                  <a:t>- 依托电碳因子、产品碳足迹、绿色电力和</a:t>
                </a:r>
              </a:p>
            </p:txBody>
          </p:sp>
          <p:sp>
            <p:nvSpPr>
              <p:cNvPr id="70" name="TextBox 70"/>
              <p:cNvSpPr txBox="1"/>
              <p:nvPr/>
            </p:nvSpPr>
            <p:spPr>
              <a:xfrm>
                <a:off x="11090910" y="3698081"/>
                <a:ext cx="258603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222222"/>
                    </a:solidFill>
                    <a:latin typeface="Segoe UI"/>
                    <a:ea typeface="Microsoft YaHei"/>
                    <a:cs typeface="Segoe UI"/>
                  </a:rPr>
                  <a:t>供应链碳管理等数据与方法，形成因子</a:t>
                </a: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11090910" y="3917156"/>
                <a:ext cx="243459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222222"/>
                    </a:solidFill>
                    <a:latin typeface="Segoe UI"/>
                    <a:ea typeface="Microsoft YaHei"/>
                    <a:cs typeface="Segoe UI"/>
                  </a:rPr>
                  <a:t>查询、碳足迹核算、绿色电力评价和</a:t>
                </a:r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11090910" y="4136231"/>
                <a:ext cx="107156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222222"/>
                    </a:solidFill>
                    <a:latin typeface="Segoe UI"/>
                    <a:ea typeface="Microsoft YaHei"/>
                    <a:cs typeface="Segoe UI"/>
                  </a:rPr>
                  <a:t>节能降碳服务。</a:t>
                </a:r>
              </a:p>
            </p:txBody>
          </p:sp>
          <p:sp>
            <p:nvSpPr>
              <p:cNvPr id="73" name="TextBox 73"/>
              <p:cNvSpPr txBox="1"/>
              <p:nvPr/>
            </p:nvSpPr>
            <p:spPr>
              <a:xfrm>
                <a:off x="14091285" y="3479006"/>
                <a:ext cx="286621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222222"/>
                    </a:solidFill>
                    <a:latin typeface="Segoe UI"/>
                    <a:ea typeface="Microsoft YaHei"/>
                    <a:cs typeface="Segoe UI"/>
                  </a:rPr>
                  <a:t>- 围绕电力供需研判、市场运行分析、经营</a:t>
                </a:r>
              </a:p>
            </p:txBody>
          </p:sp>
          <p:sp>
            <p:nvSpPr>
              <p:cNvPr id="74" name="TextBox 74"/>
              <p:cNvSpPr txBox="1"/>
              <p:nvPr/>
            </p:nvSpPr>
            <p:spPr>
              <a:xfrm>
                <a:off x="14186535" y="3698081"/>
                <a:ext cx="258603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222222"/>
                    </a:solidFill>
                    <a:latin typeface="Segoe UI"/>
                    <a:ea typeface="Microsoft YaHei"/>
                    <a:cs typeface="Segoe UI"/>
                  </a:rPr>
                  <a:t>指标监测和辅助决策，形成数据分析、</a:t>
                </a:r>
              </a:p>
            </p:txBody>
          </p:sp>
          <p:sp>
            <p:nvSpPr>
              <p:cNvPr id="75" name="TextBox 75"/>
              <p:cNvSpPr txBox="1"/>
              <p:nvPr/>
            </p:nvSpPr>
            <p:spPr>
              <a:xfrm>
                <a:off x="14186535" y="3917156"/>
                <a:ext cx="182880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222222"/>
                    </a:solidFill>
                    <a:latin typeface="Segoe UI"/>
                    <a:ea typeface="Microsoft YaHei"/>
                    <a:cs typeface="Segoe UI"/>
                  </a:rPr>
                  <a:t>模型预测和持续监测服务。</a:t>
                </a:r>
              </a:p>
            </p:txBody>
          </p:sp>
          <p:sp>
            <p:nvSpPr>
              <p:cNvPr id="76" name="TextBox 76"/>
              <p:cNvSpPr txBox="1"/>
              <p:nvPr/>
            </p:nvSpPr>
            <p:spPr>
              <a:xfrm>
                <a:off x="7900035" y="5403056"/>
                <a:ext cx="286621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222222"/>
                    </a:solidFill>
                    <a:latin typeface="Segoe UI"/>
                    <a:ea typeface="Microsoft YaHei"/>
                    <a:cs typeface="Segoe UI"/>
                  </a:rPr>
                  <a:t>- 围绕燃料采购、库存判断、价格偏离监测</a:t>
                </a:r>
              </a:p>
            </p:txBody>
          </p:sp>
          <p:sp>
            <p:nvSpPr>
              <p:cNvPr id="77" name="TextBox 77"/>
              <p:cNvSpPr txBox="1"/>
              <p:nvPr/>
            </p:nvSpPr>
            <p:spPr>
              <a:xfrm>
                <a:off x="7995285" y="5631656"/>
                <a:ext cx="273748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222222"/>
                    </a:solidFill>
                    <a:latin typeface="Segoe UI"/>
                    <a:ea typeface="Microsoft YaHei"/>
                    <a:cs typeface="Segoe UI"/>
                  </a:rPr>
                  <a:t>和成本测算，形成价格预测、风险监测和</a:t>
                </a:r>
              </a:p>
            </p:txBody>
          </p:sp>
          <p:sp>
            <p:nvSpPr>
              <p:cNvPr id="78" name="TextBox 78"/>
              <p:cNvSpPr txBox="1"/>
              <p:nvPr/>
            </p:nvSpPr>
            <p:spPr>
              <a:xfrm>
                <a:off x="7995285" y="5850731"/>
                <a:ext cx="107156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222222"/>
                    </a:solidFill>
                    <a:latin typeface="Segoe UI"/>
                    <a:ea typeface="Microsoft YaHei"/>
                    <a:cs typeface="Segoe UI"/>
                  </a:rPr>
                  <a:t>专题分析服务。</a:t>
                </a:r>
              </a:p>
            </p:txBody>
          </p:sp>
          <p:sp>
            <p:nvSpPr>
              <p:cNvPr id="79" name="TextBox 79"/>
              <p:cNvSpPr txBox="1"/>
              <p:nvPr/>
            </p:nvSpPr>
            <p:spPr>
              <a:xfrm>
                <a:off x="10967085" y="5403056"/>
                <a:ext cx="301766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222222"/>
                    </a:solidFill>
                    <a:latin typeface="Segoe UI"/>
                    <a:ea typeface="Microsoft YaHei"/>
                    <a:cs typeface="Segoe UI"/>
                  </a:rPr>
                  <a:t>- 面向科研院所、高等院校和人才培养机构，</a:t>
                </a:r>
              </a:p>
            </p:txBody>
          </p:sp>
          <p:sp>
            <p:nvSpPr>
              <p:cNvPr id="80" name="TextBox 80"/>
              <p:cNvSpPr txBox="1"/>
              <p:nvPr/>
            </p:nvSpPr>
            <p:spPr>
              <a:xfrm>
                <a:off x="11090910" y="5631656"/>
                <a:ext cx="258603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222222"/>
                    </a:solidFill>
                    <a:latin typeface="Segoe UI"/>
                    <a:ea typeface="Microsoft YaHei"/>
                    <a:cs typeface="Segoe UI"/>
                  </a:rPr>
                  <a:t>形成行业知识库、高质量数据集、模型</a:t>
                </a:r>
              </a:p>
            </p:txBody>
          </p:sp>
          <p:sp>
            <p:nvSpPr>
              <p:cNvPr id="81" name="TextBox 81"/>
              <p:cNvSpPr txBox="1"/>
              <p:nvPr/>
            </p:nvSpPr>
            <p:spPr>
              <a:xfrm>
                <a:off x="11090910" y="5850731"/>
                <a:ext cx="182880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222222"/>
                    </a:solidFill>
                    <a:latin typeface="Segoe UI"/>
                    <a:ea typeface="Microsoft YaHei"/>
                    <a:cs typeface="Segoe UI"/>
                  </a:rPr>
                  <a:t>训练数据和教育应用服务。</a:t>
                </a:r>
              </a:p>
            </p:txBody>
          </p:sp>
          <p:sp>
            <p:nvSpPr>
              <p:cNvPr id="82" name="TextBox 82"/>
              <p:cNvSpPr txBox="1"/>
              <p:nvPr/>
            </p:nvSpPr>
            <p:spPr>
              <a:xfrm>
                <a:off x="14091285" y="5403056"/>
                <a:ext cx="286621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222222"/>
                    </a:solidFill>
                    <a:latin typeface="Segoe UI"/>
                    <a:ea typeface="Microsoft YaHei"/>
                    <a:cs typeface="Segoe UI"/>
                  </a:rPr>
                  <a:t>- 围绕科技成果鉴定、可售证据、知识产权</a:t>
                </a:r>
              </a:p>
            </p:txBody>
          </p:sp>
          <p:sp>
            <p:nvSpPr>
              <p:cNvPr id="83" name="TextBox 83"/>
              <p:cNvSpPr txBox="1"/>
              <p:nvPr/>
            </p:nvSpPr>
            <p:spPr>
              <a:xfrm>
                <a:off x="14186535" y="5631656"/>
                <a:ext cx="258603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222222"/>
                    </a:solidFill>
                    <a:latin typeface="Segoe UI"/>
                    <a:ea typeface="Microsoft YaHei"/>
                    <a:cs typeface="Segoe UI"/>
                  </a:rPr>
                  <a:t>保护、供需匹配和科技金融对接，形成</a:t>
                </a:r>
              </a:p>
            </p:txBody>
          </p:sp>
          <p:sp>
            <p:nvSpPr>
              <p:cNvPr id="84" name="TextBox 84"/>
              <p:cNvSpPr txBox="1"/>
              <p:nvPr/>
            </p:nvSpPr>
            <p:spPr>
              <a:xfrm>
                <a:off x="14186535" y="5850731"/>
                <a:ext cx="167735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222222"/>
                    </a:solidFill>
                    <a:latin typeface="Segoe UI"/>
                    <a:ea typeface="Microsoft YaHei"/>
                    <a:cs typeface="Segoe UI"/>
                  </a:rPr>
                  <a:t>可信服务和场景化应用。</a:t>
                </a:r>
              </a:p>
            </p:txBody>
          </p:sp>
        </p:grpSp>
        <p:sp>
          <p:nvSpPr>
            <p:cNvPr id="86" name="Freeform 86"/>
            <p:cNvSpPr/>
            <p:nvPr/>
          </p:nvSpPr>
          <p:spPr>
            <a:xfrm>
              <a:off x="7858125" y="6686550"/>
              <a:ext cx="5829300" cy="390525"/>
            </a:xfrm>
            <a:custGeom>
              <a:avLst/>
              <a:gdLst/>
              <a:ahLst/>
              <a:cxnLst/>
              <a:rect l="l" t="t" r="r" b="b"/>
              <a:pathLst>
                <a:path w="5829300" h="390525">
                  <a:moveTo>
                    <a:pt x="0" y="0"/>
                  </a:moveTo>
                  <a:lnTo>
                    <a:pt x="5829300" y="0"/>
                  </a:lnTo>
                  <a:lnTo>
                    <a:pt x="5676900" y="390525"/>
                  </a:lnTo>
                  <a:lnTo>
                    <a:pt x="0" y="390525"/>
                  </a:lnTo>
                  <a:close/>
                </a:path>
              </a:pathLst>
            </a:custGeom>
            <a:gradFill>
              <a:gsLst>
                <a:gs pos="0">
                  <a:srgbClr val="123F78"/>
                </a:gs>
                <a:gs pos="100000">
                  <a:srgbClr val="06295B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87" name="Freeform 87"/>
            <p:cNvSpPr/>
            <p:nvPr/>
          </p:nvSpPr>
          <p:spPr>
            <a:xfrm>
              <a:off x="7667625" y="6962775"/>
              <a:ext cx="171450" cy="1476375"/>
            </a:xfrm>
            <a:custGeom>
              <a:avLst/>
              <a:gdLst/>
              <a:ahLst/>
              <a:cxnLst/>
              <a:rect l="l" t="t" r="r" b="b"/>
              <a:pathLst>
                <a:path w="171450" h="1476375">
                  <a:moveTo>
                    <a:pt x="0" y="0"/>
                  </a:moveTo>
                  <a:lnTo>
                    <a:pt x="171450" y="0"/>
                  </a:lnTo>
                  <a:moveTo>
                    <a:pt x="0" y="0"/>
                  </a:moveTo>
                  <a:lnTo>
                    <a:pt x="0" y="1476375"/>
                  </a:lnTo>
                </a:path>
              </a:pathLst>
            </a:custGeom>
            <a:noFill/>
            <a:ln w="28575">
              <a:solidFill>
                <a:srgbClr val="0A376F"/>
              </a:solidFill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8086725" y="6788944"/>
              <a:ext cx="5849779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三、动态调整｜储备方向条件成熟后纳入正式运营</a:t>
              </a:r>
            </a:p>
          </p:txBody>
        </p:sp>
        <p:sp>
          <p:nvSpPr>
            <p:cNvPr id="89" name="Line 89"/>
            <p:cNvSpPr/>
            <p:nvPr/>
          </p:nvSpPr>
          <p:spPr>
            <a:xfrm>
              <a:off x="12134850" y="7229475"/>
              <a:ext cx="9525" cy="1057275"/>
            </a:xfrm>
            <a:custGeom>
              <a:avLst/>
              <a:gdLst/>
              <a:ahLst/>
              <a:cxnLst/>
              <a:rect l="l" t="t" r="r" b="b"/>
              <a:pathLst>
                <a:path w="9525" h="1057275">
                  <a:moveTo>
                    <a:pt x="0" y="0"/>
                  </a:moveTo>
                  <a:lnTo>
                    <a:pt x="0" y="1057275"/>
                  </a:lnTo>
                </a:path>
              </a:pathLst>
            </a:custGeom>
            <a:noFill/>
            <a:ln w="9525">
              <a:solidFill>
                <a:srgbClr val="C3CBD3"/>
              </a:solidFill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8754999" y="7297579"/>
              <a:ext cx="90651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A376F"/>
                  </a:solidFill>
                  <a:latin typeface="Segoe UI"/>
                  <a:ea typeface="Microsoft YaHei"/>
                  <a:cs typeface="Segoe UI"/>
                </a:rPr>
                <a:t>储备培育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3326999" y="7297579"/>
              <a:ext cx="112914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A376F"/>
                  </a:solidFill>
                  <a:latin typeface="Segoe UI"/>
                  <a:ea typeface="Microsoft YaHei"/>
                  <a:cs typeface="Segoe UI"/>
                </a:rPr>
                <a:t>跨行业探索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8756904" y="7614285"/>
              <a:ext cx="33803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22222"/>
                  </a:solidFill>
                  <a:latin typeface="Segoe UI"/>
                  <a:ea typeface="Microsoft YaHei"/>
                  <a:cs typeface="Segoe UI"/>
                </a:rPr>
                <a:t>- 新能源与综合能源、信用评价、产业链分析和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8890254" y="7842885"/>
              <a:ext cx="32430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22222"/>
                  </a:solidFill>
                  <a:latin typeface="Segoe UI"/>
                  <a:ea typeface="Microsoft YaHei"/>
                  <a:cs typeface="Segoe UI"/>
                </a:rPr>
                <a:t>企业经营管理等方向，先开展需求论证、资源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8890254" y="8071485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22222"/>
                  </a:solidFill>
                  <a:latin typeface="Segoe UI"/>
                  <a:ea typeface="Microsoft YaHei"/>
                  <a:cs typeface="Segoe UI"/>
                </a:rPr>
                <a:t>盘点和样例设计。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13328904" y="7614285"/>
              <a:ext cx="30572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22222"/>
                  </a:solidFill>
                  <a:latin typeface="Segoe UI"/>
                  <a:ea typeface="Microsoft YaHei"/>
                  <a:cs typeface="Segoe UI"/>
                </a:rPr>
                <a:t>- 电力与气象、交通、工业、建筑、金融等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13462254" y="7842885"/>
              <a:ext cx="2919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22222"/>
                  </a:solidFill>
                  <a:latin typeface="Segoe UI"/>
                  <a:ea typeface="Microsoft YaHei"/>
                  <a:cs typeface="Segoe UI"/>
                </a:rPr>
                <a:t>协同方向，先明确合作主体、数据边界、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13462254" y="8071485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22222"/>
                  </a:solidFill>
                  <a:latin typeface="Segoe UI"/>
                  <a:ea typeface="Microsoft YaHei"/>
                  <a:cs typeface="Segoe UI"/>
                </a:rPr>
                <a:t>业务目标和安全条件。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0" y="0"/>
            <a:ext cx="12192000" cy="6096000"/>
            <a:chOff x="0" y="0"/>
            <a:chExt cx="12192000" cy="6096000"/>
          </a:xfrm>
        </p:grpSpPr>
        <p:pic>
          <p:nvPicPr>
            <p:cNvPr id="2" name="Imag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096000"/>
            </a:xfrm>
            <a:prstGeom prst="rect">
              <a:avLst/>
            </a:prstGeom>
          </p:spPr>
        </p:pic>
      </p:grpSp>
      <p:grpSp>
        <p:nvGrpSpPr>
          <p:cNvPr id="14" name="Group 14"/>
          <p:cNvGrpSpPr/>
          <p:nvPr/>
        </p:nvGrpSpPr>
        <p:grpSpPr>
          <a:xfrm>
            <a:off x="123825" y="200025"/>
            <a:ext cx="1104900" cy="2162175"/>
            <a:chOff x="123825" y="200025"/>
            <a:chExt cx="1104900" cy="2162175"/>
          </a:xfrm>
        </p:grpSpPr>
        <p:sp>
          <p:nvSpPr>
            <p:cNvPr id="4" name="Rectangle 4"/>
            <p:cNvSpPr/>
            <p:nvPr/>
          </p:nvSpPr>
          <p:spPr>
            <a:xfrm>
              <a:off x="123825" y="200025"/>
              <a:ext cx="1104900" cy="2162175"/>
            </a:xfrm>
            <a:prstGeom prst="roundRect">
              <a:avLst>
                <a:gd name="adj" fmla="val 8621"/>
              </a:avLst>
            </a:prstGeom>
            <a:gradFill>
              <a:gsLst>
                <a:gs pos="0">
                  <a:srgbClr val="0E3B78"/>
                </a:gs>
                <a:gs pos="100000">
                  <a:srgbClr val="082C61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269200" y="473869"/>
              <a:ext cx="814149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建设期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304800" y="895350"/>
              <a:ext cx="752475" cy="9525"/>
            </a:xfrm>
            <a:custGeom>
              <a:avLst/>
              <a:gdLst/>
              <a:ahLst/>
              <a:cxnLst/>
              <a:rect l="l" t="t" r="r" b="b"/>
              <a:pathLst>
                <a:path w="752475" h="9525">
                  <a:moveTo>
                    <a:pt x="0" y="0"/>
                  </a:moveTo>
                  <a:lnTo>
                    <a:pt x="752475" y="0"/>
                  </a:lnTo>
                </a:path>
              </a:pathLst>
            </a:custGeom>
            <a:noFill/>
            <a:ln w="9525">
              <a:solidFill>
                <a:srgbClr val="D9E6F7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638175" y="857250"/>
              <a:ext cx="76200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Line 8"/>
            <p:cNvSpPr/>
            <p:nvPr/>
          </p:nvSpPr>
          <p:spPr>
            <a:xfrm>
              <a:off x="676275" y="933450"/>
              <a:ext cx="9525" cy="571500"/>
            </a:xfrm>
            <a:custGeom>
              <a:avLst/>
              <a:gdLst/>
              <a:ahLst/>
              <a:cxnLst/>
              <a:rect l="l" t="t" r="r" b="b"/>
              <a:pathLst>
                <a:path w="9525" h="571500">
                  <a:moveTo>
                    <a:pt x="0" y="0"/>
                  </a:moveTo>
                  <a:lnTo>
                    <a:pt x="0" y="571500"/>
                  </a:lnTo>
                </a:path>
              </a:pathLst>
            </a:custGeom>
            <a:noFill/>
            <a:ln w="9525">
              <a:solidFill>
                <a:srgbClr val="D9E6F7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371475" y="1504950"/>
              <a:ext cx="609600" cy="571500"/>
            </a:xfrm>
            <a:prstGeom prst="roundRect">
              <a:avLst>
                <a:gd name="adj" fmla="val 6667"/>
              </a:avLst>
            </a:prstGeom>
            <a:noFill/>
            <a:ln w="47625">
              <a:solidFill>
                <a:srgbClr val="7C99BD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371475" y="1647825"/>
              <a:ext cx="609600" cy="9525"/>
            </a:xfrm>
            <a:custGeom>
              <a:avLst/>
              <a:gdLst/>
              <a:ahLst/>
              <a:cxnLst/>
              <a:rect l="l" t="t" r="r" b="b"/>
              <a:pathLst>
                <a:path w="609600" h="9525">
                  <a:moveTo>
                    <a:pt x="0" y="0"/>
                  </a:moveTo>
                  <a:lnTo>
                    <a:pt x="609600" y="0"/>
                  </a:lnTo>
                </a:path>
              </a:pathLst>
            </a:custGeom>
            <a:noFill/>
            <a:ln w="47625">
              <a:solidFill>
                <a:srgbClr val="7C99BD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504825" y="1762125"/>
              <a:ext cx="76200" cy="76200"/>
            </a:xfrm>
            <a:prstGeom prst="ellipse">
              <a:avLst/>
            </a:prstGeom>
            <a:solidFill>
              <a:srgbClr val="7C99BD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647700" y="1762125"/>
              <a:ext cx="76200" cy="76200"/>
            </a:xfrm>
            <a:prstGeom prst="ellipse">
              <a:avLst/>
            </a:prstGeom>
            <a:solidFill>
              <a:srgbClr val="7C99BD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790575" y="1762125"/>
              <a:ext cx="76200" cy="76200"/>
            </a:xfrm>
            <a:prstGeom prst="ellipse">
              <a:avLst/>
            </a:prstGeom>
            <a:solidFill>
              <a:srgbClr val="7C99BD"/>
            </a:solidFill>
            <a:ln>
              <a:noFill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1552575" y="292894"/>
            <a:ext cx="4535319" cy="2095976"/>
            <a:chOff x="1552575" y="292894"/>
            <a:chExt cx="4535319" cy="2095976"/>
          </a:xfrm>
        </p:grpSpPr>
        <p:sp>
          <p:nvSpPr>
            <p:cNvPr id="15" name="TextBox 15"/>
            <p:cNvSpPr txBox="1"/>
            <p:nvPr/>
          </p:nvSpPr>
          <p:spPr>
            <a:xfrm>
              <a:off x="1552575" y="292894"/>
              <a:ext cx="1079182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103B76"/>
                  </a:solidFill>
                  <a:latin typeface="Microsoft YaHei"/>
                  <a:ea typeface="Microsoft YaHei"/>
                  <a:cs typeface="Microsoft YaHei"/>
                </a:rPr>
                <a:t>总体要求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555242" y="635318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数据供得出、流得动、用得好、保安全，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555242" y="882968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建设可信连接、统一目录和安全管控等能力。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552575" y="1378744"/>
              <a:ext cx="1079182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103B76"/>
                  </a:solidFill>
                  <a:latin typeface="Microsoft YaHei"/>
                  <a:ea typeface="Microsoft YaHei"/>
                  <a:cs typeface="Microsoft YaHei"/>
                </a:rPr>
                <a:t>建设节点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1562100" y="1990725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9050">
              <a:solidFill>
                <a:srgbClr val="103B76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2085975" y="1943100"/>
              <a:ext cx="95250" cy="95250"/>
            </a:xfrm>
            <a:prstGeom prst="ellipse">
              <a:avLst/>
            </a:prstGeom>
            <a:solidFill>
              <a:srgbClr val="103B76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275332" y="1744980"/>
              <a:ext cx="159457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03B76"/>
                  </a:solidFill>
                  <a:latin typeface="Microsoft YaHei"/>
                  <a:ea typeface="Microsoft YaHei"/>
                  <a:cs typeface="Microsoft YaHei"/>
                </a:rPr>
                <a:t>2026年12月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278380" y="2095500"/>
              <a:ext cx="4392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初验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3524250" y="1990725"/>
              <a:ext cx="1009650" cy="9525"/>
            </a:xfrm>
            <a:custGeom>
              <a:avLst/>
              <a:gdLst/>
              <a:ahLst/>
              <a:cxnLst/>
              <a:rect l="l" t="t" r="r" b="b"/>
              <a:pathLst>
                <a:path w="1009650" h="9525">
                  <a:moveTo>
                    <a:pt x="0" y="0"/>
                  </a:moveTo>
                  <a:lnTo>
                    <a:pt x="1009650" y="0"/>
                  </a:lnTo>
                </a:path>
              </a:pathLst>
            </a:custGeom>
            <a:noFill/>
            <a:ln w="19050">
              <a:solidFill>
                <a:srgbClr val="103B7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486275" y="1943100"/>
              <a:ext cx="95250" cy="95250"/>
            </a:xfrm>
            <a:prstGeom prst="ellipse">
              <a:avLst/>
            </a:prstGeom>
            <a:solidFill>
              <a:srgbClr val="103B76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656582" y="1744980"/>
              <a:ext cx="143131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03B76"/>
                  </a:solidFill>
                  <a:latin typeface="Microsoft YaHei"/>
                  <a:ea typeface="Microsoft YaHei"/>
                  <a:cs typeface="Microsoft YaHei"/>
                </a:rPr>
                <a:t>2027年6月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659630" y="2095500"/>
              <a:ext cx="4392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终验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362075" y="2457450"/>
            <a:ext cx="8143875" cy="1181100"/>
            <a:chOff x="1362075" y="2457450"/>
            <a:chExt cx="8143875" cy="1181100"/>
          </a:xfrm>
        </p:grpSpPr>
        <p:sp>
          <p:nvSpPr>
            <p:cNvPr id="28" name="Rectangle 28"/>
            <p:cNvSpPr/>
            <p:nvPr/>
          </p:nvSpPr>
          <p:spPr>
            <a:xfrm>
              <a:off x="1362075" y="2457450"/>
              <a:ext cx="8143875" cy="1181100"/>
            </a:xfrm>
            <a:prstGeom prst="roundRect">
              <a:avLst>
                <a:gd name="adj" fmla="val 7258"/>
              </a:avLst>
            </a:prstGeom>
            <a:solidFill>
              <a:srgbClr val="EEF4FA"/>
            </a:solidFill>
            <a:ln>
              <a:noFill/>
            </a:ln>
          </p:spPr>
        </p:sp>
        <p:sp>
          <p:nvSpPr>
            <p:cNvPr id="29" name="Line 29"/>
            <p:cNvSpPr/>
            <p:nvPr/>
          </p:nvSpPr>
          <p:spPr>
            <a:xfrm>
              <a:off x="3305175" y="2581275"/>
              <a:ext cx="9525" cy="933450"/>
            </a:xfrm>
            <a:custGeom>
              <a:avLst/>
              <a:gdLst/>
              <a:ahLst/>
              <a:cxnLst/>
              <a:rect l="l" t="t" r="r" b="b"/>
              <a:pathLst>
                <a:path w="9525" h="933450">
                  <a:moveTo>
                    <a:pt x="0" y="0"/>
                  </a:moveTo>
                  <a:lnTo>
                    <a:pt x="0" y="933450"/>
                  </a:lnTo>
                </a:path>
              </a:pathLst>
            </a:custGeom>
            <a:noFill/>
            <a:ln w="9525">
              <a:solidFill>
                <a:srgbClr val="B7C9DC"/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5324475" y="2581275"/>
              <a:ext cx="9525" cy="933450"/>
            </a:xfrm>
            <a:custGeom>
              <a:avLst/>
              <a:gdLst/>
              <a:ahLst/>
              <a:cxnLst/>
              <a:rect l="l" t="t" r="r" b="b"/>
              <a:pathLst>
                <a:path w="9525" h="933450">
                  <a:moveTo>
                    <a:pt x="0" y="0"/>
                  </a:moveTo>
                  <a:lnTo>
                    <a:pt x="0" y="933450"/>
                  </a:lnTo>
                </a:path>
              </a:pathLst>
            </a:custGeom>
            <a:noFill/>
            <a:ln w="9525">
              <a:solidFill>
                <a:srgbClr val="B7C9DC"/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7248525" y="2581275"/>
              <a:ext cx="9525" cy="933450"/>
            </a:xfrm>
            <a:custGeom>
              <a:avLst/>
              <a:gdLst/>
              <a:ahLst/>
              <a:cxnLst/>
              <a:rect l="l" t="t" r="r" b="b"/>
              <a:pathLst>
                <a:path w="9525" h="933450">
                  <a:moveTo>
                    <a:pt x="0" y="0"/>
                  </a:moveTo>
                  <a:lnTo>
                    <a:pt x="0" y="933450"/>
                  </a:lnTo>
                </a:path>
              </a:pathLst>
            </a:custGeom>
            <a:noFill/>
            <a:ln w="9525">
              <a:solidFill>
                <a:srgbClr val="B7C9DC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858785" y="25841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03B76"/>
                  </a:solidFill>
                  <a:latin typeface="Microsoft YaHei"/>
                  <a:ea typeface="Microsoft YaHei"/>
                  <a:cs typeface="Microsoft YaHei"/>
                </a:rPr>
                <a:t>主体接入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604772" y="2942749"/>
              <a:ext cx="132245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总体建设任务完成时，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604772" y="3180874"/>
              <a:ext cx="15208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实现</a:t>
              </a:r>
              <a:r>
                <a:rPr lang="zh-CN" sz="1500" b="1" dirty="0">
                  <a:solidFill>
                    <a:srgbClr val="103B76"/>
                  </a:solidFill>
                  <a:latin typeface="Microsoft YaHei"/>
                  <a:ea typeface="Microsoft YaHei"/>
                  <a:cs typeface="Microsoft YaHei"/>
                </a:rPr>
                <a:t>600家以上</a:t>
              </a:r>
              <a:r>
                <a:rPr lang="zh-CN" sz="980" dirty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数据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604772" y="3399949"/>
              <a:ext cx="11911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流通利用主体接入。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839985" y="25841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03B76"/>
                  </a:solidFill>
                  <a:latin typeface="Microsoft YaHei"/>
                  <a:ea typeface="Microsoft YaHei"/>
                  <a:cs typeface="Microsoft YaHei"/>
                </a:rPr>
                <a:t>行业流通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481197" y="2942749"/>
              <a:ext cx="16813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支持</a:t>
              </a:r>
              <a:r>
                <a:rPr lang="zh-CN" sz="1500" b="1" dirty="0">
                  <a:solidFill>
                    <a:srgbClr val="103B76"/>
                  </a:solidFill>
                  <a:latin typeface="Microsoft YaHei"/>
                  <a:ea typeface="Microsoft YaHei"/>
                  <a:cs typeface="Microsoft YaHei"/>
                </a:rPr>
                <a:t>5个以上</a:t>
              </a:r>
              <a:r>
                <a:rPr lang="zh-CN" sz="980" dirty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重点行业的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481197" y="3180874"/>
              <a:ext cx="11911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跨区域、跨行业数据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481197" y="3399949"/>
              <a:ext cx="66617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流通利用。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811660" y="25841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03B76"/>
                  </a:solidFill>
                  <a:latin typeface="Microsoft YaHei"/>
                  <a:ea typeface="Microsoft YaHei"/>
                  <a:cs typeface="Microsoft YaHei"/>
                </a:rPr>
                <a:t>产品发布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557647" y="2942749"/>
              <a:ext cx="13446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发布不少于</a:t>
              </a:r>
              <a:r>
                <a:rPr lang="zh-CN" sz="1500" b="1" dirty="0">
                  <a:solidFill>
                    <a:srgbClr val="103B76"/>
                  </a:solidFill>
                  <a:latin typeface="Microsoft YaHei"/>
                  <a:ea typeface="Microsoft YaHei"/>
                  <a:cs typeface="Microsoft YaHei"/>
                </a:rPr>
                <a:t>1200个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557647" y="3180874"/>
              <a:ext cx="66617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数据产品。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907160" y="25841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03B76"/>
                  </a:solidFill>
                  <a:latin typeface="Microsoft YaHei"/>
                  <a:ea typeface="Microsoft YaHei"/>
                  <a:cs typeface="Microsoft YaHei"/>
                </a:rPr>
                <a:t>示范场景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462647" y="2942749"/>
              <a:ext cx="17979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打造</a:t>
              </a:r>
              <a:r>
                <a:rPr lang="zh-CN" sz="1500" b="1" dirty="0">
                  <a:solidFill>
                    <a:srgbClr val="103B76"/>
                  </a:solidFill>
                  <a:latin typeface="Microsoft YaHei"/>
                  <a:ea typeface="Microsoft YaHei"/>
                  <a:cs typeface="Microsoft YaHei"/>
                </a:rPr>
                <a:t>20个以上</a:t>
              </a:r>
              <a:r>
                <a:rPr lang="zh-CN" sz="980" dirty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示范性强、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462647" y="3180874"/>
              <a:ext cx="158496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带动性广的典型应用场景。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23825" y="3981450"/>
            <a:ext cx="1104900" cy="1857375"/>
            <a:chOff x="123825" y="3981450"/>
            <a:chExt cx="1104900" cy="1857375"/>
          </a:xfrm>
        </p:grpSpPr>
        <p:sp>
          <p:nvSpPr>
            <p:cNvPr id="47" name="Rectangle 47"/>
            <p:cNvSpPr/>
            <p:nvPr/>
          </p:nvSpPr>
          <p:spPr>
            <a:xfrm>
              <a:off x="123825" y="3981450"/>
              <a:ext cx="1104900" cy="1857375"/>
            </a:xfrm>
            <a:prstGeom prst="roundRect">
              <a:avLst>
                <a:gd name="adj" fmla="val 8621"/>
              </a:avLst>
            </a:prstGeom>
            <a:gradFill>
              <a:gsLst>
                <a:gs pos="0">
                  <a:srgbClr val="0E3B78"/>
                </a:gs>
                <a:gs pos="100000">
                  <a:srgbClr val="082C61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269200" y="4274344"/>
              <a:ext cx="814149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运营期</a:t>
              </a:r>
            </a:p>
          </p:txBody>
        </p:sp>
        <p:sp>
          <p:nvSpPr>
            <p:cNvPr id="49" name="Line 49"/>
            <p:cNvSpPr/>
            <p:nvPr/>
          </p:nvSpPr>
          <p:spPr>
            <a:xfrm>
              <a:off x="304800" y="4695825"/>
              <a:ext cx="752475" cy="9525"/>
            </a:xfrm>
            <a:custGeom>
              <a:avLst/>
              <a:gdLst/>
              <a:ahLst/>
              <a:cxnLst/>
              <a:rect l="l" t="t" r="r" b="b"/>
              <a:pathLst>
                <a:path w="752475" h="9525">
                  <a:moveTo>
                    <a:pt x="0" y="0"/>
                  </a:moveTo>
                  <a:lnTo>
                    <a:pt x="752475" y="0"/>
                  </a:lnTo>
                </a:path>
              </a:pathLst>
            </a:custGeom>
            <a:noFill/>
            <a:ln w="9525">
              <a:solidFill>
                <a:srgbClr val="D9E6F7"/>
              </a:solidFill>
            </a:ln>
          </p:spPr>
        </p:sp>
        <p:sp>
          <p:nvSpPr>
            <p:cNvPr id="50" name="Ellipse 50"/>
            <p:cNvSpPr/>
            <p:nvPr/>
          </p:nvSpPr>
          <p:spPr>
            <a:xfrm>
              <a:off x="638175" y="4657725"/>
              <a:ext cx="76200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390525" y="4943475"/>
              <a:ext cx="542925" cy="542925"/>
            </a:xfrm>
            <a:prstGeom prst="roundRect">
              <a:avLst>
                <a:gd name="adj" fmla="val 7018"/>
              </a:avLst>
            </a:prstGeom>
            <a:noFill/>
            <a:ln w="47625">
              <a:solidFill>
                <a:srgbClr val="7C99BD"/>
              </a:solidFill>
            </a:ln>
          </p:spPr>
        </p:sp>
        <p:sp>
          <p:nvSpPr>
            <p:cNvPr id="52" name="Line 52"/>
            <p:cNvSpPr/>
            <p:nvPr/>
          </p:nvSpPr>
          <p:spPr>
            <a:xfrm>
              <a:off x="504825" y="5114925"/>
              <a:ext cx="314325" cy="9525"/>
            </a:xfrm>
            <a:custGeom>
              <a:avLst/>
              <a:gdLst/>
              <a:ahLst/>
              <a:cxnLst/>
              <a:rect l="l" t="t" r="r" b="b"/>
              <a:pathLst>
                <a:path w="314325" h="9525">
                  <a:moveTo>
                    <a:pt x="0" y="0"/>
                  </a:moveTo>
                  <a:lnTo>
                    <a:pt x="314325" y="0"/>
                  </a:lnTo>
                </a:path>
              </a:pathLst>
            </a:custGeom>
            <a:noFill/>
            <a:ln w="38100">
              <a:solidFill>
                <a:srgbClr val="7C99BD"/>
              </a:solidFill>
            </a:ln>
          </p:spPr>
        </p:sp>
        <p:sp>
          <p:nvSpPr>
            <p:cNvPr id="53" name="Line 53"/>
            <p:cNvSpPr/>
            <p:nvPr/>
          </p:nvSpPr>
          <p:spPr>
            <a:xfrm>
              <a:off x="504825" y="5248275"/>
              <a:ext cx="247650" cy="9525"/>
            </a:xfrm>
            <a:custGeom>
              <a:avLst/>
              <a:gdLst/>
              <a:ahLst/>
              <a:cxnLst/>
              <a:rect l="l" t="t" r="r" b="b"/>
              <a:pathLst>
                <a:path w="247650" h="9525">
                  <a:moveTo>
                    <a:pt x="0" y="0"/>
                  </a:moveTo>
                  <a:lnTo>
                    <a:pt x="247650" y="0"/>
                  </a:lnTo>
                </a:path>
              </a:pathLst>
            </a:custGeom>
            <a:noFill/>
            <a:ln w="38100">
              <a:solidFill>
                <a:srgbClr val="7C99BD"/>
              </a:solidFill>
            </a:ln>
          </p:spPr>
        </p:sp>
      </p:grpSp>
      <p:grpSp>
        <p:nvGrpSpPr>
          <p:cNvPr id="73" name="Group 73"/>
          <p:cNvGrpSpPr/>
          <p:nvPr/>
        </p:nvGrpSpPr>
        <p:grpSpPr>
          <a:xfrm>
            <a:off x="1410081" y="4034790"/>
            <a:ext cx="7683055" cy="1642110"/>
            <a:chOff x="1410081" y="4034790"/>
            <a:chExt cx="7683055" cy="1642110"/>
          </a:xfrm>
        </p:grpSpPr>
        <p:sp>
          <p:nvSpPr>
            <p:cNvPr id="55" name="TextBox 55"/>
            <p:cNvSpPr txBox="1"/>
            <p:nvPr/>
          </p:nvSpPr>
          <p:spPr>
            <a:xfrm>
              <a:off x="1410081" y="4034790"/>
              <a:ext cx="20537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03B76"/>
                  </a:solidFill>
                  <a:latin typeface="Microsoft YaHei"/>
                  <a:ea typeface="Microsoft YaHei"/>
                  <a:cs typeface="Microsoft YaHei"/>
                </a:rPr>
                <a:t>持续运营评价原则</a:t>
              </a:r>
            </a:p>
          </p:txBody>
        </p:sp>
        <p:sp>
          <p:nvSpPr>
            <p:cNvPr id="56" name="Line 56"/>
            <p:cNvSpPr/>
            <p:nvPr/>
          </p:nvSpPr>
          <p:spPr>
            <a:xfrm>
              <a:off x="3419475" y="4476750"/>
              <a:ext cx="9525" cy="1200150"/>
            </a:xfrm>
            <a:custGeom>
              <a:avLst/>
              <a:gdLst/>
              <a:ahLst/>
              <a:cxnLst/>
              <a:rect l="l" t="t" r="r" b="b"/>
              <a:pathLst>
                <a:path w="9525" h="1200150">
                  <a:moveTo>
                    <a:pt x="0" y="0"/>
                  </a:moveTo>
                  <a:lnTo>
                    <a:pt x="0" y="1200150"/>
                  </a:lnTo>
                </a:path>
              </a:pathLst>
            </a:custGeom>
            <a:noFill/>
            <a:ln w="9525">
              <a:solidFill>
                <a:srgbClr val="B7C9DC"/>
              </a:solidFill>
            </a:ln>
          </p:spPr>
        </p:sp>
        <p:sp>
          <p:nvSpPr>
            <p:cNvPr id="57" name="Line 57"/>
            <p:cNvSpPr/>
            <p:nvPr/>
          </p:nvSpPr>
          <p:spPr>
            <a:xfrm>
              <a:off x="5400675" y="4476750"/>
              <a:ext cx="9525" cy="1200150"/>
            </a:xfrm>
            <a:custGeom>
              <a:avLst/>
              <a:gdLst/>
              <a:ahLst/>
              <a:cxnLst/>
              <a:rect l="l" t="t" r="r" b="b"/>
              <a:pathLst>
                <a:path w="9525" h="1200150">
                  <a:moveTo>
                    <a:pt x="0" y="0"/>
                  </a:moveTo>
                  <a:lnTo>
                    <a:pt x="0" y="1200150"/>
                  </a:lnTo>
                </a:path>
              </a:pathLst>
            </a:custGeom>
            <a:noFill/>
            <a:ln w="9525">
              <a:solidFill>
                <a:srgbClr val="B7C9DC"/>
              </a:solidFill>
            </a:ln>
          </p:spPr>
        </p:sp>
        <p:sp>
          <p:nvSpPr>
            <p:cNvPr id="58" name="Line 58"/>
            <p:cNvSpPr/>
            <p:nvPr/>
          </p:nvSpPr>
          <p:spPr>
            <a:xfrm>
              <a:off x="7191375" y="4476750"/>
              <a:ext cx="9525" cy="1200150"/>
            </a:xfrm>
            <a:custGeom>
              <a:avLst/>
              <a:gdLst/>
              <a:ahLst/>
              <a:cxnLst/>
              <a:rect l="l" t="t" r="r" b="b"/>
              <a:pathLst>
                <a:path w="9525" h="1200150">
                  <a:moveTo>
                    <a:pt x="0" y="0"/>
                  </a:moveTo>
                  <a:lnTo>
                    <a:pt x="0" y="1200150"/>
                  </a:lnTo>
                </a:path>
              </a:pathLst>
            </a:custGeom>
            <a:noFill/>
            <a:ln w="9525">
              <a:solidFill>
                <a:srgbClr val="B7C9DC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1411224" y="4611529"/>
              <a:ext cx="121819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03B76"/>
                  </a:solidFill>
                  <a:latin typeface="Microsoft YaHei"/>
                  <a:ea typeface="Microsoft YaHei"/>
                  <a:cs typeface="Microsoft YaHei"/>
                </a:rPr>
                <a:t>01 真实使用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414272" y="4962049"/>
              <a:ext cx="17162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有效产品应有独立标识、明确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414272" y="5181124"/>
              <a:ext cx="17162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版本、权利依据、质量说明和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414272" y="5400199"/>
              <a:ext cx="92868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真实使用记录。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3601974" y="4611529"/>
              <a:ext cx="121819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03B76"/>
                  </a:solidFill>
                  <a:latin typeface="Microsoft YaHei"/>
                  <a:ea typeface="Microsoft YaHei"/>
                  <a:cs typeface="Microsoft YaHei"/>
                </a:rPr>
                <a:t>02 服务质量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3605022" y="4962049"/>
              <a:ext cx="158496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服务等级、质量责任和客户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3605022" y="5181124"/>
              <a:ext cx="158496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支持要求落实到产品说明及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3605022" y="5400199"/>
              <a:ext cx="66617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合同文件。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5583174" y="4611529"/>
              <a:ext cx="121819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03B76"/>
                  </a:solidFill>
                  <a:latin typeface="Microsoft YaHei"/>
                  <a:ea typeface="Microsoft YaHei"/>
                  <a:cs typeface="Microsoft YaHei"/>
                </a:rPr>
                <a:t>03 经营效果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5586222" y="4962049"/>
              <a:ext cx="158496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检验产品价格、资源投入和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5586222" y="5181124"/>
              <a:ext cx="145370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持续服务责任是否匹配。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373874" y="4611529"/>
              <a:ext cx="121819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03B76"/>
                  </a:solidFill>
                  <a:latin typeface="Microsoft YaHei"/>
                  <a:ea typeface="Microsoft YaHei"/>
                  <a:cs typeface="Microsoft YaHei"/>
                </a:rPr>
                <a:t>04 安全合规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376922" y="4962049"/>
              <a:ext cx="17162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将分类分级、权利核查、用途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376922" y="5181124"/>
              <a:ext cx="17162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限定和风险处置贯穿全过程。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Custom</PresentationFormat>
  <Paragraphs>0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2026-08-14T03:08:34Z</dcterms:created>
  <dcterms:modified xsi:type="dcterms:W3CDTF">2026-08-14T03:08:34Z</dcterms:modified>
  <cp:category/>
  <cp:contentStatus/>
</cp:coreProperties>
</file>