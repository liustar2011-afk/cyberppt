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E94DB-55BA-1D4F-B7BD-9D82EE0B6934}" type="datetimeFigureOut">
              <a:rPr kumimoji="1" lang="zh-CN" altLang="en-US" smtClean="0"/>
              <a:t>2026/9/4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6A4BB-06C3-DE41-85BE-9DE0B6BFC5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539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A4BB-06C3-DE41-85BE-9DE0B6BFC52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933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81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EC Conten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Divider Master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companyLogo Ma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footerBar Master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5" name="footerCompany Master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6" name="pageNumber Master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174A339C-FA1D-4F37-9853-F5BE4FD76BA8}" type="slidenum"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‹#›</a:t>
            </a:fld>
            <a:endParaRPr lang="en-US" sz="68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95960-900E-3E87-B40A-AFE176B6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9">
            <a:extLst>
              <a:ext uri="{FF2B5EF4-FFF2-40B4-BE49-F238E27FC236}">
                <a16:creationId xmlns:a16="http://schemas.microsoft.com/office/drawing/2014/main" id="{E90895BE-BF44-A6A9-4910-BD83FF3111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97" b="2395"/>
          <a:stretch>
            <a:fillRect/>
          </a:stretch>
        </p:blipFill>
        <p:spPr>
          <a:xfrm>
            <a:off x="300878" y="980671"/>
            <a:ext cx="11563350" cy="5469889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CB159BA9-EFBE-AA23-7446-2FEDE553E730}"/>
              </a:ext>
            </a:extLst>
          </p:cNvPr>
          <p:cNvSpPr txBox="1"/>
          <p:nvPr/>
        </p:nvSpPr>
        <p:spPr>
          <a:xfrm>
            <a:off x="540258" y="188595"/>
            <a:ext cx="533352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创新业务6-1：科技项目及课题研究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F43FE3A-6BF7-6DCD-5AB4-58EC24AEF917}"/>
              </a:ext>
            </a:extLst>
          </p:cNvPr>
          <p:cNvSpPr txBox="1"/>
          <p:nvPr/>
        </p:nvSpPr>
        <p:spPr>
          <a:xfrm>
            <a:off x="1913094" y="1236746"/>
            <a:ext cx="4994957" cy="3154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05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可</a:t>
            </a:r>
            <a:r>
              <a:rPr lang="zh-CN" sz="205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在五个方向开展科技项目和课题研究合作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34D5547-69CD-9989-4E67-F860B29E881A}"/>
              </a:ext>
            </a:extLst>
          </p:cNvPr>
          <p:cNvSpPr txBox="1"/>
          <p:nvPr/>
        </p:nvSpPr>
        <p:spPr>
          <a:xfrm>
            <a:off x="588155" y="2470641"/>
            <a:ext cx="205450" cy="243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4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0F605DE-C82E-4E17-EC32-20B9E46540A6}"/>
              </a:ext>
            </a:extLst>
          </p:cNvPr>
          <p:cNvSpPr txBox="1"/>
          <p:nvPr/>
        </p:nvSpPr>
        <p:spPr>
          <a:xfrm>
            <a:off x="968603" y="2429781"/>
            <a:ext cx="61555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电力领域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4EBBFDC-A721-9D1F-972A-3CD18DC30028}"/>
              </a:ext>
            </a:extLst>
          </p:cNvPr>
          <p:cNvSpPr txBox="1"/>
          <p:nvPr/>
        </p:nvSpPr>
        <p:spPr>
          <a:xfrm>
            <a:off x="968603" y="2633043"/>
            <a:ext cx="123110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数据基础设施建设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6DCCA88-0F9F-7D37-3910-9F53923403B4}"/>
              </a:ext>
            </a:extLst>
          </p:cNvPr>
          <p:cNvSpPr txBox="1"/>
          <p:nvPr/>
        </p:nvSpPr>
        <p:spPr>
          <a:xfrm>
            <a:off x="2411867" y="2470641"/>
            <a:ext cx="205450" cy="243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4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19190E5-41B1-4D5C-D960-A746BCFC0302}"/>
              </a:ext>
            </a:extLst>
          </p:cNvPr>
          <p:cNvSpPr txBox="1"/>
          <p:nvPr/>
        </p:nvSpPr>
        <p:spPr>
          <a:xfrm>
            <a:off x="2782359" y="2429781"/>
            <a:ext cx="92333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高质量数据集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14B2AFD-8A5A-C6AB-7107-77ECD5D6B6C8}"/>
              </a:ext>
            </a:extLst>
          </p:cNvPr>
          <p:cNvSpPr txBox="1"/>
          <p:nvPr/>
        </p:nvSpPr>
        <p:spPr>
          <a:xfrm>
            <a:off x="2782359" y="2633043"/>
            <a:ext cx="138499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评测标注与资产评估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FC07639-65C7-8A6C-B1CF-734A961AFC98}"/>
              </a:ext>
            </a:extLst>
          </p:cNvPr>
          <p:cNvSpPr txBox="1"/>
          <p:nvPr/>
        </p:nvSpPr>
        <p:spPr>
          <a:xfrm>
            <a:off x="4275102" y="2470641"/>
            <a:ext cx="205450" cy="243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4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3BDDE18-819E-38C6-0C08-571AF5A5629B}"/>
              </a:ext>
            </a:extLst>
          </p:cNvPr>
          <p:cNvSpPr txBox="1"/>
          <p:nvPr/>
        </p:nvSpPr>
        <p:spPr>
          <a:xfrm>
            <a:off x="4661196" y="2429781"/>
            <a:ext cx="61555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电力数据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36AE718-A948-2F4E-4547-A8E175B1C096}"/>
              </a:ext>
            </a:extLst>
          </p:cNvPr>
          <p:cNvSpPr txBox="1"/>
          <p:nvPr/>
        </p:nvSpPr>
        <p:spPr>
          <a:xfrm>
            <a:off x="4661196" y="2633043"/>
            <a:ext cx="92333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安全风险评估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4374E3B-63D7-BBCC-E54A-CAB8E27237C2}"/>
              </a:ext>
            </a:extLst>
          </p:cNvPr>
          <p:cNvSpPr txBox="1"/>
          <p:nvPr/>
        </p:nvSpPr>
        <p:spPr>
          <a:xfrm>
            <a:off x="6093168" y="2470641"/>
            <a:ext cx="205450" cy="243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4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D4547A8-B6B9-5C07-A3BE-A4620FDB83F3}"/>
              </a:ext>
            </a:extLst>
          </p:cNvPr>
          <p:cNvSpPr txBox="1"/>
          <p:nvPr/>
        </p:nvSpPr>
        <p:spPr>
          <a:xfrm>
            <a:off x="6479262" y="2429781"/>
            <a:ext cx="61555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人工智能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ADABBDB-7063-37B7-FA92-F7871D41B3EA}"/>
              </a:ext>
            </a:extLst>
          </p:cNvPr>
          <p:cNvSpPr txBox="1"/>
          <p:nvPr/>
        </p:nvSpPr>
        <p:spPr>
          <a:xfrm>
            <a:off x="6479262" y="2633043"/>
            <a:ext cx="76944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工具与评测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47EEEDC-307E-F9BA-3BE1-6DE1940F036E}"/>
              </a:ext>
            </a:extLst>
          </p:cNvPr>
          <p:cNvSpPr txBox="1"/>
          <p:nvPr/>
        </p:nvSpPr>
        <p:spPr>
          <a:xfrm>
            <a:off x="7930327" y="2497535"/>
            <a:ext cx="205450" cy="243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4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D6954B0-85CD-9F53-19FC-8956F196CA11}"/>
              </a:ext>
            </a:extLst>
          </p:cNvPr>
          <p:cNvSpPr txBox="1"/>
          <p:nvPr/>
        </p:nvSpPr>
        <p:spPr>
          <a:xfrm>
            <a:off x="8302974" y="2429781"/>
            <a:ext cx="46166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能算碳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12C628A-8B69-0606-FD93-634A6689CC07}"/>
              </a:ext>
            </a:extLst>
          </p:cNvPr>
          <p:cNvSpPr txBox="1"/>
          <p:nvPr/>
        </p:nvSpPr>
        <p:spPr>
          <a:xfrm>
            <a:off x="8302974" y="2633043"/>
            <a:ext cx="61555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综合服务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68E5466-E2FE-33E6-4C9F-77B4AE8D8598}"/>
              </a:ext>
            </a:extLst>
          </p:cNvPr>
          <p:cNvSpPr txBox="1"/>
          <p:nvPr/>
        </p:nvSpPr>
        <p:spPr>
          <a:xfrm>
            <a:off x="9809823" y="2110490"/>
            <a:ext cx="1769582" cy="269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开放协同，择优推进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7B0EFF4-5A84-49CA-CCE7-877A2DF91642}"/>
              </a:ext>
            </a:extLst>
          </p:cNvPr>
          <p:cNvSpPr txBox="1"/>
          <p:nvPr/>
        </p:nvSpPr>
        <p:spPr>
          <a:xfrm>
            <a:off x="10343273" y="3713719"/>
            <a:ext cx="781756" cy="3825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6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1700+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62BBB34-152F-8C05-322A-7AA74B95BA18}"/>
              </a:ext>
            </a:extLst>
          </p:cNvPr>
          <p:cNvSpPr txBox="1"/>
          <p:nvPr/>
        </p:nvSpPr>
        <p:spPr>
          <a:xfrm>
            <a:off x="10326334" y="4532414"/>
            <a:ext cx="601675" cy="3825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6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23年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2A05BA33-0C3B-73B4-B2DD-1AFB600A11A5}"/>
              </a:ext>
            </a:extLst>
          </p:cNvPr>
          <p:cNvSpPr txBox="1"/>
          <p:nvPr/>
        </p:nvSpPr>
        <p:spPr>
          <a:xfrm>
            <a:off x="10357049" y="5403899"/>
            <a:ext cx="1261622" cy="2869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70" b="1" dirty="0">
                <a:solidFill>
                  <a:srgbClr val="12355B"/>
                </a:solidFill>
                <a:latin typeface="Microsoft YaHei"/>
                <a:ea typeface="Microsoft YaHei"/>
                <a:cs typeface="Microsoft YaHei"/>
              </a:rPr>
              <a:t>承担建设任务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F868D02-9951-6A59-72C3-2C3CFC4221DC}"/>
              </a:ext>
            </a:extLst>
          </p:cNvPr>
          <p:cNvSpPr txBox="1"/>
          <p:nvPr/>
        </p:nvSpPr>
        <p:spPr>
          <a:xfrm>
            <a:off x="1915467" y="1697816"/>
            <a:ext cx="682238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围绕数据基础设施建设、高质量数据集评测标注与资产评估、电力数据安全风险评估、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0A7D639-D984-E362-422F-2EB1C332C9F0}"/>
              </a:ext>
            </a:extLst>
          </p:cNvPr>
          <p:cNvSpPr txBox="1"/>
          <p:nvPr/>
        </p:nvSpPr>
        <p:spPr>
          <a:xfrm>
            <a:off x="1915467" y="1919552"/>
            <a:ext cx="6642844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人工智能工具与评测、能算碳综合服务等方向，联合开展科技项目和课题研究合作。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43F7193-0DF2-5433-D2BC-0FFEE4724F67}"/>
              </a:ext>
            </a:extLst>
          </p:cNvPr>
          <p:cNvGrpSpPr/>
          <p:nvPr/>
        </p:nvGrpSpPr>
        <p:grpSpPr>
          <a:xfrm>
            <a:off x="405768" y="4431345"/>
            <a:ext cx="9227759" cy="1648153"/>
            <a:chOff x="580579" y="4431347"/>
            <a:chExt cx="9020540" cy="996423"/>
          </a:xfrm>
        </p:grpSpPr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D8E4261C-2AEE-62F1-A4F7-948941E88595}"/>
                </a:ext>
              </a:extLst>
            </p:cNvPr>
            <p:cNvSpPr txBox="1"/>
            <p:nvPr/>
          </p:nvSpPr>
          <p:spPr>
            <a:xfrm>
              <a:off x="580579" y="4431347"/>
              <a:ext cx="1714931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86360" indent="-86360" algn="l">
                <a:buClr>
                  <a:srgbClr val="303030"/>
                </a:buClr>
                <a:buSzTx/>
                <a:buFontTx/>
                <a:buChar char="•"/>
              </a:pPr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围绕数据基础设施参考架构、</a:t>
              </a:r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E8EEB88C-1DD7-10CB-810A-39451446D5C2}"/>
                </a:ext>
              </a:extLst>
            </p:cNvPr>
            <p:cNvSpPr txBox="1"/>
            <p:nvPr/>
          </p:nvSpPr>
          <p:spPr>
            <a:xfrm>
              <a:off x="676563" y="4544271"/>
              <a:ext cx="150432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接入连接器、可信流通及多</a:t>
              </a:r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17697E4F-724C-E6F1-C675-841A38BE271B}"/>
                </a:ext>
              </a:extLst>
            </p:cNvPr>
            <p:cNvSpPr txBox="1"/>
            <p:nvPr/>
          </p:nvSpPr>
          <p:spPr>
            <a:xfrm>
              <a:off x="676563" y="4657194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主体运营机制开展联合研究。</a:t>
              </a:r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C1757AEA-648A-0B21-3D14-97CF5645EF6C}"/>
                </a:ext>
              </a:extLst>
            </p:cNvPr>
            <p:cNvSpPr txBox="1"/>
            <p:nvPr/>
          </p:nvSpPr>
          <p:spPr>
            <a:xfrm>
              <a:off x="580579" y="4995964"/>
              <a:ext cx="1589571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86360" indent="-86360" algn="l">
                <a:buClr>
                  <a:srgbClr val="303030"/>
                </a:buClr>
                <a:buSzTx/>
                <a:buFontTx/>
                <a:buChar char="•"/>
              </a:pPr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中电联作为国家数据基础设</a:t>
              </a:r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6BD7765-AA28-4F66-ED31-0655A6BB5F98}"/>
                </a:ext>
              </a:extLst>
            </p:cNvPr>
            <p:cNvSpPr txBox="1"/>
            <p:nvPr/>
          </p:nvSpPr>
          <p:spPr>
            <a:xfrm>
              <a:off x="676563" y="5108887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施行业节点，可组织跨企业构</a:t>
              </a:r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5A6ABCD4-1F0A-C0DE-69ED-1179381DB89B}"/>
                </a:ext>
              </a:extLst>
            </p:cNvPr>
            <p:cNvSpPr txBox="1"/>
            <p:nvPr/>
          </p:nvSpPr>
          <p:spPr>
            <a:xfrm>
              <a:off x="676563" y="5221811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建验证环境，提供行业级验证</a:t>
              </a:r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9FFA69A4-F6D8-DBE4-6300-3EA3AB4D52FE}"/>
                </a:ext>
              </a:extLst>
            </p:cNvPr>
            <p:cNvSpPr txBox="1"/>
            <p:nvPr/>
          </p:nvSpPr>
          <p:spPr>
            <a:xfrm>
              <a:off x="676563" y="5334734"/>
              <a:ext cx="376082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条件。</a:t>
              </a:r>
            </a:p>
          </p:txBody>
        </p:sp>
        <p:sp>
          <p:nvSpPr>
            <p:cNvPr id="40" name="TextBox 40">
              <a:extLst>
                <a:ext uri="{FF2B5EF4-FFF2-40B4-BE49-F238E27FC236}">
                  <a16:creationId xmlns:a16="http://schemas.microsoft.com/office/drawing/2014/main" id="{77310734-D9F3-CDBD-2B11-1D2C95D8CA66}"/>
                </a:ext>
              </a:extLst>
            </p:cNvPr>
            <p:cNvSpPr txBox="1"/>
            <p:nvPr/>
          </p:nvSpPr>
          <p:spPr>
            <a:xfrm>
              <a:off x="2398644" y="4431347"/>
              <a:ext cx="1714931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86360" indent="-86360" algn="l">
                <a:buClr>
                  <a:srgbClr val="303030"/>
                </a:buClr>
                <a:buSzTx/>
                <a:buFontTx/>
                <a:buChar char="•"/>
              </a:pPr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围绕数据标注、数据集加工、</a:t>
              </a:r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89BB387B-50FE-F004-4CEB-DF96057DA3A7}"/>
                </a:ext>
              </a:extLst>
            </p:cNvPr>
            <p:cNvSpPr txBox="1"/>
            <p:nvPr/>
          </p:nvSpPr>
          <p:spPr>
            <a:xfrm>
              <a:off x="2494629" y="4544271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质量评测与资产评估的方法及</a:t>
              </a:r>
            </a:p>
          </p:txBody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E2E0A7DD-DDBB-05D4-6206-F0DDA751D032}"/>
                </a:ext>
              </a:extLst>
            </p:cNvPr>
            <p:cNvSpPr txBox="1"/>
            <p:nvPr/>
          </p:nvSpPr>
          <p:spPr>
            <a:xfrm>
              <a:off x="2494629" y="4657194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工具开展研究，并探索测评互</a:t>
              </a:r>
            </a:p>
          </p:txBody>
        </p:sp>
        <p:sp>
          <p:nvSpPr>
            <p:cNvPr id="43" name="TextBox 43">
              <a:extLst>
                <a:ext uri="{FF2B5EF4-FFF2-40B4-BE49-F238E27FC236}">
                  <a16:creationId xmlns:a16="http://schemas.microsoft.com/office/drawing/2014/main" id="{6111E997-5564-89CB-557A-15A79F9513DA}"/>
                </a:ext>
              </a:extLst>
            </p:cNvPr>
            <p:cNvSpPr txBox="1"/>
            <p:nvPr/>
          </p:nvSpPr>
          <p:spPr>
            <a:xfrm>
              <a:off x="2494629" y="4770117"/>
              <a:ext cx="1128244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认与价值释放机制。</a:t>
              </a:r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1FABD890-6A5E-A10E-8310-0D10D9925B87}"/>
                </a:ext>
              </a:extLst>
            </p:cNvPr>
            <p:cNvSpPr txBox="1"/>
            <p:nvPr/>
          </p:nvSpPr>
          <p:spPr>
            <a:xfrm>
              <a:off x="2398644" y="5003201"/>
              <a:ext cx="1589571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86360" indent="-86360" algn="l">
                <a:buClr>
                  <a:srgbClr val="303030"/>
                </a:buClr>
                <a:buSzTx/>
                <a:buFontTx/>
                <a:buChar char="•"/>
              </a:pPr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已联合多家网省公司完成多</a:t>
              </a:r>
            </a:p>
          </p:txBody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C50A0659-A4E4-C82D-544C-5B5D5AD65EF9}"/>
                </a:ext>
              </a:extLst>
            </p:cNvPr>
            <p:cNvSpPr txBox="1"/>
            <p:nvPr/>
          </p:nvSpPr>
          <p:spPr>
            <a:xfrm>
              <a:off x="2494629" y="5116127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类数据集建设与评测案例，具</a:t>
              </a:r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2784EDFF-CE13-438F-0F5A-3D543AF62582}"/>
                </a:ext>
              </a:extLst>
            </p:cNvPr>
            <p:cNvSpPr txBox="1"/>
            <p:nvPr/>
          </p:nvSpPr>
          <p:spPr>
            <a:xfrm>
              <a:off x="2494629" y="5229047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备专家团队与标准体系支撑。</a:t>
              </a: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3F7A4BE6-986B-E80F-A99A-7BE0FA11A151}"/>
                </a:ext>
              </a:extLst>
            </p:cNvPr>
            <p:cNvSpPr txBox="1"/>
            <p:nvPr/>
          </p:nvSpPr>
          <p:spPr>
            <a:xfrm>
              <a:off x="4222356" y="4431347"/>
              <a:ext cx="1589571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86360" indent="-86360" algn="l">
                <a:buClr>
                  <a:srgbClr val="303030"/>
                </a:buClr>
                <a:buSzTx/>
                <a:buFontTx/>
                <a:buChar char="•"/>
              </a:pPr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围绕数据分类分级、全生命</a:t>
              </a:r>
            </a:p>
          </p:txBody>
        </p:sp>
        <p:sp>
          <p:nvSpPr>
            <p:cNvPr id="48" name="TextBox 48">
              <a:extLst>
                <a:ext uri="{FF2B5EF4-FFF2-40B4-BE49-F238E27FC236}">
                  <a16:creationId xmlns:a16="http://schemas.microsoft.com/office/drawing/2014/main" id="{7AAD69E9-C9B0-E8BB-544D-D392A5254D8F}"/>
                </a:ext>
              </a:extLst>
            </p:cNvPr>
            <p:cNvSpPr txBox="1"/>
            <p:nvPr/>
          </p:nvSpPr>
          <p:spPr>
            <a:xfrm>
              <a:off x="4318341" y="4544271"/>
              <a:ext cx="175504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周期与流通安全规则开展研究，</a:t>
              </a:r>
            </a:p>
          </p:txBody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6E38DB4B-3E59-BB0A-DA4E-706D47A7EDC3}"/>
                </a:ext>
              </a:extLst>
            </p:cNvPr>
            <p:cNvSpPr txBox="1"/>
            <p:nvPr/>
          </p:nvSpPr>
          <p:spPr>
            <a:xfrm>
              <a:off x="4318341" y="4657194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联合验证风险评估及脱敏、水</a:t>
              </a: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4F428114-CF71-B86C-0135-ADCD86AC1278}"/>
                </a:ext>
              </a:extLst>
            </p:cNvPr>
            <p:cNvSpPr txBox="1"/>
            <p:nvPr/>
          </p:nvSpPr>
          <p:spPr>
            <a:xfrm>
              <a:off x="4318341" y="4770117"/>
              <a:ext cx="137896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印等技防工具的适用性。</a:t>
              </a:r>
            </a:p>
          </p:txBody>
        </p:sp>
        <p:sp>
          <p:nvSpPr>
            <p:cNvPr id="51" name="TextBox 51">
              <a:extLst>
                <a:ext uri="{FF2B5EF4-FFF2-40B4-BE49-F238E27FC236}">
                  <a16:creationId xmlns:a16="http://schemas.microsoft.com/office/drawing/2014/main" id="{4040C726-F8C3-0E61-E12B-A125F61E5E2E}"/>
                </a:ext>
              </a:extLst>
            </p:cNvPr>
            <p:cNvSpPr txBox="1"/>
            <p:nvPr/>
          </p:nvSpPr>
          <p:spPr>
            <a:xfrm>
              <a:off x="4222356" y="5003201"/>
              <a:ext cx="1714931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86360" indent="-86360" algn="l">
                <a:buClr>
                  <a:srgbClr val="303030"/>
                </a:buClr>
                <a:buSzTx/>
                <a:buFontTx/>
                <a:buChar char="•"/>
              </a:pPr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已研发相应评估与技防工具，</a:t>
              </a:r>
            </a:p>
          </p:txBody>
        </p:sp>
        <p:sp>
          <p:nvSpPr>
            <p:cNvPr id="52" name="TextBox 52">
              <a:extLst>
                <a:ext uri="{FF2B5EF4-FFF2-40B4-BE49-F238E27FC236}">
                  <a16:creationId xmlns:a16="http://schemas.microsoft.com/office/drawing/2014/main" id="{1E8253B1-71B1-19F1-6C21-5E023CC54B0D}"/>
                </a:ext>
              </a:extLst>
            </p:cNvPr>
            <p:cNvSpPr txBox="1"/>
            <p:nvPr/>
          </p:nvSpPr>
          <p:spPr>
            <a:xfrm>
              <a:off x="4318341" y="5116127"/>
              <a:ext cx="150432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并在国网多省份落地应用。</a:t>
              </a: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9E5DC06D-E183-56B7-1AF0-7132559364A8}"/>
                </a:ext>
              </a:extLst>
            </p:cNvPr>
            <p:cNvSpPr txBox="1"/>
            <p:nvPr/>
          </p:nvSpPr>
          <p:spPr>
            <a:xfrm>
              <a:off x="6029130" y="4431347"/>
              <a:ext cx="1589571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86360" indent="-86360" algn="l">
                <a:buClr>
                  <a:srgbClr val="303030"/>
                </a:buClr>
                <a:buSzTx/>
                <a:buFontTx/>
                <a:buChar char="•"/>
              </a:pPr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围绕模型适配、场景能力、</a:t>
              </a:r>
            </a:p>
          </p:txBody>
        </p:sp>
        <p:sp>
          <p:nvSpPr>
            <p:cNvPr id="54" name="TextBox 54">
              <a:extLst>
                <a:ext uri="{FF2B5EF4-FFF2-40B4-BE49-F238E27FC236}">
                  <a16:creationId xmlns:a16="http://schemas.microsoft.com/office/drawing/2014/main" id="{5942D6D3-2E51-6388-C523-00209C510863}"/>
                </a:ext>
              </a:extLst>
            </p:cNvPr>
            <p:cNvSpPr txBox="1"/>
            <p:nvPr/>
          </p:nvSpPr>
          <p:spPr>
            <a:xfrm>
              <a:off x="6147699" y="4544271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安全可信等维度联合研发自动</a:t>
              </a:r>
            </a:p>
          </p:txBody>
        </p:sp>
        <p:sp>
          <p:nvSpPr>
            <p:cNvPr id="55" name="TextBox 55">
              <a:extLst>
                <a:ext uri="{FF2B5EF4-FFF2-40B4-BE49-F238E27FC236}">
                  <a16:creationId xmlns:a16="http://schemas.microsoft.com/office/drawing/2014/main" id="{993C485A-DE32-E6D0-9368-AF3F9C8CB05D}"/>
                </a:ext>
              </a:extLst>
            </p:cNvPr>
            <p:cNvSpPr txBox="1"/>
            <p:nvPr/>
          </p:nvSpPr>
          <p:spPr>
            <a:xfrm>
              <a:off x="6147699" y="4657194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化评测工具，验证业务智能助</a:t>
              </a: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CECEAF70-290C-B3B7-6A9E-56D8341D3197}"/>
                </a:ext>
              </a:extLst>
            </p:cNvPr>
            <p:cNvSpPr txBox="1"/>
            <p:nvPr/>
          </p:nvSpPr>
          <p:spPr>
            <a:xfrm>
              <a:off x="6147699" y="4770117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手与数据治理工具应用效果。</a:t>
              </a:r>
            </a:p>
          </p:txBody>
        </p:sp>
        <p:sp>
          <p:nvSpPr>
            <p:cNvPr id="57" name="TextBox 57">
              <a:extLst>
                <a:ext uri="{FF2B5EF4-FFF2-40B4-BE49-F238E27FC236}">
                  <a16:creationId xmlns:a16="http://schemas.microsoft.com/office/drawing/2014/main" id="{0CD1402E-F1F8-9A2E-CCB2-CA08EC3C69D0}"/>
                </a:ext>
              </a:extLst>
            </p:cNvPr>
            <p:cNvSpPr txBox="1"/>
            <p:nvPr/>
          </p:nvSpPr>
          <p:spPr>
            <a:xfrm>
              <a:off x="6029130" y="5003201"/>
              <a:ext cx="1714931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86360" indent="-86360" algn="l">
                <a:buClr>
                  <a:srgbClr val="303030"/>
                </a:buClr>
                <a:buSzTx/>
                <a:buFontTx/>
                <a:buChar char="•"/>
              </a:pPr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已构建行业、场景、基础能力</a:t>
              </a:r>
            </a:p>
          </p:txBody>
        </p:sp>
        <p:sp>
          <p:nvSpPr>
            <p:cNvPr id="58" name="TextBox 58">
              <a:extLst>
                <a:ext uri="{FF2B5EF4-FFF2-40B4-BE49-F238E27FC236}">
                  <a16:creationId xmlns:a16="http://schemas.microsoft.com/office/drawing/2014/main" id="{1994A6C3-00E9-2CCC-DD5D-F314399EB9F3}"/>
                </a:ext>
              </a:extLst>
            </p:cNvPr>
            <p:cNvSpPr txBox="1"/>
            <p:nvPr/>
          </p:nvSpPr>
          <p:spPr>
            <a:xfrm>
              <a:off x="6147699" y="5116127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三级评测体系，在多家网省公</a:t>
              </a: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6A32BF43-3AC0-25C0-2A8F-2507537EA48B}"/>
                </a:ext>
              </a:extLst>
            </p:cNvPr>
            <p:cNvSpPr txBox="1"/>
            <p:nvPr/>
          </p:nvSpPr>
          <p:spPr>
            <a:xfrm>
              <a:off x="6147699" y="5229047"/>
              <a:ext cx="752162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司落地应用。</a:t>
              </a:r>
            </a:p>
          </p:txBody>
        </p:sp>
        <p:sp>
          <p:nvSpPr>
            <p:cNvPr id="60" name="TextBox 60">
              <a:extLst>
                <a:ext uri="{FF2B5EF4-FFF2-40B4-BE49-F238E27FC236}">
                  <a16:creationId xmlns:a16="http://schemas.microsoft.com/office/drawing/2014/main" id="{111002B7-EB3B-91FA-422C-D6F089E1D1EF}"/>
                </a:ext>
              </a:extLst>
            </p:cNvPr>
            <p:cNvSpPr txBox="1"/>
            <p:nvPr/>
          </p:nvSpPr>
          <p:spPr>
            <a:xfrm>
              <a:off x="7760827" y="4431347"/>
              <a:ext cx="1840292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86360" indent="-86360" algn="l">
                <a:buClr>
                  <a:srgbClr val="303030"/>
                </a:buClr>
                <a:buSzTx/>
                <a:buFontTx/>
                <a:buChar char="•"/>
              </a:pPr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围绕碳排放核算、碳资产开发、</a:t>
              </a:r>
            </a:p>
          </p:txBody>
        </p:sp>
        <p:sp>
          <p:nvSpPr>
            <p:cNvPr id="61" name="TextBox 61">
              <a:extLst>
                <a:ext uri="{FF2B5EF4-FFF2-40B4-BE49-F238E27FC236}">
                  <a16:creationId xmlns:a16="http://schemas.microsoft.com/office/drawing/2014/main" id="{8C18E650-BFAD-B3E4-FF53-92C1020F0DD8}"/>
                </a:ext>
              </a:extLst>
            </p:cNvPr>
            <p:cNvSpPr txBox="1"/>
            <p:nvPr/>
          </p:nvSpPr>
          <p:spPr>
            <a:xfrm>
              <a:off x="7873750" y="4544271"/>
              <a:ext cx="1629686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能效优化与零碳园区管理开展</a:t>
              </a:r>
            </a:p>
          </p:txBody>
        </p:sp>
        <p:sp>
          <p:nvSpPr>
            <p:cNvPr id="62" name="TextBox 62">
              <a:extLst>
                <a:ext uri="{FF2B5EF4-FFF2-40B4-BE49-F238E27FC236}">
                  <a16:creationId xmlns:a16="http://schemas.microsoft.com/office/drawing/2014/main" id="{B4A89752-06C7-63A5-3D19-0977CBCC6910}"/>
                </a:ext>
              </a:extLst>
            </p:cNvPr>
            <p:cNvSpPr txBox="1"/>
            <p:nvPr/>
          </p:nvSpPr>
          <p:spPr>
            <a:xfrm>
              <a:off x="7873750" y="4657194"/>
              <a:ext cx="1002884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工具与机制研究。</a:t>
              </a:r>
            </a:p>
          </p:txBody>
        </p:sp>
        <p:sp>
          <p:nvSpPr>
            <p:cNvPr id="63" name="TextBox 63">
              <a:extLst>
                <a:ext uri="{FF2B5EF4-FFF2-40B4-BE49-F238E27FC236}">
                  <a16:creationId xmlns:a16="http://schemas.microsoft.com/office/drawing/2014/main" id="{DECCDDCA-0195-3394-22C2-4BFB201B37CE}"/>
                </a:ext>
              </a:extLst>
            </p:cNvPr>
            <p:cNvSpPr txBox="1"/>
            <p:nvPr/>
          </p:nvSpPr>
          <p:spPr>
            <a:xfrm>
              <a:off x="7760827" y="4995964"/>
              <a:ext cx="1633447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86360" indent="-86360" algn="l">
                <a:buClr>
                  <a:srgbClr val="303030"/>
                </a:buClr>
                <a:buSzTx/>
                <a:buFontTx/>
                <a:buChar char="•"/>
              </a:pPr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依托1700余家会员单位资源</a:t>
              </a:r>
            </a:p>
          </p:txBody>
        </p:sp>
        <p:sp>
          <p:nvSpPr>
            <p:cNvPr id="64" name="TextBox 64">
              <a:extLst>
                <a:ext uri="{FF2B5EF4-FFF2-40B4-BE49-F238E27FC236}">
                  <a16:creationId xmlns:a16="http://schemas.microsoft.com/office/drawing/2014/main" id="{9B5EA046-E26A-A2F8-68A5-6D35CA8B6051}"/>
                </a:ext>
              </a:extLst>
            </p:cNvPr>
            <p:cNvSpPr txBox="1"/>
            <p:nvPr/>
          </p:nvSpPr>
          <p:spPr>
            <a:xfrm>
              <a:off x="7873750" y="5108887"/>
              <a:ext cx="1651624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和23年行业积累，承担电力碳</a:t>
              </a:r>
            </a:p>
          </p:txBody>
        </p:sp>
        <p:sp>
          <p:nvSpPr>
            <p:cNvPr id="65" name="TextBox 65">
              <a:extLst>
                <a:ext uri="{FF2B5EF4-FFF2-40B4-BE49-F238E27FC236}">
                  <a16:creationId xmlns:a16="http://schemas.microsoft.com/office/drawing/2014/main" id="{DEF9FFE5-1A1D-5C1D-6EBF-0362A8AF2FFE}"/>
                </a:ext>
              </a:extLst>
            </p:cNvPr>
            <p:cNvSpPr txBox="1"/>
            <p:nvPr/>
          </p:nvSpPr>
          <p:spPr>
            <a:xfrm>
              <a:off x="7873750" y="5221811"/>
              <a:ext cx="1253604" cy="930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足迹数据库建设任务。</a:t>
              </a:r>
            </a:p>
          </p:txBody>
        </p:sp>
      </p:grpSp>
      <p:sp>
        <p:nvSpPr>
          <p:cNvPr id="66" name="TextBox 66">
            <a:extLst>
              <a:ext uri="{FF2B5EF4-FFF2-40B4-BE49-F238E27FC236}">
                <a16:creationId xmlns:a16="http://schemas.microsoft.com/office/drawing/2014/main" id="{F2950CFA-F744-C394-5578-CFB8FDC969DD}"/>
              </a:ext>
            </a:extLst>
          </p:cNvPr>
          <p:cNvSpPr txBox="1"/>
          <p:nvPr/>
        </p:nvSpPr>
        <p:spPr>
          <a:xfrm>
            <a:off x="9792968" y="2582510"/>
            <a:ext cx="2192908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除上述方向外，如贵单位另有科技项目储备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4318528A-34FB-73C3-FF04-3076E9C72D8B}"/>
              </a:ext>
            </a:extLst>
          </p:cNvPr>
          <p:cNvSpPr txBox="1"/>
          <p:nvPr/>
        </p:nvSpPr>
        <p:spPr>
          <a:xfrm>
            <a:off x="9778831" y="2777576"/>
            <a:ext cx="24237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或研究选题，可结合实际共同研究，择优推进。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C52BABFD-C938-1CB8-F0C5-615526E13678}"/>
              </a:ext>
            </a:extLst>
          </p:cNvPr>
          <p:cNvSpPr txBox="1"/>
          <p:nvPr/>
        </p:nvSpPr>
        <p:spPr>
          <a:xfrm>
            <a:off x="10348447" y="4036116"/>
            <a:ext cx="769441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dirty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会员单位资源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C8E79C21-1565-9870-958D-102B6259F1F8}"/>
              </a:ext>
            </a:extLst>
          </p:cNvPr>
          <p:cNvSpPr txBox="1"/>
          <p:nvPr/>
        </p:nvSpPr>
        <p:spPr>
          <a:xfrm>
            <a:off x="10331509" y="4854810"/>
            <a:ext cx="512961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dirty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行业积累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2D498813-88B3-10CE-6BF0-B1ED97E60DDC}"/>
              </a:ext>
            </a:extLst>
          </p:cNvPr>
          <p:cNvSpPr txBox="1"/>
          <p:nvPr/>
        </p:nvSpPr>
        <p:spPr>
          <a:xfrm>
            <a:off x="10359740" y="5701735"/>
            <a:ext cx="1025922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dirty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电力碳足迹数据库</a:t>
            </a:r>
          </a:p>
        </p:txBody>
      </p:sp>
    </p:spTree>
    <p:extLst>
      <p:ext uri="{BB962C8B-B14F-4D97-AF65-F5344CB8AC3E}">
        <p14:creationId xmlns:p14="http://schemas.microsoft.com/office/powerpoint/2010/main" val="172445756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394</Words>
  <Application>Microsoft Macintosh PowerPoint</Application>
  <PresentationFormat>宽屏</PresentationFormat>
  <Paragraphs>62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Microsoft YaHei</vt:lpstr>
      <vt:lpstr>Source Han Sans CN</vt:lpstr>
      <vt:lpstr>Arial</vt:lpstr>
      <vt:lpstr>Consolas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Xing Liu</cp:lastModifiedBy>
  <cp:revision>3</cp:revision>
  <dcterms:created xsi:type="dcterms:W3CDTF">2026-09-04T03:17:01Z</dcterms:created>
  <dcterms:modified xsi:type="dcterms:W3CDTF">2026-09-04T03:35:39Z</dcterms:modified>
  <cp:category/>
  <cp:contentStatus/>
  <dc:language/>
</cp:coreProperties>
</file>