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E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757340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2c33023640f0c720.png"/>
  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CEC Content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Divider Master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company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footerBar Master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5" name="footerCompany Master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6" name="pageNumber Master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59099FA2-8898-4B7C-9EB9-95251FBCCC23}" type="slidenum"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fld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463c4c3363eaecb8.png"/>
  <Relationship Id="rId4" Type="http://schemas.openxmlformats.org/officeDocument/2006/relationships/image" Target="../media/image_cc51c30236eeabbc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0258" y="188595"/>
            <a:ext cx="53335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创新业务6-1：科技项目及课题研究</a:t>
            </a:r>
          </a:p>
        </p:txBody>
      </p:sp>
      <p:grpSp>
        <p:nvGrpSpPr>
          <p:cNvPr id="112" name="Group 112"/>
          <p:cNvGrpSpPr/>
          <p:nvPr/>
        </p:nvGrpSpPr>
        <p:grpSpPr>
          <a:xfrm>
            <a:off x="314325" y="847725"/>
            <a:ext cx="11563350" cy="5781675"/>
            <a:chOff x="314325" y="847725"/>
            <a:chExt cx="11563350" cy="578167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325" y="847725"/>
              <a:ext cx="11563350" cy="5781675"/>
            </a:xfrm>
            <a:prstGeom prst="rect">
              <a:avLst/>
            </a:prstGeom>
          </p:spPr>
        </p:pic>
        <p:grpSp>
          <p:nvGrpSpPr>
            <p:cNvPr id="111" name="Group 111"/>
            <p:cNvGrpSpPr/>
            <p:nvPr/>
          </p:nvGrpSpPr>
          <p:grpSpPr>
            <a:xfrm>
              <a:off x="642686" y="1022756"/>
              <a:ext cx="10905016" cy="5481968"/>
              <a:chOff x="642686" y="1022756"/>
              <a:chExt cx="10905016" cy="548196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15077" y="1022756"/>
                <a:ext cx="2655677" cy="347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8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一、科技项目</a:t>
                </a:r>
                <a:r>
                  <a:rPr lang="zh-CN" sz="133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（四个方向）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48126" y="1357574"/>
                <a:ext cx="8981014" cy="191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131A20"/>
                    </a:solidFill>
                    <a:latin typeface="Microsoft YaHei"/>
                    <a:ea typeface="Microsoft YaHei"/>
                    <a:cs typeface="Microsoft YaHei"/>
                  </a:rPr>
                  <a:t>聚焦数据构建、模型评测、安全评估与可信流通，研发工具能力，形成可对外提供的工具产品和测评服务，支撑电力行业数字化与数据要素安全高效利用。</a:t>
                </a:r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703685" y="1711024"/>
                <a:ext cx="6911046" cy="226073"/>
                <a:chOff x="703685" y="1711024"/>
                <a:chExt cx="6911046" cy="226073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703685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01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3125890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02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5429526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03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422623" y="1711024"/>
                  <a:ext cx="192108" cy="2260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6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04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1065717" y="1685898"/>
                <a:ext cx="7993053" cy="363726"/>
                <a:chOff x="1065717" y="1685898"/>
                <a:chExt cx="7993053" cy="363726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1065717" y="1685898"/>
                  <a:ext cx="1452169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高质量数据集智能构建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065717" y="1849637"/>
                  <a:ext cx="875457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与自动化测评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3465338" y="1685898"/>
                  <a:ext cx="130799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电力大模型与智能体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465338" y="1849637"/>
                  <a:ext cx="58710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行业评测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768974" y="1685898"/>
                  <a:ext cx="875457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数据安全风险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768974" y="1849637"/>
                  <a:ext cx="58710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智能评估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750779" y="1685898"/>
                  <a:ext cx="1307991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多主体数据可信共享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750779" y="1849637"/>
                  <a:ext cx="731279" cy="1999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2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与受控利用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65271" y="3127930"/>
                <a:ext cx="4331520" cy="933556"/>
                <a:chOff x="665271" y="3127930"/>
                <a:chExt cx="4331520" cy="933556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665271" y="312793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研发智能标注、数据增强、自动质检、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65271" y="326908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质量诊断和自动化测评工具，覆盖数据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65271" y="3410238"/>
                  <a:ext cx="1140333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集构建与评价全链条。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665271" y="361350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中电联具备专业规则制定、典型数据集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65271" y="375465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积累、测评体系建设和应用场景组织基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65271" y="3895808"/>
                  <a:ext cx="461848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础条件。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064892" y="312793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研发模型适配、场景能力、安全可信、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064892" y="326908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智能体效果等维度的自动化评测工具，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064892" y="3410238"/>
                  <a:ext cx="1140333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提供系统化评价手段。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064892" y="361350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中电联具备跨模型、跨专业、跨单位统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064892" y="375465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一基准验证优势，提升评测结论可比性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3064892" y="3895808"/>
                  <a:ext cx="57492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和通用性。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5317713" y="3135128"/>
                <a:ext cx="1794586" cy="920853"/>
                <a:chOff x="5317713" y="3135128"/>
                <a:chExt cx="1794586" cy="920853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5317713" y="3135128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研发风险识别、规则匹配、能力评分、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5317713" y="3276283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问题诊断和整改推荐的工具体系，支撑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317713" y="3417437"/>
                  <a:ext cx="1059561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企业自评估与自诊断。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317713" y="3620699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中电联在数据安全成熟度评估和治理项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5317713" y="3761853"/>
                  <a:ext cx="1794586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目中积累了评价指标、风险规则和典型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5317713" y="3903007"/>
                  <a:ext cx="1689583" cy="1529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8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案例，可转化为评估模型支撑研发。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7316456" y="3127930"/>
                <a:ext cx="1996516" cy="933556"/>
                <a:chOff x="7316456" y="3127930"/>
                <a:chExt cx="1996516" cy="933556"/>
              </a:xfrm>
            </p:grpSpPr>
            <p:sp>
              <p:nvSpPr>
                <p:cNvPr id="46" name="TextBox 46"/>
                <p:cNvSpPr txBox="1"/>
                <p:nvPr/>
              </p:nvSpPr>
              <p:spPr>
                <a:xfrm>
                  <a:off x="7316456" y="312793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研究可信连接、授权控制、数据可用不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316456" y="3271483"/>
                  <a:ext cx="199651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可见、安全调用和审计追溯等关键技术，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316456" y="3410238"/>
                  <a:ext cx="1705737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满足多主体共享的安全可控要求。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316456" y="3613500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中电联可依托电力数据基础设施建设跨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7316456" y="3754654"/>
                  <a:ext cx="1931899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企业验证环境，为可信流通技术提供行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316456" y="3895808"/>
                  <a:ext cx="801091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业级验证条件。</a:t>
                  </a:r>
                </a:p>
              </p:txBody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10217024" y="1526394"/>
                <a:ext cx="713748" cy="243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共性价值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9641793" y="1937435"/>
                <a:ext cx="45169" cy="45169"/>
              </a:xfrm>
              <a:prstGeom prst="ellipse">
                <a:avLst/>
              </a:prstGeom>
              <a:solidFill>
                <a:srgbClr val="062852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9641793" y="2389129"/>
                <a:ext cx="45169" cy="45169"/>
              </a:xfrm>
              <a:prstGeom prst="ellipse">
                <a:avLst/>
              </a:prstGeom>
              <a:solidFill>
                <a:srgbClr val="062852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9641793" y="2835176"/>
                <a:ext cx="45169" cy="45169"/>
              </a:xfrm>
              <a:prstGeom prst="ellipse">
                <a:avLst/>
              </a:prstGeom>
              <a:solidFill>
                <a:srgbClr val="062852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9783831" y="1904405"/>
                <a:ext cx="1637081" cy="1266681"/>
                <a:chOff x="9783831" y="1904405"/>
                <a:chExt cx="1637081" cy="1266681"/>
              </a:xfrm>
            </p:grpSpPr>
            <p:sp>
              <p:nvSpPr>
                <p:cNvPr id="57" name="TextBox 57"/>
                <p:cNvSpPr txBox="1"/>
                <p:nvPr/>
              </p:nvSpPr>
              <p:spPr>
                <a:xfrm>
                  <a:off x="9783831" y="1904405"/>
                  <a:ext cx="1637081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推动技术成果转化为工具产品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9783831" y="2090729"/>
                  <a:ext cx="635508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和测评服务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9783831" y="2365697"/>
                  <a:ext cx="1490883" cy="1656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构建覆盖技术研发—验证评测—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9783831" y="2542422"/>
                  <a:ext cx="1136294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场景应用的完整闭环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9783831" y="2802146"/>
                  <a:ext cx="1637081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支撑电力行业数字化转型与数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9783831" y="2988469"/>
                  <a:ext cx="885901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据要素价值释放</a:t>
                  </a:r>
                </a:p>
              </p:txBody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915077" y="4212841"/>
                <a:ext cx="2655677" cy="347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8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二、课题研究</a:t>
                </a:r>
                <a:r>
                  <a:rPr lang="zh-CN" sz="1330" b="1" dirty="0">
                    <a:solidFill>
                      <a:srgbClr val="062852"/>
                    </a:solidFill>
                    <a:latin typeface="Microsoft YaHei"/>
                    <a:ea typeface="Microsoft YaHei"/>
                    <a:cs typeface="Microsoft YaHei"/>
                  </a:rPr>
                  <a:t>（四个课题）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5133" y="4507288"/>
                <a:ext cx="6519748" cy="182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0" dirty="0">
                    <a:solidFill>
                      <a:srgbClr val="131A20"/>
                    </a:solidFill>
                    <a:latin typeface="Microsoft YaHei"/>
                    <a:ea typeface="Microsoft YaHei"/>
                    <a:cs typeface="Microsoft YaHei"/>
                  </a:rPr>
                  <a:t>围绕机制设计与路径研究，打通标准、测评、估值、流通和应用全流程，为行业规范化管理与价值释放提供系统支撑。</a:t>
                </a:r>
              </a:p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698490" y="4797783"/>
                <a:ext cx="6850981" cy="208682"/>
                <a:chOff x="698490" y="4797783"/>
                <a:chExt cx="6850981" cy="208682"/>
              </a:xfrm>
            </p:grpSpPr>
            <p:sp>
              <p:nvSpPr>
                <p:cNvPr id="66" name="TextBox 66"/>
                <p:cNvSpPr txBox="1"/>
                <p:nvPr/>
              </p:nvSpPr>
              <p:spPr>
                <a:xfrm>
                  <a:off x="698490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01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3086819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02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5424332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03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7372260" y="4797783"/>
                  <a:ext cx="177211" cy="2086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70" b="1" dirty="0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rPr>
                    <a:t>04</a:t>
                  </a:r>
                </a:p>
              </p:txBody>
            </p:sp>
          </p:grpSp>
          <p:grpSp>
            <p:nvGrpSpPr>
              <p:cNvPr id="79" name="Group 79"/>
              <p:cNvGrpSpPr/>
              <p:nvPr/>
            </p:nvGrpSpPr>
            <p:grpSpPr>
              <a:xfrm>
                <a:off x="992749" y="4778304"/>
                <a:ext cx="8243833" cy="323771"/>
                <a:chOff x="992749" y="4778304"/>
                <a:chExt cx="8243833" cy="323771"/>
              </a:xfrm>
            </p:grpSpPr>
            <p:sp>
              <p:nvSpPr>
                <p:cNvPr id="71" name="TextBox 71"/>
                <p:cNvSpPr txBox="1"/>
                <p:nvPr/>
              </p:nvSpPr>
              <p:spPr>
                <a:xfrm>
                  <a:off x="992749" y="4778304"/>
                  <a:ext cx="1324089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高质量数据集测评互认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992749" y="4919458"/>
                  <a:ext cx="929720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与价值释放机制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3403662" y="4778304"/>
                  <a:ext cx="1718459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电力大模型与智能体行业评价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3403662" y="4919458"/>
                  <a:ext cx="929720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及应用准入机制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5724237" y="4778304"/>
                  <a:ext cx="1324089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电力数据资产价值评估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5724237" y="4919458"/>
                  <a:ext cx="1061176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与市场化流通机制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7649580" y="4778304"/>
                  <a:ext cx="1587002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电力数据基础设施场景运营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7649580" y="4919458"/>
                  <a:ext cx="929720" cy="1826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30" b="1" dirty="0">
                      <a:solidFill>
                        <a:srgbClr val="062852"/>
                      </a:solidFill>
                      <a:latin typeface="Microsoft YaHei"/>
                      <a:ea typeface="Microsoft YaHei"/>
                      <a:cs typeface="Microsoft YaHei"/>
                    </a:rPr>
                    <a:t>与多方协同机制</a:t>
                  </a:r>
                </a:p>
              </p:txBody>
            </p:sp>
          </p:grpSp>
          <p:grpSp>
            <p:nvGrpSpPr>
              <p:cNvPr id="90" name="Group 90"/>
              <p:cNvGrpSpPr/>
              <p:nvPr/>
            </p:nvGrpSpPr>
            <p:grpSpPr>
              <a:xfrm>
                <a:off x="642686" y="5843482"/>
                <a:ext cx="4527360" cy="660000"/>
                <a:chOff x="642686" y="5843482"/>
                <a:chExt cx="4527360" cy="660000"/>
              </a:xfrm>
            </p:grpSpPr>
            <p:sp>
              <p:nvSpPr>
                <p:cNvPr id="80" name="TextBox 80"/>
                <p:cNvSpPr txBox="1"/>
                <p:nvPr/>
              </p:nvSpPr>
              <p:spPr>
                <a:xfrm>
                  <a:off x="642686" y="5845401"/>
                  <a:ext cx="2141906" cy="1428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研究质量评价、测评互认、价值评估、授权使用、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642686" y="5962051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流通交易和模型应用等环节的机制设计，解决价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642686" y="6080621"/>
                  <a:ext cx="806475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值释放不畅问题。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642686" y="6238713"/>
                  <a:ext cx="2001901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中电联贯通标准、测评、估值、流通和应用各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642686" y="6357283"/>
                  <a:ext cx="1802663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环节，为机制研究提供全流程实践支撑。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2968907" y="5843482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研究行业适配、业务效果、安全可信、应用准入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2968907" y="5962051"/>
                  <a:ext cx="2201139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和持续评价等方面的方法体系，支撑规范化管理。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2968907" y="6120144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中电联组织电网企业、发电企业、装备制造企业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2968907" y="6238713"/>
                  <a:ext cx="2101520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和科研机构共同参与验证，形成跨主体的行业评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2968907" y="6357283"/>
                  <a:ext cx="1204951" cy="146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4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价体系，增强结果代表性。</a:t>
                  </a:r>
                </a:p>
              </p:txBody>
            </p:sp>
          </p:grpSp>
          <p:grpSp>
            <p:nvGrpSpPr>
              <p:cNvPr id="97" name="Group 97"/>
              <p:cNvGrpSpPr/>
              <p:nvPr/>
            </p:nvGrpSpPr>
            <p:grpSpPr>
              <a:xfrm>
                <a:off x="5317713" y="5843595"/>
                <a:ext cx="1681505" cy="661129"/>
                <a:chOff x="5317713" y="5843595"/>
                <a:chExt cx="1681505" cy="661129"/>
              </a:xfrm>
            </p:grpSpPr>
            <p:sp>
              <p:nvSpPr>
                <p:cNvPr id="91" name="TextBox 91"/>
                <p:cNvSpPr txBox="1"/>
                <p:nvPr/>
              </p:nvSpPr>
              <p:spPr>
                <a:xfrm>
                  <a:off x="5317713" y="5843595"/>
                  <a:ext cx="1588618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研究数据盘点、质量评价、价值测算、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5317713" y="5945226"/>
                  <a:ext cx="1588618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资产入表、产品设计、登记交易和运营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5317713" y="6046857"/>
                  <a:ext cx="938403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等数据资产化全流程。</a:t>
                  </a: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5317713" y="6165426"/>
                  <a:ext cx="1588618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中电联依托数据资产化项目和价值测算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5317713" y="6267057"/>
                  <a:ext cx="1681505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标准研究，通过真实项目检验估值方法、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5317713" y="6368688"/>
                  <a:ext cx="938403" cy="136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9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入表路径和流通路径。</a:t>
                  </a:r>
                </a:p>
              </p:txBody>
            </p:sp>
          </p:grpSp>
          <p:grpSp>
            <p:nvGrpSpPr>
              <p:cNvPr id="103" name="Group 103"/>
              <p:cNvGrpSpPr/>
              <p:nvPr/>
            </p:nvGrpSpPr>
            <p:grpSpPr>
              <a:xfrm>
                <a:off x="7293871" y="5845881"/>
                <a:ext cx="2044979" cy="655766"/>
                <a:chOff x="7293871" y="5845881"/>
                <a:chExt cx="2044979" cy="655766"/>
              </a:xfrm>
            </p:grpSpPr>
            <p:sp>
              <p:nvSpPr>
                <p:cNvPr id="98" name="TextBox 98"/>
                <p:cNvSpPr txBox="1"/>
                <p:nvPr/>
              </p:nvSpPr>
              <p:spPr>
                <a:xfrm>
                  <a:off x="7293871" y="5845881"/>
                  <a:ext cx="204497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研究授权、计量、定价、结算、收益分配、安全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7293871" y="5964451"/>
                  <a:ext cx="1754200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责任等要素在多主体运营中的机制设计。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7293871" y="6122544"/>
                  <a:ext cx="204497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中电联组织数据提供方、业务方、使用方和平台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7293871" y="6241113"/>
                  <a:ext cx="2044979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方在真实场景中验证运营规则，检验机制设计的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7293871" y="6359683"/>
                  <a:ext cx="881863" cy="1419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可操作性和适用性。</a:t>
                  </a:r>
                </a:p>
              </p:txBody>
            </p:sp>
          </p:grpSp>
          <p:sp>
            <p:nvSpPr>
              <p:cNvPr id="104" name="TextBox 104"/>
              <p:cNvSpPr txBox="1"/>
              <p:nvPr/>
            </p:nvSpPr>
            <p:spPr>
              <a:xfrm>
                <a:off x="10172081" y="4501077"/>
                <a:ext cx="860302" cy="234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适用与协同</a:t>
                </a:r>
              </a:p>
            </p:txBody>
          </p:sp>
          <p:pic>
            <p:nvPicPr>
              <p:cNvPr id="105" name="Image 10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74039" y="4800042"/>
                <a:ext cx="395232" cy="333124"/>
              </a:xfrm>
              <a:prstGeom prst="rect">
                <a:avLst/>
              </a:prstGeom>
            </p:spPr>
          </p:pic>
          <p:grpSp>
            <p:nvGrpSpPr>
              <p:cNvPr id="110" name="Group 110"/>
              <p:cNvGrpSpPr/>
              <p:nvPr/>
            </p:nvGrpSpPr>
            <p:grpSpPr>
              <a:xfrm>
                <a:off x="9992739" y="4824179"/>
                <a:ext cx="1554963" cy="601845"/>
                <a:chOff x="9992739" y="4824179"/>
                <a:chExt cx="1554963" cy="601845"/>
              </a:xfrm>
            </p:grpSpPr>
            <p:sp>
              <p:nvSpPr>
                <p:cNvPr id="106" name="TextBox 106"/>
                <p:cNvSpPr txBox="1"/>
                <p:nvPr/>
              </p:nvSpPr>
              <p:spPr>
                <a:xfrm>
                  <a:off x="9992739" y="4824179"/>
                  <a:ext cx="1444574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除上述方向外，如贵单位另有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9992739" y="4970980"/>
                  <a:ext cx="1554963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科技项目储备或重点研究选题，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9992739" y="5117780"/>
                  <a:ext cx="1334186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可结合实际情况共同研究，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9992739" y="5264580"/>
                  <a:ext cx="1003021" cy="161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0" dirty="0">
                      <a:solidFill>
                        <a:srgbClr val="17232E"/>
                      </a:solidFill>
                      <a:latin typeface="Microsoft YaHei"/>
                      <a:ea typeface="Microsoft YaHei"/>
                      <a:cs typeface="Microsoft YaHei"/>
                    </a:rPr>
                    <a:t>择优推进项目合作。</a:t>
                  </a:r>
                </a:p>
              </p:txBody>
            </p:sp>
          </p:grpSp>
        </p:grpSp>
      </p:grpSp>
    </p:spTree>
  </p:cSld>
  <p:clrMapOvr>
    <a:masterClrMapping/>
  </p:clrMapOvr>
  <p:transition p14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2026-09-03T08:12:24Z</dcterms:created>
  <dcterms:modified xsi:type="dcterms:W3CDTF">2026-09-03T08:12:24Z</dcterms:modified>
  <cp:category/>
  <cp:contentStatus/>
</cp:coreProperties>
</file>