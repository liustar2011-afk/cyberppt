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E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9001576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image" Target="../media/image_2c33023640f0c720.png"/>
  <Relationship Id="rId14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CEC Content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Divider Master"/>
          <p:cNvSpPr/>
          <p:nvPr/>
        </p:nvSpPr>
        <p:spPr>
          <a:xfrm>
            <a:off x="0" y="800100"/>
            <a:ext cx="12192000" cy="28575"/>
          </a:xfrm>
          <a:prstGeom prst="rect">
            <a:avLst/>
          </a:prstGeom>
          <a:solidFill>
            <a:srgbClr val="8B0000"/>
          </a:solidFill>
          <a:ln>
            <a:noFill/>
          </a:ln>
        </p:spPr>
      </p:sp>
      <p:pic>
        <p:nvPicPr>
          <p:cNvPr id="3" name="companyLogo Master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01250" y="123825"/>
            <a:ext cx="2000250" cy="666750"/>
          </a:xfrm>
          <a:prstGeom prst="rect">
            <a:avLst/>
          </a:prstGeom>
        </p:spPr>
      </p:pic>
      <p:sp>
        <p:nvSpPr>
          <p:cNvPr id="4" name="footerBar Master"/>
          <p:cNvSpPr/>
          <p:nvPr/>
        </p:nvSpPr>
        <p:spPr>
          <a:xfrm>
            <a:off x="0" y="6648450"/>
            <a:ext cx="12192000" cy="209550"/>
          </a:xfrm>
          <a:prstGeom prst="rect">
            <a:avLst/>
          </a:prstGeom>
          <a:solidFill>
            <a:srgbClr val="123B66"/>
          </a:solidFill>
          <a:ln>
            <a:noFill/>
          </a:ln>
        </p:spPr>
      </p:sp>
      <p:sp>
        <p:nvSpPr>
          <p:cNvPr id="5" name="footerCompany Master"/>
          <p:cNvSpPr txBox="1"/>
          <p:nvPr/>
        </p:nvSpPr>
        <p:spPr>
          <a:xfrm>
            <a:off x="547688" y="6708934"/>
            <a:ext cx="833399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80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中国电力企业联合会</a:t>
            </a:r>
          </a:p>
        </p:txBody>
      </p:sp>
      <p:sp>
        <p:nvSpPr>
          <p:cNvPr id="6" name="pageNumber Master"/>
          <p:cNvSpPr txBox="1"/>
          <p:nvPr/>
        </p:nvSpPr>
        <p:spPr>
          <a:xfrm>
            <a:off x="11755890" y="6708934"/>
            <a:ext cx="59873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68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2c33023640f0c720.png"/>
  <Relationship Id="rId3" Type="http://schemas.openxmlformats.org/officeDocument/2006/relationships/image" Target="../media/image_80cc5adc79681bd2.png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540258" y="188595"/>
            <a:ext cx="465504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23B66"/>
                </a:solidFill>
                <a:latin typeface="Source Han Sans CN"/>
                <a:ea typeface="Microsoft YaHei"/>
                <a:cs typeface="Source Han Sans CN"/>
              </a:rPr>
              <a:t>创新业务6-2：标准及培训服务</a:t>
            </a:r>
          </a:p>
        </p:txBody>
      </p:sp>
      <p:grpSp>
        <p:nvGrpSpPr>
          <p:cNvPr id="76" name="Group 76"/>
          <p:cNvGrpSpPr/>
          <p:nvPr/>
        </p:nvGrpSpPr>
        <p:grpSpPr>
          <a:xfrm>
            <a:off x="314325" y="847725"/>
            <a:ext cx="11563350" cy="5781675"/>
            <a:chOff x="314325" y="847725"/>
            <a:chExt cx="11563350" cy="5781675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4325" y="847725"/>
              <a:ext cx="11563350" cy="5781675"/>
            </a:xfrm>
            <a:prstGeom prst="rect">
              <a:avLst/>
            </a:prstGeom>
          </p:spPr>
        </p:pic>
        <p:grpSp>
          <p:nvGrpSpPr>
            <p:cNvPr id="75" name="Group 75"/>
            <p:cNvGrpSpPr/>
            <p:nvPr/>
          </p:nvGrpSpPr>
          <p:grpSpPr>
            <a:xfrm>
              <a:off x="507876" y="1036589"/>
              <a:ext cx="10582722" cy="5420848"/>
              <a:chOff x="507876" y="1036589"/>
              <a:chExt cx="10582722" cy="5420848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507876" y="1036589"/>
                <a:ext cx="1639305" cy="3738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10" b="1" dirty="0">
                    <a:solidFill>
                      <a:srgbClr val="09254B"/>
                    </a:solidFill>
                    <a:latin typeface="Microsoft YaHei"/>
                    <a:ea typeface="Microsoft YaHei"/>
                    <a:cs typeface="Microsoft YaHei"/>
                  </a:rPr>
                  <a:t>一、标准建设</a:t>
                </a:r>
              </a:p>
            </p:txBody>
          </p:sp>
          <p:grpSp>
            <p:nvGrpSpPr>
              <p:cNvPr id="15" name="Group 15"/>
              <p:cNvGrpSpPr/>
              <p:nvPr/>
            </p:nvGrpSpPr>
            <p:grpSpPr>
              <a:xfrm>
                <a:off x="569193" y="1489835"/>
                <a:ext cx="8532109" cy="186945"/>
                <a:chOff x="569193" y="1489835"/>
                <a:chExt cx="8532109" cy="186945"/>
              </a:xfrm>
            </p:grpSpPr>
            <p:sp>
              <p:nvSpPr>
                <p:cNvPr id="11" name="TextBox 11"/>
                <p:cNvSpPr txBox="1"/>
                <p:nvPr/>
              </p:nvSpPr>
              <p:spPr>
                <a:xfrm>
                  <a:off x="569193" y="1489835"/>
                  <a:ext cx="1909469" cy="18694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60" b="1" dirty="0">
                      <a:solidFill>
                        <a:srgbClr val="09254B"/>
                      </a:solidFill>
                      <a:latin typeface="Microsoft YaHei"/>
                      <a:ea typeface="Microsoft YaHei"/>
                      <a:cs typeface="Microsoft YaHei"/>
                    </a:rPr>
                    <a:t>（一）数据流通质量与价值评估</a:t>
                  </a:r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2833399" y="1501833"/>
                  <a:ext cx="2146752" cy="165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40" b="1" dirty="0">
                      <a:solidFill>
                        <a:srgbClr val="09254B"/>
                      </a:solidFill>
                      <a:latin typeface="Microsoft YaHei"/>
                      <a:ea typeface="Microsoft YaHei"/>
                      <a:cs typeface="Microsoft YaHei"/>
                    </a:rPr>
                    <a:t>（二）高质量数据集质量评估与数据标注</a:t>
                  </a:r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5216082" y="1497994"/>
                  <a:ext cx="1750969" cy="1724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80" b="1" dirty="0">
                      <a:solidFill>
                        <a:srgbClr val="09254B"/>
                      </a:solidFill>
                      <a:latin typeface="Microsoft YaHei"/>
                      <a:ea typeface="Microsoft YaHei"/>
                      <a:cs typeface="Microsoft YaHei"/>
                    </a:rPr>
                    <a:t>（三）数据基础设施与互联互通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7350333" y="1497994"/>
                  <a:ext cx="1750969" cy="1724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80" b="1" dirty="0">
                      <a:solidFill>
                        <a:srgbClr val="09254B"/>
                      </a:solidFill>
                      <a:latin typeface="Microsoft YaHei"/>
                      <a:ea typeface="Microsoft YaHei"/>
                      <a:cs typeface="Microsoft YaHei"/>
                    </a:rPr>
                    <a:t>（四）数据分类分级与安全保障</a:t>
                  </a:r>
                </a:p>
              </p:txBody>
            </p:sp>
          </p:grpSp>
          <p:grpSp>
            <p:nvGrpSpPr>
              <p:cNvPr id="26" name="Group 26"/>
              <p:cNvGrpSpPr/>
              <p:nvPr/>
            </p:nvGrpSpPr>
            <p:grpSpPr>
              <a:xfrm>
                <a:off x="580579" y="1730673"/>
                <a:ext cx="8609588" cy="505126"/>
                <a:chOff x="580579" y="1730673"/>
                <a:chExt cx="8609588" cy="505126"/>
              </a:xfrm>
            </p:grpSpPr>
            <p:sp>
              <p:nvSpPr>
                <p:cNvPr id="16" name="TextBox 16"/>
                <p:cNvSpPr txBox="1"/>
                <p:nvPr/>
              </p:nvSpPr>
              <p:spPr>
                <a:xfrm>
                  <a:off x="580579" y="1745466"/>
                  <a:ext cx="1806702" cy="1741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90" dirty="0">
                      <a:solidFill>
                        <a:srgbClr val="182A3C"/>
                      </a:solidFill>
                      <a:latin typeface="Microsoft YaHei"/>
                      <a:ea typeface="Microsoft YaHei"/>
                      <a:cs typeface="Microsoft YaHei"/>
                    </a:rPr>
                    <a:t>研制数据流通质量评估和数据产品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580579" y="1903558"/>
                  <a:ext cx="1806702" cy="1741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90" dirty="0">
                      <a:solidFill>
                        <a:srgbClr val="182A3C"/>
                      </a:solidFill>
                      <a:latin typeface="Microsoft YaHei"/>
                      <a:ea typeface="Microsoft YaHei"/>
                      <a:cs typeface="Microsoft YaHei"/>
                    </a:rPr>
                    <a:t>价值测算相关标准，并同步开展指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580579" y="2061651"/>
                  <a:ext cx="1327455" cy="1741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90" dirty="0">
                      <a:solidFill>
                        <a:srgbClr val="182A3C"/>
                      </a:solidFill>
                      <a:latin typeface="Microsoft YaHei"/>
                      <a:ea typeface="Microsoft YaHei"/>
                      <a:cs typeface="Microsoft YaHei"/>
                    </a:rPr>
                    <a:t>标设计和场景验证工作。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2855984" y="1796281"/>
                  <a:ext cx="2046326" cy="1741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90" dirty="0">
                      <a:solidFill>
                        <a:srgbClr val="182A3C"/>
                      </a:solidFill>
                      <a:latin typeface="Microsoft YaHei"/>
                      <a:ea typeface="Microsoft YaHei"/>
                      <a:cs typeface="Microsoft YaHei"/>
                    </a:rPr>
                    <a:t>研究质量指标、标注流程、质量控制、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2855984" y="1960020"/>
                  <a:ext cx="2046326" cy="1741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90" dirty="0">
                      <a:solidFill>
                        <a:srgbClr val="182A3C"/>
                      </a:solidFill>
                      <a:latin typeface="Microsoft YaHei"/>
                      <a:ea typeface="Microsoft YaHei"/>
                      <a:cs typeface="Microsoft YaHei"/>
                    </a:rPr>
                    <a:t>成果验收和场景适配要求等标准要素。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5238666" y="1776689"/>
                  <a:ext cx="1863242" cy="15890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10" dirty="0">
                      <a:solidFill>
                        <a:srgbClr val="182A3C"/>
                      </a:solidFill>
                      <a:latin typeface="Microsoft YaHei"/>
                      <a:ea typeface="Microsoft YaHei"/>
                      <a:cs typeface="Microsoft YaHei"/>
                    </a:rPr>
                    <a:t>围绕参考架构、数据标识与目录、接入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5238666" y="1940428"/>
                  <a:ext cx="1972285" cy="15890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10" dirty="0">
                      <a:solidFill>
                        <a:srgbClr val="182A3C"/>
                      </a:solidFill>
                      <a:latin typeface="Microsoft YaHei"/>
                      <a:ea typeface="Microsoft YaHei"/>
                      <a:cs typeface="Microsoft YaHei"/>
                    </a:rPr>
                    <a:t>连接器、身份接入等要素开展标准研制。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7339040" y="1730673"/>
                  <a:ext cx="1851127" cy="150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60" dirty="0">
                      <a:solidFill>
                        <a:srgbClr val="182A3C"/>
                      </a:solidFill>
                      <a:latin typeface="Microsoft YaHei"/>
                      <a:ea typeface="Microsoft YaHei"/>
                      <a:cs typeface="Microsoft YaHei"/>
                    </a:rPr>
                    <a:t>研究数据分类分级、数据质量、全生命周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7339040" y="1883119"/>
                  <a:ext cx="1851127" cy="150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60" dirty="0">
                      <a:solidFill>
                        <a:srgbClr val="182A3C"/>
                      </a:solidFill>
                      <a:latin typeface="Microsoft YaHei"/>
                      <a:ea typeface="Microsoft YaHei"/>
                      <a:cs typeface="Microsoft YaHei"/>
                    </a:rPr>
                    <a:t>期安全和跨主体流通安全等方面的实施规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7339040" y="2035566"/>
                  <a:ext cx="214147" cy="150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60" dirty="0">
                      <a:solidFill>
                        <a:srgbClr val="182A3C"/>
                      </a:solidFill>
                      <a:latin typeface="Microsoft YaHei"/>
                      <a:ea typeface="Microsoft YaHei"/>
                      <a:cs typeface="Microsoft YaHei"/>
                    </a:rPr>
                    <a:t>则。</a:t>
                  </a:r>
                </a:p>
              </p:txBody>
            </p:sp>
          </p:grpSp>
          <p:grpSp>
            <p:nvGrpSpPr>
              <p:cNvPr id="41" name="Group 41"/>
              <p:cNvGrpSpPr/>
              <p:nvPr/>
            </p:nvGrpSpPr>
            <p:grpSpPr>
              <a:xfrm>
                <a:off x="778194" y="2254919"/>
                <a:ext cx="8523955" cy="557805"/>
                <a:chOff x="778194" y="2254919"/>
                <a:chExt cx="8523955" cy="557805"/>
              </a:xfrm>
            </p:grpSpPr>
            <p:sp>
              <p:nvSpPr>
                <p:cNvPr id="27" name="TextBox 27"/>
                <p:cNvSpPr txBox="1"/>
                <p:nvPr/>
              </p:nvSpPr>
              <p:spPr>
                <a:xfrm>
                  <a:off x="778194" y="2255766"/>
                  <a:ext cx="1851127" cy="150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6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中电联已牵头开展标准研制，可组织数据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778194" y="2391274"/>
                  <a:ext cx="1851127" cy="150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6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供给方、使用方、评估方和平台方共同参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778194" y="2526782"/>
                  <a:ext cx="1851127" cy="150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6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与验证，推动企业实践经验转化并进入行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778194" y="2662290"/>
                  <a:ext cx="623392" cy="150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6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业规则体系。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3059246" y="2255766"/>
                  <a:ext cx="1748815" cy="150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6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中电联可衔接国家标准编制工作并组织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3059246" y="2402566"/>
                  <a:ext cx="1748815" cy="150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6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电力场景验证，推动企业数据集建设成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3059246" y="2549367"/>
                  <a:ext cx="1544193" cy="150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6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果进入测评互认和应用推广链条。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5447574" y="2254919"/>
                  <a:ext cx="1657274" cy="1419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2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中电联依托国家数据基础设施建设在电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5447574" y="2390427"/>
                  <a:ext cx="1754200" cy="1419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2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力领域的先行先试工作和行业节点地位，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5447574" y="2525935"/>
                  <a:ext cx="1657274" cy="1419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2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可对企业提出的架构方案、接口方案和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5447574" y="2661443"/>
                  <a:ext cx="978789" cy="1419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2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连接器方案开展验证。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7547949" y="2260565"/>
                  <a:ext cx="1754200" cy="1419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2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中电联可组织电网、发电等多类主体开展</a:t>
                  </a: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7547949" y="2407366"/>
                  <a:ext cx="1754200" cy="1419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2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场景验证，形成支撑跨企业数据流通的安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7547949" y="2554166"/>
                  <a:ext cx="881863" cy="1419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2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全边界和行业要求。</a:t>
                  </a:r>
                </a:p>
              </p:txBody>
            </p:sp>
          </p:grpSp>
          <p:sp>
            <p:nvSpPr>
              <p:cNvPr id="42" name="TextBox 42"/>
              <p:cNvSpPr txBox="1"/>
              <p:nvPr/>
            </p:nvSpPr>
            <p:spPr>
              <a:xfrm rot="-600000">
                <a:off x="9726289" y="3295685"/>
                <a:ext cx="1107156" cy="2521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90" b="1" dirty="0">
                    <a:solidFill>
                      <a:srgbClr val="09254B"/>
                    </a:solidFill>
                    <a:latin typeface="Microsoft YaHei"/>
                    <a:ea typeface="Microsoft YaHei"/>
                    <a:cs typeface="Microsoft YaHei"/>
                  </a:rPr>
                  <a:t>行业标准文件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 rot="-600000">
                <a:off x="9954304" y="3557030"/>
                <a:ext cx="1136294" cy="1826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0" dirty="0">
                    <a:solidFill>
                      <a:srgbClr val="09254B"/>
                    </a:solidFill>
                    <a:latin typeface="Microsoft YaHei"/>
                    <a:ea typeface="Microsoft YaHei"/>
                    <a:cs typeface="Microsoft YaHei"/>
                  </a:rPr>
                  <a:t>编制说明与验证记录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507876" y="3904842"/>
                <a:ext cx="1639305" cy="3738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10" b="1" dirty="0">
                    <a:solidFill>
                      <a:srgbClr val="09254B"/>
                    </a:solidFill>
                    <a:latin typeface="Microsoft YaHei"/>
                    <a:ea typeface="Microsoft YaHei"/>
                    <a:cs typeface="Microsoft YaHei"/>
                  </a:rPr>
                  <a:t>二、专业培训</a:t>
                </a:r>
              </a:p>
            </p:txBody>
          </p:sp>
          <p:grpSp>
            <p:nvGrpSpPr>
              <p:cNvPr id="49" name="Group 49"/>
              <p:cNvGrpSpPr/>
              <p:nvPr/>
            </p:nvGrpSpPr>
            <p:grpSpPr>
              <a:xfrm>
                <a:off x="563640" y="4281441"/>
                <a:ext cx="8478350" cy="182617"/>
                <a:chOff x="563640" y="4281441"/>
                <a:chExt cx="8478350" cy="182617"/>
              </a:xfrm>
            </p:grpSpPr>
            <p:sp>
              <p:nvSpPr>
                <p:cNvPr id="45" name="TextBox 45"/>
                <p:cNvSpPr txBox="1"/>
                <p:nvPr/>
              </p:nvSpPr>
              <p:spPr>
                <a:xfrm>
                  <a:off x="563640" y="4281441"/>
                  <a:ext cx="1849915" cy="18261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30" b="1" dirty="0">
                      <a:solidFill>
                        <a:srgbClr val="09254B"/>
                      </a:solidFill>
                      <a:latin typeface="Microsoft YaHei"/>
                      <a:ea typeface="Microsoft YaHei"/>
                      <a:cs typeface="Microsoft YaHei"/>
                    </a:rPr>
                    <a:t>（一）高质量数据集建设与测评</a:t>
                  </a: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2850338" y="4281441"/>
                  <a:ext cx="1849915" cy="18261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30" b="1" dirty="0">
                      <a:solidFill>
                        <a:srgbClr val="09254B"/>
                      </a:solidFill>
                      <a:latin typeface="Microsoft YaHei"/>
                      <a:ea typeface="Microsoft YaHei"/>
                      <a:cs typeface="Microsoft YaHei"/>
                    </a:rPr>
                    <a:t>（二）大模型与智能体应用评测</a:t>
                  </a:r>
                </a:p>
              </p:txBody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5193497" y="4286241"/>
                  <a:ext cx="1519154" cy="1741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90" b="1" dirty="0">
                      <a:solidFill>
                        <a:srgbClr val="09254B"/>
                      </a:solidFill>
                      <a:latin typeface="Microsoft YaHei"/>
                      <a:ea typeface="Microsoft YaHei"/>
                      <a:cs typeface="Microsoft YaHei"/>
                    </a:rPr>
                    <a:t>（三）数据资产评估与流通</a:t>
                  </a:r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7310810" y="4288640"/>
                  <a:ext cx="1731180" cy="1699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70" b="1" dirty="0">
                      <a:solidFill>
                        <a:srgbClr val="09254B"/>
                      </a:solidFill>
                      <a:latin typeface="Microsoft YaHei"/>
                      <a:ea typeface="Microsoft YaHei"/>
                      <a:cs typeface="Microsoft YaHei"/>
                    </a:rPr>
                    <a:t>（四）可信数据空间与数据安全</a:t>
                  </a:r>
                </a:p>
              </p:txBody>
            </p:sp>
          </p:grpSp>
          <p:grpSp>
            <p:nvGrpSpPr>
              <p:cNvPr id="60" name="Group 60"/>
              <p:cNvGrpSpPr/>
              <p:nvPr/>
            </p:nvGrpSpPr>
            <p:grpSpPr>
              <a:xfrm>
                <a:off x="563640" y="4468584"/>
                <a:ext cx="8622528" cy="388420"/>
                <a:chOff x="563640" y="4468584"/>
                <a:chExt cx="8622528" cy="388420"/>
              </a:xfrm>
            </p:grpSpPr>
            <p:sp>
              <p:nvSpPr>
                <p:cNvPr id="50" name="TextBox 50"/>
                <p:cNvSpPr txBox="1"/>
                <p:nvPr/>
              </p:nvSpPr>
              <p:spPr>
                <a:xfrm>
                  <a:off x="563640" y="4507994"/>
                  <a:ext cx="1996516" cy="161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0" dirty="0">
                      <a:solidFill>
                        <a:srgbClr val="182A3C"/>
                      </a:solidFill>
                      <a:latin typeface="Microsoft YaHei"/>
                      <a:ea typeface="Microsoft YaHei"/>
                      <a:cs typeface="Microsoft YaHei"/>
                    </a:rPr>
                    <a:t>培训内容包括数据规划、专业标注、质量</a:t>
                  </a:r>
                </a:p>
              </p:txBody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563640" y="4649148"/>
                  <a:ext cx="1775739" cy="161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0" dirty="0">
                      <a:solidFill>
                        <a:srgbClr val="182A3C"/>
                      </a:solidFill>
                      <a:latin typeface="Microsoft YaHei"/>
                      <a:ea typeface="Microsoft YaHei"/>
                      <a:cs typeface="Microsoft YaHei"/>
                    </a:rPr>
                    <a:t>控制、测评认证和案例实训等环节。</a:t>
                  </a:r>
                </a:p>
              </p:txBody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2850338" y="4507994"/>
                  <a:ext cx="1996516" cy="161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0" dirty="0">
                      <a:solidFill>
                        <a:srgbClr val="182A3C"/>
                      </a:solidFill>
                      <a:latin typeface="Microsoft YaHei"/>
                      <a:ea typeface="Microsoft YaHei"/>
                      <a:cs typeface="Microsoft YaHei"/>
                    </a:rPr>
                    <a:t>培训内容涵盖场景设计、模型能力、智能</a:t>
                  </a:r>
                </a:p>
              </p:txBody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2850338" y="4649148"/>
                  <a:ext cx="1886128" cy="161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0" dirty="0">
                      <a:solidFill>
                        <a:srgbClr val="182A3C"/>
                      </a:solidFill>
                      <a:latin typeface="Microsoft YaHei"/>
                      <a:ea typeface="Microsoft YaHei"/>
                      <a:cs typeface="Microsoft YaHei"/>
                    </a:rPr>
                    <a:t>体效果、安全可信和持续评价等方面。</a:t>
                  </a:r>
                </a:p>
              </p:txBody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5187851" y="4468584"/>
                  <a:ext cx="1875358" cy="1512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70" dirty="0">
                      <a:solidFill>
                        <a:srgbClr val="182A3C"/>
                      </a:solidFill>
                      <a:latin typeface="Microsoft YaHei"/>
                      <a:ea typeface="Microsoft YaHei"/>
                      <a:cs typeface="Microsoft YaHei"/>
                    </a:rPr>
                    <a:t>培训内容包括数据盘点、质量评价、价值</a:t>
                  </a:r>
                </a:p>
              </p:txBody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5187851" y="4587153"/>
                  <a:ext cx="1875358" cy="1512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70" dirty="0">
                      <a:solidFill>
                        <a:srgbClr val="182A3C"/>
                      </a:solidFill>
                      <a:latin typeface="Microsoft YaHei"/>
                      <a:ea typeface="Microsoft YaHei"/>
                      <a:cs typeface="Microsoft YaHei"/>
                    </a:rPr>
                    <a:t>测算、资产入表、登记上架和流通运营等</a:t>
                  </a:r>
                </a:p>
              </p:txBody>
            </p:sp>
            <p:sp>
              <p:nvSpPr>
                <p:cNvPr id="56" name="TextBox 56"/>
                <p:cNvSpPr txBox="1"/>
                <p:nvPr/>
              </p:nvSpPr>
              <p:spPr>
                <a:xfrm>
                  <a:off x="5187851" y="4705723"/>
                  <a:ext cx="320497" cy="1512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70" dirty="0">
                      <a:solidFill>
                        <a:srgbClr val="182A3C"/>
                      </a:solidFill>
                      <a:latin typeface="Microsoft YaHei"/>
                      <a:ea typeface="Microsoft YaHei"/>
                      <a:cs typeface="Microsoft YaHei"/>
                    </a:rPr>
                    <a:t>环节。</a:t>
                  </a:r>
                </a:p>
              </p:txBody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7310810" y="4468584"/>
                  <a:ext cx="1875358" cy="1512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70" dirty="0">
                      <a:solidFill>
                        <a:srgbClr val="182A3C"/>
                      </a:solidFill>
                      <a:latin typeface="Microsoft YaHei"/>
                      <a:ea typeface="Microsoft YaHei"/>
                      <a:cs typeface="Microsoft YaHei"/>
                    </a:rPr>
                    <a:t>培训内容涉及可信连接、身份接入、授权</a:t>
                  </a:r>
                </a:p>
              </p:txBody>
            </p:sp>
            <p:sp>
              <p:nvSpPr>
                <p:cNvPr id="58" name="TextBox 58"/>
                <p:cNvSpPr txBox="1"/>
                <p:nvPr/>
              </p:nvSpPr>
              <p:spPr>
                <a:xfrm>
                  <a:off x="7310810" y="4587153"/>
                  <a:ext cx="1875358" cy="1512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70" dirty="0">
                      <a:solidFill>
                        <a:srgbClr val="182A3C"/>
                      </a:solidFill>
                      <a:latin typeface="Microsoft YaHei"/>
                      <a:ea typeface="Microsoft YaHei"/>
                      <a:cs typeface="Microsoft YaHei"/>
                    </a:rPr>
                    <a:t>使用、受控调用、安全评估和审计追溯等</a:t>
                  </a:r>
                </a:p>
              </p:txBody>
            </p:sp>
            <p:sp>
              <p:nvSpPr>
                <p:cNvPr id="59" name="TextBox 59"/>
                <p:cNvSpPr txBox="1"/>
                <p:nvPr/>
              </p:nvSpPr>
              <p:spPr>
                <a:xfrm>
                  <a:off x="7310810" y="4705723"/>
                  <a:ext cx="320497" cy="1512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70" dirty="0">
                      <a:solidFill>
                        <a:srgbClr val="182A3C"/>
                      </a:solidFill>
                      <a:latin typeface="Microsoft YaHei"/>
                      <a:ea typeface="Microsoft YaHei"/>
                      <a:cs typeface="Microsoft YaHei"/>
                    </a:rPr>
                    <a:t>方面。</a:t>
                  </a:r>
                </a:p>
              </p:txBody>
            </p:sp>
          </p:grpSp>
          <p:grpSp>
            <p:nvGrpSpPr>
              <p:cNvPr id="73" name="Group 73"/>
              <p:cNvGrpSpPr/>
              <p:nvPr/>
            </p:nvGrpSpPr>
            <p:grpSpPr>
              <a:xfrm>
                <a:off x="772548" y="4915111"/>
                <a:ext cx="8441614" cy="410157"/>
                <a:chOff x="772548" y="4915111"/>
                <a:chExt cx="8441614" cy="410157"/>
              </a:xfrm>
            </p:grpSpPr>
            <p:sp>
              <p:nvSpPr>
                <p:cNvPr id="61" name="TextBox 61"/>
                <p:cNvSpPr txBox="1"/>
                <p:nvPr/>
              </p:nvSpPr>
              <p:spPr>
                <a:xfrm>
                  <a:off x="772548" y="4915111"/>
                  <a:ext cx="1851127" cy="150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6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中电联可组织标准起草人员、测评实践人</a:t>
                  </a:r>
                </a:p>
              </p:txBody>
            </p:sp>
            <p:sp>
              <p:nvSpPr>
                <p:cNvPr id="62" name="TextBox 62"/>
                <p:cNvSpPr txBox="1"/>
                <p:nvPr/>
              </p:nvSpPr>
              <p:spPr>
                <a:xfrm>
                  <a:off x="772548" y="5044973"/>
                  <a:ext cx="1851127" cy="150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6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员和电力专业专家联合授课，使课程内容</a:t>
                  </a:r>
                </a:p>
              </p:txBody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772548" y="5174834"/>
                  <a:ext cx="1851127" cy="150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6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直接服务于企业数据集建设的实际需要。</a:t>
                  </a:r>
                </a:p>
              </p:txBody>
            </p:sp>
            <p:sp>
              <p:nvSpPr>
                <p:cNvPr id="64" name="TextBox 64"/>
                <p:cNvSpPr txBox="1"/>
                <p:nvPr/>
              </p:nvSpPr>
              <p:spPr>
                <a:xfrm>
                  <a:off x="3059246" y="4915111"/>
                  <a:ext cx="1851127" cy="150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6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中电联依托自身评测实践积累，可结合电</a:t>
                  </a:r>
                </a:p>
              </p:txBody>
            </p:sp>
            <p:sp>
              <p:nvSpPr>
                <p:cNvPr id="65" name="TextBox 65"/>
                <p:cNvSpPr txBox="1"/>
                <p:nvPr/>
              </p:nvSpPr>
              <p:spPr>
                <a:xfrm>
                  <a:off x="3059246" y="5044973"/>
                  <a:ext cx="1851127" cy="150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6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网、发电、新能源等实际业务场景开展案</a:t>
                  </a:r>
                </a:p>
              </p:txBody>
            </p:sp>
            <p:sp>
              <p:nvSpPr>
                <p:cNvPr id="66" name="TextBox 66"/>
                <p:cNvSpPr txBox="1"/>
                <p:nvPr/>
              </p:nvSpPr>
              <p:spPr>
                <a:xfrm>
                  <a:off x="3059246" y="5174834"/>
                  <a:ext cx="1646504" cy="150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6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例化实训，增强培训内容的针对性。</a:t>
                  </a:r>
                </a:p>
              </p:txBody>
            </p:sp>
            <p:sp>
              <p:nvSpPr>
                <p:cNvPr id="67" name="TextBox 67"/>
                <p:cNvSpPr txBox="1"/>
                <p:nvPr/>
              </p:nvSpPr>
              <p:spPr>
                <a:xfrm>
                  <a:off x="5385467" y="4921830"/>
                  <a:ext cx="1705737" cy="1385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0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中电联可贯通业务、财务、评估和交易各</a:t>
                  </a:r>
                </a:p>
              </p:txBody>
            </p:sp>
            <p:sp>
              <p:nvSpPr>
                <p:cNvPr id="68" name="TextBox 68"/>
                <p:cNvSpPr txBox="1"/>
                <p:nvPr/>
              </p:nvSpPr>
              <p:spPr>
                <a:xfrm>
                  <a:off x="5385467" y="5051692"/>
                  <a:ext cx="1705737" cy="1385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0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环节，采用在央企国企数据资产化项目中</a:t>
                  </a:r>
                </a:p>
              </p:txBody>
            </p:sp>
            <p:sp>
              <p:nvSpPr>
                <p:cNvPr id="69" name="TextBox 69"/>
                <p:cNvSpPr txBox="1"/>
                <p:nvPr/>
              </p:nvSpPr>
              <p:spPr>
                <a:xfrm>
                  <a:off x="5385467" y="5181553"/>
                  <a:ext cx="951865" cy="1385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0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形成的方法开展授课。</a:t>
                  </a:r>
                </a:p>
              </p:txBody>
            </p:sp>
            <p:sp>
              <p:nvSpPr>
                <p:cNvPr id="70" name="TextBox 70"/>
                <p:cNvSpPr txBox="1"/>
                <p:nvPr/>
              </p:nvSpPr>
              <p:spPr>
                <a:xfrm>
                  <a:off x="7508425" y="4921830"/>
                  <a:ext cx="1705737" cy="1385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0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中电联可结合电力数据基础设施建设和数</a:t>
                  </a:r>
                </a:p>
              </p:txBody>
            </p:sp>
            <p:sp>
              <p:nvSpPr>
                <p:cNvPr id="71" name="TextBox 71"/>
                <p:cNvSpPr txBox="1"/>
                <p:nvPr/>
              </p:nvSpPr>
              <p:spPr>
                <a:xfrm>
                  <a:off x="7508425" y="5051692"/>
                  <a:ext cx="1705737" cy="1385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0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据安全相关项目经验，面向建设人员和运</a:t>
                  </a:r>
                </a:p>
              </p:txBody>
            </p:sp>
            <p:sp>
              <p:nvSpPr>
                <p:cNvPr id="72" name="TextBox 72"/>
                <p:cNvSpPr txBox="1"/>
                <p:nvPr/>
              </p:nvSpPr>
              <p:spPr>
                <a:xfrm>
                  <a:off x="7508425" y="5181553"/>
                  <a:ext cx="1046099" cy="1385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00" dirty="0">
                      <a:solidFill>
                        <a:srgbClr val="20344D"/>
                      </a:solidFill>
                      <a:latin typeface="Microsoft YaHei"/>
                      <a:ea typeface="Microsoft YaHei"/>
                      <a:cs typeface="Microsoft YaHei"/>
                    </a:rPr>
                    <a:t>营人员开展场景化培训。</a:t>
                  </a:r>
                </a:p>
              </p:txBody>
            </p:sp>
          </p:grpSp>
          <p:sp>
            <p:nvSpPr>
              <p:cNvPr id="74" name="TextBox 74"/>
              <p:cNvSpPr txBox="1"/>
              <p:nvPr/>
            </p:nvSpPr>
            <p:spPr>
              <a:xfrm>
                <a:off x="2263136" y="6300228"/>
                <a:ext cx="5394325" cy="157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00" dirty="0">
                    <a:solidFill>
                      <a:srgbClr val="233B5E"/>
                    </a:solidFill>
                    <a:latin typeface="Microsoft YaHei"/>
                    <a:ea typeface="Microsoft YaHei"/>
                    <a:cs typeface="Microsoft YaHei"/>
                  </a:rPr>
                  <a:t>除上述方向外，如贵单位拟参与或牵头相关标准项目，或有其他专业培训需求，亦可结合实际情况共同策划推进。</a:t>
                </a:r>
              </a:p>
            </p:txBody>
          </p:sp>
        </p:grpSp>
      </p:grpSp>
    </p:spTree>
  </p:cSld>
  <p:clrMapOvr>
    <a:masterClrMapping/>
  </p:clrMapOvr>
  <p:transition p14:dur="5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2026-09-03T08:12:30Z</dcterms:created>
  <dcterms:modified xsi:type="dcterms:W3CDTF">2026-09-03T08:12:30Z</dcterms:modified>
  <cp:category/>
  <cp:contentStatus/>
</cp:coreProperties>
</file>