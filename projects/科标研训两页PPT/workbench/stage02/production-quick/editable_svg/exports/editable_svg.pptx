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科技项目聚焦工具和验证能力建设，课题研究聚焦机制与方法体系。两类工作围绕共同主题形成研发、验证和应用协同。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标准建设把实践经验沉淀为行业规则，专业培训将规则、方法和案例转化为面向建设与运营人员的能力支持。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378554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7B5768B3-9170-4B06-ADA1-6FDAE368EFCA}" type="slidenum"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fld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463c4c3363eaecb8.png"/>
  <Relationship Id="rId4" Type="http://schemas.openxmlformats.org/officeDocument/2006/relationships/image" Target="../media/image_cc51c30236eeabbc.png"/>
  <Relationship Id="rId5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80cc5adc79681bd2.png"/>
  <Relationship Id="rId4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5333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创新业务6-1：科技项目及课题研究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grpSp>
          <p:nvGrpSpPr>
            <p:cNvPr id="111" name="Group 111"/>
            <p:cNvGrpSpPr/>
            <p:nvPr/>
          </p:nvGrpSpPr>
          <p:grpSpPr>
            <a:xfrm>
              <a:off x="642686" y="1022756"/>
              <a:ext cx="10905016" cy="5481968"/>
              <a:chOff x="642686" y="1022756"/>
              <a:chExt cx="10905016" cy="548196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15077" y="1022756"/>
                <a:ext cx="2655677" cy="347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8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一、科技项目</a:t>
                </a:r>
                <a:r>
                  <a:rPr lang="zh-CN" sz="133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（四个方向）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48126" y="1357574"/>
                <a:ext cx="8981014" cy="191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31A20"/>
                    </a:solidFill>
                    <a:latin typeface="Microsoft YaHei"/>
                    <a:ea typeface="Microsoft YaHei"/>
                    <a:cs typeface="Microsoft YaHei"/>
                  </a:rPr>
                  <a:t>聚焦数据构建、模型评测、安全评估与可信流通，研发工具能力，形成可对外提供的工具产品和测评服务，支撑电力行业数字化与数据要素安全高效利用。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703685" y="1711024"/>
                <a:ext cx="6911046" cy="226073"/>
                <a:chOff x="703685" y="1711024"/>
                <a:chExt cx="6911046" cy="226073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703685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01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3125890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02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429526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03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422623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04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1065717" y="1685898"/>
                <a:ext cx="7993053" cy="363726"/>
                <a:chOff x="1065717" y="1685898"/>
                <a:chExt cx="7993053" cy="363726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1065717" y="1685898"/>
                  <a:ext cx="1452169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高质量数据集智能构建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65717" y="1849637"/>
                  <a:ext cx="875457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与自动化测评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465338" y="1685898"/>
                  <a:ext cx="130799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电力大模型与智能体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465338" y="1849637"/>
                  <a:ext cx="58710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行业评测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768974" y="1685898"/>
                  <a:ext cx="875457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数据安全风险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768974" y="1849637"/>
                  <a:ext cx="58710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智能评估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750779" y="1685898"/>
                  <a:ext cx="130799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多主体数据可信共享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750779" y="1849637"/>
                  <a:ext cx="731279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与受控利用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65271" y="3127930"/>
                <a:ext cx="4331520" cy="933556"/>
                <a:chOff x="665271" y="3127930"/>
                <a:chExt cx="4331520" cy="933556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665271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研发智能标注、数据增强、自动质检、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65271" y="326908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质量诊断和自动化测评工具，覆盖数据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65271" y="3410238"/>
                  <a:ext cx="114033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集构建与评价全链条。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65271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中电联具备专业规则制定、典型数据集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65271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积累、测评体系建设和应用场景组织基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65271" y="3895808"/>
                  <a:ext cx="461848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础条件。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064892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研发模型适配、场景能力、安全可信、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064892" y="326908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智能体效果等维度的自动化评测工具，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064892" y="3410238"/>
                  <a:ext cx="114033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提供系统化评价手段。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064892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中电联具备跨模型、跨专业、跨单位统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064892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一基准验证优势，提升评测结论可比性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064892" y="3895808"/>
                  <a:ext cx="57492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和通用性。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5317713" y="3135128"/>
                <a:ext cx="1794586" cy="920853"/>
                <a:chOff x="5317713" y="3135128"/>
                <a:chExt cx="1794586" cy="920853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5317713" y="3135128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研发风险识别、规则匹配、能力评分、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317713" y="3276283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问题诊断和整改推荐的工具体系，支撑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317713" y="3417437"/>
                  <a:ext cx="1059561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企业自评估与自诊断。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317713" y="3620699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中电联在数据安全成熟度评估和治理项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317713" y="3761853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目中积累了评价指标、风险规则和典型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5317713" y="3903007"/>
                  <a:ext cx="1689583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案例，可转化为评估模型支撑研发。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7316456" y="3127930"/>
                <a:ext cx="1996516" cy="933556"/>
                <a:chOff x="7316456" y="3127930"/>
                <a:chExt cx="1996516" cy="933556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7316456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研究可信连接、授权控制、数据可用不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316456" y="3271483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可见、安全调用和审计追溯等关键技术，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316456" y="3410238"/>
                  <a:ext cx="1705737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满足多主体共享的安全可控要求。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316456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中电联可依托电力数据基础设施建设跨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7316456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企业验证环境，为可信流通技术提供行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316456" y="3895808"/>
                  <a:ext cx="801091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业级验证条件。</a:t>
                  </a:r>
                </a:p>
              </p:txBody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0217024" y="1526394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共性价值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9641793" y="1937435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9641793" y="2389129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9641793" y="2835176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9783831" y="1904405"/>
                <a:ext cx="1637081" cy="1266681"/>
                <a:chOff x="9783831" y="1904405"/>
                <a:chExt cx="1637081" cy="1266681"/>
              </a:xfrm>
            </p:grpSpPr>
            <p:sp>
              <p:nvSpPr>
                <p:cNvPr id="57" name="TextBox 57"/>
                <p:cNvSpPr txBox="1"/>
                <p:nvPr/>
              </p:nvSpPr>
              <p:spPr>
                <a:xfrm>
                  <a:off x="9783831" y="1904405"/>
                  <a:ext cx="163708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推动技术成果转化为工具产品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783831" y="2090729"/>
                  <a:ext cx="635508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和测评服务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783831" y="2365697"/>
                  <a:ext cx="149088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构建覆盖技术研发—验证评测—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783831" y="2542422"/>
                  <a:ext cx="1136294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场景应用的完整闭环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9783831" y="2802146"/>
                  <a:ext cx="163708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支撑电力行业数字化转型与数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783831" y="2988469"/>
                  <a:ext cx="88590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据要素价值释放</a:t>
                  </a:r>
                </a:p>
              </p:txBody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915077" y="4212841"/>
                <a:ext cx="2655677" cy="347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8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二、课题研究</a:t>
                </a:r>
                <a:r>
                  <a:rPr lang="zh-CN" sz="133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（四个课题）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5133" y="4507288"/>
                <a:ext cx="6519748" cy="182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0" dirty="0">
                    <a:solidFill>
                      <a:srgbClr val="131A20"/>
                    </a:solidFill>
                    <a:latin typeface="Microsoft YaHei"/>
                    <a:ea typeface="Microsoft YaHei"/>
                    <a:cs typeface="Microsoft YaHei"/>
                  </a:rPr>
                  <a:t>围绕机制设计与路径研究，打通标准、测评、估值、流通和应用全流程，为行业规范化管理与价值释放提供系统支撑。</a:t>
                </a:r>
              </a:p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698490" y="4797783"/>
                <a:ext cx="6850981" cy="208682"/>
                <a:chOff x="698490" y="4797783"/>
                <a:chExt cx="6850981" cy="208682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698490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01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3086819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02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424332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03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372260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04</a:t>
                  </a:r>
                </a:p>
              </p:txBody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992749" y="4778304"/>
                <a:ext cx="8243833" cy="323771"/>
                <a:chOff x="992749" y="4778304"/>
                <a:chExt cx="8243833" cy="323771"/>
              </a:xfrm>
            </p:grpSpPr>
            <p:sp>
              <p:nvSpPr>
                <p:cNvPr id="71" name="TextBox 71"/>
                <p:cNvSpPr txBox="1"/>
                <p:nvPr/>
              </p:nvSpPr>
              <p:spPr>
                <a:xfrm>
                  <a:off x="992749" y="4778304"/>
                  <a:ext cx="132408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高质量数据集测评互认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992749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与价值释放机制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3403662" y="4778304"/>
                  <a:ext cx="171845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电力大模型与智能体行业评价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3403662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及应用准入机制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5724237" y="4778304"/>
                  <a:ext cx="132408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电力数据资产价值评估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5724237" y="4919458"/>
                  <a:ext cx="1061176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与市场化流通机制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7649580" y="4778304"/>
                  <a:ext cx="1587002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电力数据基础设施场景运营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649580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与多方协同机制</a:t>
                  </a:r>
                </a:p>
              </p:txBody>
            </p:sp>
          </p:grpSp>
          <p:grpSp>
            <p:nvGrpSpPr>
              <p:cNvPr id="90" name="Group 90"/>
              <p:cNvGrpSpPr/>
              <p:nvPr/>
            </p:nvGrpSpPr>
            <p:grpSpPr>
              <a:xfrm>
                <a:off x="642686" y="5843482"/>
                <a:ext cx="4527360" cy="660000"/>
                <a:chOff x="642686" y="5843482"/>
                <a:chExt cx="4527360" cy="660000"/>
              </a:xfrm>
            </p:grpSpPr>
            <p:sp>
              <p:nvSpPr>
                <p:cNvPr id="80" name="TextBox 80"/>
                <p:cNvSpPr txBox="1"/>
                <p:nvPr/>
              </p:nvSpPr>
              <p:spPr>
                <a:xfrm>
                  <a:off x="642686" y="5845401"/>
                  <a:ext cx="2141906" cy="1428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研究质量评价、测评互认、价值评估、授权使用、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642686" y="5962051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流通交易和模型应用等环节的机制设计，解决价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642686" y="6080621"/>
                  <a:ext cx="806475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值释放不畅问题。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642686" y="6238713"/>
                  <a:ext cx="2001901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中电联贯通标准、测评、估值、流通和应用各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642686" y="6357283"/>
                  <a:ext cx="1802663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环节，为机制研究提供全流程实践支撑。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2968907" y="5843482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研究行业适配、业务效果、安全可信、应用准入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2968907" y="5962051"/>
                  <a:ext cx="2201139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和持续评价等方面的方法体系，支撑规范化管理。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2968907" y="6120144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中电联组织电网企业、发电企业、装备制造企业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2968907" y="6238713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和科研机构共同参与验证，形成跨主体的行业评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2968907" y="6357283"/>
                  <a:ext cx="1204951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价体系，增强结果代表性。</a:t>
                  </a:r>
                </a:p>
              </p:txBody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5317713" y="5843595"/>
                <a:ext cx="1681505" cy="661129"/>
                <a:chOff x="5317713" y="5843595"/>
                <a:chExt cx="1681505" cy="661129"/>
              </a:xfrm>
            </p:grpSpPr>
            <p:sp>
              <p:nvSpPr>
                <p:cNvPr id="91" name="TextBox 91"/>
                <p:cNvSpPr txBox="1"/>
                <p:nvPr/>
              </p:nvSpPr>
              <p:spPr>
                <a:xfrm>
                  <a:off x="5317713" y="5843595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研究数据盘点、质量评价、价值测算、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5317713" y="5945226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资产入表、产品设计、登记交易和运营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5317713" y="6046857"/>
                  <a:ext cx="938403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等数据资产化全流程。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5317713" y="6165426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中电联依托数据资产化项目和价值测算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5317713" y="6267057"/>
                  <a:ext cx="1681505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标准研究，通过真实项目检验估值方法、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5317713" y="6368688"/>
                  <a:ext cx="938403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入表路径和流通路径。</a:t>
                  </a:r>
                </a:p>
              </p:txBody>
            </p:sp>
          </p:grpSp>
          <p:grpSp>
            <p:nvGrpSpPr>
              <p:cNvPr id="103" name="Group 103"/>
              <p:cNvGrpSpPr/>
              <p:nvPr/>
            </p:nvGrpSpPr>
            <p:grpSpPr>
              <a:xfrm>
                <a:off x="7293871" y="5845881"/>
                <a:ext cx="2044979" cy="655766"/>
                <a:chOff x="7293871" y="5845881"/>
                <a:chExt cx="2044979" cy="655766"/>
              </a:xfrm>
            </p:grpSpPr>
            <p:sp>
              <p:nvSpPr>
                <p:cNvPr id="98" name="TextBox 98"/>
                <p:cNvSpPr txBox="1"/>
                <p:nvPr/>
              </p:nvSpPr>
              <p:spPr>
                <a:xfrm>
                  <a:off x="7293871" y="5845881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研究授权、计量、定价、结算、收益分配、安全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7293871" y="5964451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责任等要素在多主体运营中的机制设计。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7293871" y="6122544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中电联组织数据提供方、业务方、使用方和平台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7293871" y="6241113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方在真实场景中验证运营规则，检验机制设计的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7293871" y="6359683"/>
                  <a:ext cx="881863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可操作性和适用性。</a:t>
                  </a:r>
                </a:p>
              </p:txBody>
            </p:sp>
          </p:grpSp>
          <p:sp>
            <p:nvSpPr>
              <p:cNvPr id="104" name="TextBox 104"/>
              <p:cNvSpPr txBox="1"/>
              <p:nvPr/>
            </p:nvSpPr>
            <p:spPr>
              <a:xfrm>
                <a:off x="10172081" y="4501077"/>
                <a:ext cx="860302" cy="234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适用与协同</a:t>
                </a:r>
              </a:p>
            </p:txBody>
          </p:sp>
          <p:pic>
            <p:nvPicPr>
              <p:cNvPr id="105" name="Image 10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4039" y="4800042"/>
                <a:ext cx="395232" cy="333124"/>
              </a:xfrm>
              <a:prstGeom prst="rect">
                <a:avLst/>
              </a:prstGeom>
            </p:spPr>
          </p:pic>
          <p:grpSp>
            <p:nvGrpSpPr>
              <p:cNvPr id="110" name="Group 110"/>
              <p:cNvGrpSpPr/>
              <p:nvPr/>
            </p:nvGrpSpPr>
            <p:grpSpPr>
              <a:xfrm>
                <a:off x="9992739" y="4824179"/>
                <a:ext cx="1554963" cy="601845"/>
                <a:chOff x="9992739" y="4824179"/>
                <a:chExt cx="1554963" cy="601845"/>
              </a:xfrm>
            </p:grpSpPr>
            <p:sp>
              <p:nvSpPr>
                <p:cNvPr id="106" name="TextBox 106"/>
                <p:cNvSpPr txBox="1"/>
                <p:nvPr/>
              </p:nvSpPr>
              <p:spPr>
                <a:xfrm>
                  <a:off x="9992739" y="4824179"/>
                  <a:ext cx="1444574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除上述方向外，如贵单位另有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9992739" y="4970980"/>
                  <a:ext cx="1554963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科技项目储备或重点研究选题，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9992739" y="5117780"/>
                  <a:ext cx="133418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可结合实际情况共同研究，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9992739" y="5264580"/>
                  <a:ext cx="1003021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择优推进项目合作。</a:t>
                  </a:r>
                </a:p>
              </p:txBody>
            </p:sp>
          </p:grpSp>
        </p:grpSp>
      </p:grpSp>
    </p:spTree>
  </p:cSld>
  <p:clrMapOvr>
    <a:masterClrMapping/>
  </p:clrMapOvr>
  <p:transition p14:dur="5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46550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创新业务6-2：标准及培训服务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grpSp>
          <p:nvGrpSpPr>
            <p:cNvPr id="75" name="Group 75"/>
            <p:cNvGrpSpPr/>
            <p:nvPr/>
          </p:nvGrpSpPr>
          <p:grpSpPr>
            <a:xfrm>
              <a:off x="507876" y="1036589"/>
              <a:ext cx="10582722" cy="5420848"/>
              <a:chOff x="507876" y="1036589"/>
              <a:chExt cx="10582722" cy="542084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07876" y="1036589"/>
                <a:ext cx="1639305" cy="373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1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一、标准建设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569193" y="1489835"/>
                <a:ext cx="8532109" cy="186945"/>
                <a:chOff x="569193" y="1489835"/>
                <a:chExt cx="8532109" cy="186945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569193" y="1489835"/>
                  <a:ext cx="1909469" cy="1869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6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（一）数据流通质量与价值评估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833399" y="1501833"/>
                  <a:ext cx="2146752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（二）高质量数据集质量评估与数据标注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216082" y="1497994"/>
                  <a:ext cx="1750969" cy="1724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8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（三）数据基础设施与互联互通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350333" y="1497994"/>
                  <a:ext cx="1750969" cy="1724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8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（四）数据分类分级与安全保障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580579" y="1730673"/>
                <a:ext cx="8609588" cy="505126"/>
                <a:chOff x="580579" y="1730673"/>
                <a:chExt cx="8609588" cy="505126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580579" y="1745466"/>
                  <a:ext cx="1806702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研制数据流通质量评估和数据产品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80579" y="1903558"/>
                  <a:ext cx="1806702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价值测算相关标准，并同步开展指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80579" y="2061651"/>
                  <a:ext cx="1327455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标设计和场景验证工作。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855984" y="1796281"/>
                  <a:ext cx="2046326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研究质量指标、标注流程、质量控制、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55984" y="1960020"/>
                  <a:ext cx="2046326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成果验收和场景适配要求等标准要素。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238666" y="1776689"/>
                  <a:ext cx="1863242" cy="1589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1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围绕参考架构、数据标识与目录、接入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238666" y="1940428"/>
                  <a:ext cx="1972285" cy="1589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1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连接器、身份接入等要素开展标准研制。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339040" y="17306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研究数据分类分级、数据质量、全生命周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339040" y="1883119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期安全和跨主体流通安全等方面的实施规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339040" y="2035566"/>
                  <a:ext cx="21414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则。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78194" y="2254919"/>
                <a:ext cx="8523955" cy="557805"/>
                <a:chOff x="778194" y="2254919"/>
                <a:chExt cx="8523955" cy="557805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778194" y="2255766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中电联已牵头开展标准研制，可组织数据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78194" y="2391274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供给方、使用方、评估方和平台方共同参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78194" y="2526782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与验证，推动企业实践经验转化并进入行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78194" y="2662290"/>
                  <a:ext cx="623392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业规则体系。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059246" y="2255766"/>
                  <a:ext cx="1748815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中电联可衔接国家标准编制工作并组织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059246" y="2402566"/>
                  <a:ext cx="1748815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电力场景验证，推动企业数据集建设成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059246" y="2549367"/>
                  <a:ext cx="1544193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果进入测评互认和应用推广链条。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447574" y="2254919"/>
                  <a:ext cx="1657274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中电联依托国家数据基础设施建设在电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447574" y="2390427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力领域的先行先试工作和行业节点地位，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447574" y="2525935"/>
                  <a:ext cx="1657274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可对企业提出的架构方案、接口方案和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447574" y="2661443"/>
                  <a:ext cx="97878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连接器方案开展验证。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547949" y="2260565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中电联可组织电网、发电等多类主体开展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47949" y="2407366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场景验证，形成支撑跨企业数据流通的安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547949" y="2554166"/>
                  <a:ext cx="881863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全边界和行业要求。</a:t>
                  </a:r>
                </a:p>
              </p:txBody>
            </p:sp>
          </p:grpSp>
          <p:sp>
            <p:nvSpPr>
              <p:cNvPr id="42" name="TextBox 42"/>
              <p:cNvSpPr txBox="1"/>
              <p:nvPr/>
            </p:nvSpPr>
            <p:spPr>
              <a:xfrm rot="-600000">
                <a:off x="9726289" y="3295685"/>
                <a:ext cx="1107156" cy="25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行业标准文件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 rot="-600000">
                <a:off x="9954304" y="3557030"/>
                <a:ext cx="1136294" cy="182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0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编制说明与验证记录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7876" y="3904842"/>
                <a:ext cx="1639305" cy="373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1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二、专业培训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563640" y="4281441"/>
                <a:ext cx="8478350" cy="182617"/>
                <a:chOff x="563640" y="4281441"/>
                <a:chExt cx="8478350" cy="182617"/>
              </a:xfrm>
            </p:grpSpPr>
            <p:sp>
              <p:nvSpPr>
                <p:cNvPr id="45" name="TextBox 45"/>
                <p:cNvSpPr txBox="1"/>
                <p:nvPr/>
              </p:nvSpPr>
              <p:spPr>
                <a:xfrm>
                  <a:off x="563640" y="4281441"/>
                  <a:ext cx="1849915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（一）高质量数据集建设与测评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2850338" y="4281441"/>
                  <a:ext cx="1849915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（二）大模型与智能体应用评测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5193497" y="4286241"/>
                  <a:ext cx="1519154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（三）数据资产评估与流通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310810" y="4288640"/>
                  <a:ext cx="1731180" cy="1699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7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（四）可信数据空间与数据安全</a:t>
                  </a:r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563640" y="4468584"/>
                <a:ext cx="8622528" cy="388420"/>
                <a:chOff x="563640" y="4468584"/>
                <a:chExt cx="8622528" cy="388420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563640" y="4507994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培训内容包括数据规划、专业标注、质量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563640" y="4649148"/>
                  <a:ext cx="1775739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控制、测评认证和案例实训等环节。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2850338" y="4507994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培训内容涵盖场景设计、模型能力、智能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2850338" y="4649148"/>
                  <a:ext cx="1886128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体效果、安全可信和持续评价等方面。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5187851" y="4468584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培训内容包括数据盘点、质量评价、价值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187851" y="4587153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测算、资产入表、登记上架和流通运营等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187851" y="4705723"/>
                  <a:ext cx="320497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环节。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310810" y="4468584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培训内容涉及可信连接、身份接入、授权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310810" y="4587153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使用、受控调用、安全评估和审计追溯等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7310810" y="4705723"/>
                  <a:ext cx="320497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方面。</a:t>
                  </a:r>
                </a:p>
              </p:txBody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772548" y="4915111"/>
                <a:ext cx="8441614" cy="410157"/>
                <a:chOff x="772548" y="4915111"/>
                <a:chExt cx="8441614" cy="410157"/>
              </a:xfrm>
            </p:grpSpPr>
            <p:sp>
              <p:nvSpPr>
                <p:cNvPr id="61" name="TextBox 61"/>
                <p:cNvSpPr txBox="1"/>
                <p:nvPr/>
              </p:nvSpPr>
              <p:spPr>
                <a:xfrm>
                  <a:off x="772548" y="4915111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中电联可组织标准起草人员、测评实践人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772548" y="50449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员和电力专业专家联合授课，使课程内容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72548" y="5174834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直接服务于企业数据集建设的实际需要。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3059246" y="4915111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中电联依托自身评测实践积累，可结合电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3059246" y="50449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网、发电、新能源等实际业务场景开展案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3059246" y="5174834"/>
                  <a:ext cx="1646504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例化实训，增强培训内容的针对性。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5385467" y="4921830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中电联可贯通业务、财务、评估和交易各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385467" y="5051692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环节，采用在央企国企数据资产化项目中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5385467" y="5181553"/>
                  <a:ext cx="951865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形成的方法开展授课。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7508425" y="4921830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中电联可结合电力数据基础设施建设和数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7508425" y="5051692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据安全相关项目经验，面向建设人员和运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7508425" y="5181553"/>
                  <a:ext cx="1046099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营人员开展场景化培训。</a:t>
                  </a:r>
                </a:p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2263136" y="6300228"/>
                <a:ext cx="5394325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233B5E"/>
                    </a:solidFill>
                    <a:latin typeface="Microsoft YaHei"/>
                    <a:ea typeface="Microsoft YaHei"/>
                    <a:cs typeface="Microsoft YaHei"/>
                  </a:rPr>
                  <a:t>除上述方向外，如贵单位拟参与或牵头相关标准项目，或有其他专业培训需求，亦可结合实际情况共同策划推进。</a:t>
                </a:r>
              </a:p>
            </p:txBody>
          </p:sp>
        </p:grp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2026-09-03T08:16:30Z</dcterms:created>
  <dcterms:modified xsi:type="dcterms:W3CDTF">2026-09-03T08:16:30Z</dcterms:modified>
  <cp:category/>
  <cp:contentStatus/>
</cp:coreProperties>
</file>