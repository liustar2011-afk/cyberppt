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能力评价场景按“企业入库—证据归集—能力评价—结果生成—场景调用—反馈更新”闭环运行</a:t>
            </a:r>
          </a:p>
          <a:p>
            <a:endParaRPr lang="en-US" dirty="0"/>
          </a:p>
          <a:p>
            <a:r>
              <a:rPr lang="zh-CN" dirty="0"/>
              <a:t>本页围绕“能力评价场景按“企业入库—证据归集—能力评价—结果生成—场景调用—反馈更新”闭环运行”展开。</a:t>
            </a:r>
          </a:p>
          <a:p>
            <a:r>
              <a:rPr lang="zh-CN" dirty="0"/>
              <a:t>汇报要点：</a:t>
            </a:r>
          </a:p>
          <a:p>
            <a:r>
              <a:rPr lang="zh-CN" dirty="0"/>
              <a:t>• ## 页面定位</a:t>
            </a:r>
          </a:p>
          <a:p>
            <a:r>
              <a:rPr lang="zh-CN" dirty="0"/>
              <a:t>• 主链运行页</a:t>
            </a:r>
          </a:p>
          <a:p>
            <a:r>
              <a:rPr lang="zh-CN" dirty="0"/>
              <a:t>• ## 版式草图</a:t>
            </a:r>
          </a:p>
          <a:p>
            <a:r>
              <a:rPr lang="zh-CN" dirty="0"/>
              <a:t>• - 中部：横向10节点主流程</a:t>
            </a:r>
          </a:p>
          <a:p>
            <a:r>
              <a:rPr lang="zh-CN" dirty="0"/>
              <a:t>• - 下部：更新触发因素</a:t>
            </a:r>
          </a:p>
          <a:p>
            <a:r>
              <a:rPr lang="zh-CN" dirty="0"/>
              <a:t>• - 末端回流到中段</a:t>
            </a:r>
          </a:p>
          <a:p>
            <a:r>
              <a:rPr lang="zh-CN" dirty="0"/>
              <a:t>• ## 框位置说明</a:t>
            </a:r>
          </a:p>
          <a:p>
            <a:r>
              <a:rPr lang="zh-CN" dirty="0"/>
              <a:t>• - 页面中部横向：10个主链节点</a:t>
            </a:r>
          </a:p>
          <a:p>
            <a:r>
              <a:rPr lang="zh-CN" dirty="0"/>
              <a:t>• - 页面下部横向：6个触发因素标签</a:t>
            </a:r>
          </a:p>
          <a:p>
            <a:r>
              <a:rPr lang="zh-CN" dirty="0"/>
              <a:t>• - 右侧末端：反馈更新节点回流到“数据治理/证据入库”</a:t>
            </a:r>
          </a:p>
          <a:p>
            <a:r>
              <a:rPr lang="zh-CN" dirty="0"/>
              <a:t>• ## 框内文字终稿</a:t>
            </a:r>
          </a:p>
          <a:p>
            <a:r>
              <a:rPr lang="zh-CN" dirty="0"/>
              <a:t>• ### 主链节点</a:t>
            </a:r>
          </a:p>
          <a:p>
            <a:r>
              <a:rPr lang="zh-CN" dirty="0"/>
              <a:t>• 1. 企业入库</a:t>
            </a:r>
          </a:p>
          <a:p>
            <a:r>
              <a:rPr lang="zh-CN" dirty="0"/>
              <a:t>• 明确企业类型、业务范围、目标区域、应用需求</a:t>
            </a:r>
          </a:p>
          <a:p>
            <a:r>
              <a:rPr lang="zh-CN" dirty="0"/>
              <a:t>• 2. 企业角色识别</a:t>
            </a:r>
          </a:p>
          <a:p>
            <a:r>
              <a:rPr lang="zh-CN" dirty="0"/>
              <a:t>• 投资运营、规划设计、EPC总包、装备制造、运维服务、供应链服务</a:t>
            </a:r>
          </a:p>
          <a:p>
            <a:r>
              <a:rPr lang="zh-CN" dirty="0"/>
              <a:t>• 3. 授权取证</a:t>
            </a:r>
          </a:p>
          <a:p>
            <a:r>
              <a:rPr lang="zh-CN" dirty="0"/>
              <a:t>• 基础评价授权 / 专项评价授权 / 对外传播授权</a:t>
            </a:r>
          </a:p>
          <a:p>
            <a:r>
              <a:rPr lang="zh-CN" dirty="0"/>
              <a:t>• 4. 数据治理</a:t>
            </a:r>
          </a:p>
          <a:p>
            <a:r>
              <a:rPr lang="zh-CN" dirty="0"/>
              <a:t>• 清洗、校验、去重、分类、口径统一、版本管理</a:t>
            </a:r>
          </a:p>
          <a:p>
            <a:r>
              <a:rPr lang="zh-CN" dirty="0"/>
              <a:t>• 5. 证据入库</a:t>
            </a:r>
          </a:p>
          <a:p>
            <a:r>
              <a:rPr lang="zh-CN" dirty="0"/>
              <a:t>• 按证据类型、能力维度、适用场景、授权边界组织入库</a:t>
            </a:r>
          </a:p>
          <a:p>
            <a:r>
              <a:rPr lang="zh-CN" dirty="0"/>
              <a:t>• 6. 能力评价</a:t>
            </a:r>
          </a:p>
          <a:p>
            <a:r>
              <a:rPr lang="zh-CN" dirty="0"/>
              <a:t>• 按评价模型、证据等级、场景适配规则形成评价结论</a:t>
            </a:r>
          </a:p>
          <a:p>
            <a:r>
              <a:rPr lang="zh-CN" dirty="0"/>
              <a:t>• 7. 专家复核</a:t>
            </a:r>
          </a:p>
          <a:p>
            <a:r>
              <a:rPr lang="zh-CN" dirty="0"/>
              <a:t>• 对重大结论、关键证据、风险提示、争议事项进行复核</a:t>
            </a:r>
          </a:p>
          <a:p>
            <a:r>
              <a:rPr lang="zh-CN" dirty="0"/>
              <a:t>• 8. 结果生成</a:t>
            </a:r>
          </a:p>
          <a:p>
            <a:r>
              <a:rPr lang="zh-CN" dirty="0"/>
              <a:t>• 画像报告、能力评价结果、证明材料、专题报告、风险提示</a:t>
            </a:r>
          </a:p>
          <a:p>
            <a:r>
              <a:rPr lang="zh-CN" dirty="0"/>
              <a:t>• 9. 场景调用</a:t>
            </a:r>
          </a:p>
          <a:p>
            <a:r>
              <a:rPr lang="zh-CN" dirty="0"/>
              <a:t>• 投标、融资、供应链、国别进入、行业监测、国际传播</a:t>
            </a:r>
          </a:p>
          <a:p>
            <a:r>
              <a:rPr lang="zh-CN" dirty="0"/>
              <a:t>• 10. 反馈更新</a:t>
            </a:r>
          </a:p>
          <a:p>
            <a:r>
              <a:rPr lang="zh-CN" dirty="0"/>
              <a:t>• 使用反馈、异议处理、补证修正、规则修订</a:t>
            </a:r>
          </a:p>
          <a:p>
            <a:r>
              <a:rPr lang="zh-CN" dirty="0"/>
              <a:t>• ### 下方｜更新触发因素</a:t>
            </a:r>
          </a:p>
          <a:p>
            <a:r>
              <a:rPr lang="zh-CN" dirty="0"/>
              <a:t>• 项目新增/完工</a:t>
            </a:r>
          </a:p>
          <a:p>
            <a:r>
              <a:rPr lang="zh-CN" dirty="0"/>
              <a:t>• 证书到期/更新</a:t>
            </a:r>
          </a:p>
          <a:p>
            <a:r>
              <a:rPr lang="zh-CN" dirty="0"/>
              <a:t>• 行政处罚/信用修复</a:t>
            </a:r>
          </a:p>
          <a:p>
            <a:r>
              <a:rPr lang="zh-CN" dirty="0"/>
              <a:t>• 国别规则变化</a:t>
            </a:r>
          </a:p>
          <a:p>
            <a:r>
              <a:rPr lang="zh-CN" dirty="0"/>
              <a:t>• 风险事件变化</a:t>
            </a:r>
          </a:p>
          <a:p>
            <a:r>
              <a:rPr lang="zh-CN" dirty="0"/>
              <a:t>• 企业补证</a:t>
            </a:r>
          </a:p>
          <a:p>
            <a:r>
              <a:rPr lang="zh-CN" dirty="0"/>
              <a:t>• ## 箭头关系</a:t>
            </a:r>
          </a:p>
          <a:p>
            <a:r>
              <a:rPr lang="zh-CN" dirty="0"/>
              <a:t>• - 1→10顺序单向箭头。</a:t>
            </a:r>
          </a:p>
          <a:p>
            <a:r>
              <a:rPr lang="zh-CN" dirty="0"/>
              <a:t>• - 10回流到4/5形成闭环。</a:t>
            </a:r>
          </a:p>
          <a:p>
            <a:r>
              <a:rPr lang="zh-CN" dirty="0"/>
              <a:t>• - 下方触发因素用短箭头指向10。</a:t>
            </a:r>
          </a:p>
          <a:p>
            <a:r>
              <a:rPr lang="zh-CN" dirty="0"/>
              <a:t>• ## 组件清单</a:t>
            </a:r>
          </a:p>
          <a:p>
            <a:r>
              <a:rPr lang="zh-CN" dirty="0"/>
              <a:t>• - 主链节点10个</a:t>
            </a:r>
          </a:p>
          <a:p>
            <a:r>
              <a:rPr lang="zh-CN" dirty="0"/>
              <a:t>• - 顺序箭头9个</a:t>
            </a:r>
          </a:p>
          <a:p>
            <a:r>
              <a:rPr lang="zh-CN" dirty="0"/>
              <a:t>• - 回流箭头1个</a:t>
            </a:r>
          </a:p>
          <a:p>
            <a:r>
              <a:rPr lang="zh-CN" dirty="0"/>
              <a:t>• - 触发因素标签6个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九类能力维度与六类证据资源共同构成评价模型的核心支撑</a:t>
            </a:r>
          </a:p>
          <a:p>
            <a:endParaRPr lang="en-US" dirty="0"/>
          </a:p>
          <a:p>
            <a:r>
              <a:rPr lang="zh-CN" dirty="0"/>
              <a:t>本页围绕“九类能力维度与六类证据资源共同构成评价模型的核心支撑”展开。</a:t>
            </a:r>
          </a:p>
          <a:p>
            <a:r>
              <a:rPr lang="zh-CN" dirty="0"/>
              <a:t>汇报要点：</a:t>
            </a:r>
          </a:p>
          <a:p>
            <a:r>
              <a:rPr lang="zh-CN" dirty="0"/>
              <a:t>• ## 页面定位</a:t>
            </a:r>
          </a:p>
          <a:p>
            <a:r>
              <a:rPr lang="zh-CN" dirty="0"/>
              <a:t>• 评价模型页</a:t>
            </a:r>
          </a:p>
          <a:p>
            <a:r>
              <a:rPr lang="zh-CN" dirty="0"/>
              <a:t>• ## 版式草图</a:t>
            </a:r>
          </a:p>
          <a:p>
            <a:r>
              <a:rPr lang="zh-CN" dirty="0"/>
              <a:t>• - 左侧：六类证据资源</a:t>
            </a:r>
          </a:p>
          <a:p>
            <a:r>
              <a:rPr lang="zh-CN" dirty="0"/>
              <a:t>• - 中部：九宫格能力维度</a:t>
            </a:r>
          </a:p>
          <a:p>
            <a:r>
              <a:rPr lang="zh-CN" dirty="0"/>
              <a:t>• - 右侧：企业类型适配 + 场景适配</a:t>
            </a:r>
          </a:p>
          <a:p>
            <a:r>
              <a:rPr lang="zh-CN" dirty="0"/>
              <a:t>• ## 框位置说明</a:t>
            </a:r>
          </a:p>
          <a:p>
            <a:r>
              <a:rPr lang="zh-CN" dirty="0"/>
              <a:t>• - 左侧20%：六类证据资源列表</a:t>
            </a:r>
          </a:p>
          <a:p>
            <a:r>
              <a:rPr lang="zh-CN" dirty="0"/>
              <a:t>• - 中部50%：九宫格</a:t>
            </a:r>
          </a:p>
          <a:p>
            <a:r>
              <a:rPr lang="zh-CN" dirty="0"/>
              <a:t>• - 右侧30%：上为企业类型，下为场景适配</a:t>
            </a:r>
          </a:p>
          <a:p>
            <a:r>
              <a:rPr lang="zh-CN" dirty="0"/>
              <a:t>• ## 框内文字终稿</a:t>
            </a:r>
          </a:p>
          <a:p>
            <a:r>
              <a:rPr lang="zh-CN" dirty="0"/>
              <a:t>• ### 左侧｜六类证据资源</a:t>
            </a:r>
          </a:p>
          <a:p>
            <a:r>
              <a:rPr lang="zh-CN" dirty="0"/>
              <a:t>• 企业主体数据</a:t>
            </a:r>
          </a:p>
          <a:p>
            <a:r>
              <a:rPr lang="zh-CN" dirty="0"/>
              <a:t>• 海外项目数据</a:t>
            </a:r>
          </a:p>
          <a:p>
            <a:r>
              <a:rPr lang="zh-CN" dirty="0"/>
              <a:t>• 技术装备数据</a:t>
            </a:r>
          </a:p>
          <a:p>
            <a:r>
              <a:rPr lang="zh-CN" dirty="0"/>
              <a:t>• 财务信用数据</a:t>
            </a:r>
          </a:p>
          <a:p>
            <a:r>
              <a:rPr lang="zh-CN" dirty="0"/>
              <a:t>• E&amp;S/HSE与合规数据</a:t>
            </a:r>
          </a:p>
          <a:p>
            <a:r>
              <a:rPr lang="zh-CN" dirty="0"/>
              <a:t>• 国别市场与风险数据</a:t>
            </a:r>
          </a:p>
          <a:p>
            <a:r>
              <a:rPr lang="zh-CN" dirty="0"/>
              <a:t>• ### 中部｜九类能力维度</a:t>
            </a:r>
          </a:p>
          <a:p>
            <a:r>
              <a:rPr lang="zh-CN" dirty="0"/>
              <a:t>• 1. 主体治理与合规能力</a:t>
            </a:r>
          </a:p>
          <a:p>
            <a:r>
              <a:rPr lang="zh-CN" dirty="0"/>
              <a:t>• 2. 财务稳健与信用履约能力</a:t>
            </a:r>
          </a:p>
          <a:p>
            <a:r>
              <a:rPr lang="zh-CN" dirty="0"/>
              <a:t>• 3. 国际项目经验与交付能力</a:t>
            </a:r>
          </a:p>
          <a:p>
            <a:r>
              <a:rPr lang="zh-CN" dirty="0"/>
              <a:t>• 4. 技术装备与系统集成能力</a:t>
            </a:r>
          </a:p>
          <a:p>
            <a:r>
              <a:rPr lang="zh-CN" dirty="0"/>
              <a:t>• 5. E&amp;S/ESG/HSE能力</a:t>
            </a:r>
          </a:p>
          <a:p>
            <a:r>
              <a:rPr lang="zh-CN" dirty="0"/>
              <a:t>• 6. 供应链责任能力</a:t>
            </a:r>
          </a:p>
          <a:p>
            <a:r>
              <a:rPr lang="zh-CN" dirty="0"/>
              <a:t>• 7. 属地化经营与伙伴协同能力</a:t>
            </a:r>
          </a:p>
          <a:p>
            <a:r>
              <a:rPr lang="zh-CN" dirty="0"/>
              <a:t>• 8. 国别适配与风险应对能力</a:t>
            </a:r>
          </a:p>
          <a:p>
            <a:r>
              <a:rPr lang="zh-CN" dirty="0"/>
              <a:t>• 9. 数据可信与证据管理能力</a:t>
            </a:r>
          </a:p>
          <a:p>
            <a:r>
              <a:rPr lang="zh-CN" dirty="0"/>
              <a:t>• ### 右侧上｜企业类型适配</a:t>
            </a:r>
          </a:p>
          <a:p>
            <a:r>
              <a:rPr lang="zh-CN" dirty="0"/>
              <a:t>• 投资运营企业</a:t>
            </a:r>
          </a:p>
          <a:p>
            <a:r>
              <a:rPr lang="zh-CN" dirty="0"/>
              <a:t>• 规划设计企业</a:t>
            </a:r>
          </a:p>
          <a:p>
            <a:r>
              <a:rPr lang="zh-CN" dirty="0"/>
              <a:t>• EPC总承包企业</a:t>
            </a:r>
          </a:p>
          <a:p>
            <a:r>
              <a:rPr lang="zh-CN" dirty="0"/>
              <a:t>• 装备制造企业</a:t>
            </a:r>
          </a:p>
          <a:p>
            <a:r>
              <a:rPr lang="zh-CN" dirty="0"/>
              <a:t>• 运维服务企业</a:t>
            </a:r>
          </a:p>
          <a:p>
            <a:r>
              <a:rPr lang="zh-CN" dirty="0"/>
              <a:t>• 平台集成企业</a:t>
            </a:r>
          </a:p>
          <a:p>
            <a:r>
              <a:rPr lang="zh-CN" dirty="0"/>
              <a:t>• 供应链服务企业</a:t>
            </a:r>
          </a:p>
          <a:p>
            <a:r>
              <a:rPr lang="zh-CN" dirty="0"/>
              <a:t>• ### 右侧下｜场景适配</a:t>
            </a:r>
          </a:p>
          <a:p>
            <a:r>
              <a:rPr lang="zh-CN" dirty="0"/>
              <a:t>• 基础画像评价</a:t>
            </a:r>
          </a:p>
          <a:p>
            <a:r>
              <a:rPr lang="zh-CN" dirty="0"/>
              <a:t>• 投标预审评价</a:t>
            </a:r>
          </a:p>
          <a:p>
            <a:r>
              <a:rPr lang="zh-CN" dirty="0"/>
              <a:t>• 融资保险评价</a:t>
            </a:r>
          </a:p>
          <a:p>
            <a:r>
              <a:rPr lang="zh-CN" dirty="0"/>
              <a:t>• 供应链准入评价</a:t>
            </a:r>
          </a:p>
          <a:p>
            <a:r>
              <a:rPr lang="zh-CN" dirty="0"/>
              <a:t>• 国别适配评价</a:t>
            </a:r>
          </a:p>
          <a:p>
            <a:r>
              <a:rPr lang="zh-CN" dirty="0"/>
              <a:t>• 传播展示评价</a:t>
            </a:r>
          </a:p>
          <a:p>
            <a:r>
              <a:rPr lang="zh-CN" dirty="0"/>
              <a:t>• ## 箭头关系</a:t>
            </a:r>
          </a:p>
          <a:p>
            <a:r>
              <a:rPr lang="zh-CN" dirty="0"/>
              <a:t>• - 左侧证据资源 → 中部九宫格。</a:t>
            </a:r>
          </a:p>
          <a:p>
            <a:r>
              <a:rPr lang="zh-CN" dirty="0"/>
              <a:t>• - 中部九宫格 → 右侧企业类型/场景适配。</a:t>
            </a:r>
          </a:p>
          <a:p>
            <a:r>
              <a:rPr lang="zh-CN" dirty="0"/>
              <a:t>• ## 组件清单</a:t>
            </a:r>
          </a:p>
          <a:p>
            <a:r>
              <a:rPr lang="zh-CN" dirty="0"/>
              <a:t>• - 左侧资源列表1组</a:t>
            </a:r>
          </a:p>
          <a:p>
            <a:r>
              <a:rPr lang="zh-CN" dirty="0"/>
              <a:t>• - 九宫格1组</a:t>
            </a:r>
          </a:p>
          <a:p>
            <a:r>
              <a:rPr lang="zh-CN" dirty="0"/>
              <a:t>• - 右侧双层适配框2组</a:t>
            </a:r>
          </a:p>
          <a:p>
            <a:r>
              <a:rPr lang="zh-CN" dirty="0"/>
              <a:t>• - 关系箭头若干</a:t>
            </a:r>
          </a:p>
          <a:p>
            <a:r>
              <a:rPr lang="en-US" dirty="0"/>
              <a:t>• ---</a:t>
            </a:r>
          </a:p>
          <a:p>
            <a:r>
              <a:rPr lang="zh-CN" dirty="0"/>
              <a:t>• # 第三章｜重点场景设计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ChromeLogo" Type="http://schemas.openxmlformats.org/officeDocument/2006/relationships/image" Target="../media/chrome_logo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ChromeCanvas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ChromeTopDivider"/>
          <p:cNvSpPr/>
          <p:nvPr/>
        </p:nvSpPr>
        <p:spPr>
          <a:xfrm>
            <a:off x="0" y="781050"/>
            <a:ext cx="12192000" cy="666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1" name="ChromeLogo"/>
          <p:cNvPicPr/>
          <p:nvPr/>
        </p:nvPicPr>
        <p:blipFill>
          <a:blip r:embed="rIdChromeLogo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102" name="ChromePageNumber"/>
          <p:cNvSpPr/>
          <p:nvPr/>
        </p:nvSpPr>
        <p:spPr>
          <a:xfrm>
            <a:off x="10858500" y="6629400"/>
            <a:ext cx="952500" cy="228600"/>
          </a:xfrm>
          <a:prstGeom prst="rect">
            <a:avLst/>
          </a:prstGeom>
          <a:noFill/>
        </p:spPr>
        <p:txBody>
          <a:bodyPr anchor="ctr" lIns="0" tIns="0" rIns="0" bIns="0"/>
          <a:lstStyle/>
          <a:p>
            <a:pPr algn="r"/>
            <a:fld id="{00000000-0008-0000-0000-000000000000}" type="slidenum">
              <a:rPr lang="zh-CN" sz="1000">
                <a:solidFill>
                  <a:srgbClr val="666666"/>
                </a:solidFill>
                <a:latin typeface="Consolas"/>
                <a:ea typeface="Consolas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1e4c99c2b3fb66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70fb63305cf5599.png"/>
  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975" y="235744"/>
            <a:ext cx="10315587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23B66"/>
                </a:solidFill>
                <a:latin typeface="Arial"/>
                <a:ea typeface="Microsoft YaHei"/>
                <a:cs typeface="Arial"/>
              </a:rPr>
              <a:t>能力评价场景按“企业入库—证据归集—能力评价—结果生成—场景调用—反馈更新”闭环运行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90600"/>
            <a:ext cx="11811000" cy="5638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76288" y="1901914"/>
            <a:ext cx="836788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1 企业入库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企业类型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业务范围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目标区域 / 应用需求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94344" y="1901914"/>
            <a:ext cx="746377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2 角色识别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投资运营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规划设计 / EPC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装备制造 / 运维等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12306" y="1901914"/>
            <a:ext cx="551993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3 授权取证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基础评价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专项评价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对外传播授权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30268" y="1952777"/>
            <a:ext cx="836788" cy="337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4 数据治理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清洗 / 校验 / 去重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口径统一 / 版本管理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48325" y="1919411"/>
            <a:ext cx="597328" cy="3993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728"/>
              </a:lnSpc>
            </a:pP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5 证据入库</a:t>
            </a: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按证据类型</a:t>
            </a: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能力维度 / 场景</a:t>
            </a: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授权边界入库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48325" y="3170644"/>
            <a:ext cx="551993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6 能力评价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评价模型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证据等级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场景适配规则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0268" y="3170644"/>
            <a:ext cx="836788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7 专家复核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重大结论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关键证据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风险提示 / 争议事项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12306" y="3170644"/>
            <a:ext cx="836788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8 结果生成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画像报告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评价结果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证明材料 / 专题报告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4344" y="3234338"/>
            <a:ext cx="774081" cy="306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728"/>
              </a:lnSpc>
            </a:pP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9 场景调用</a:t>
            </a: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投标 / 融资 / 供应链</a:t>
            </a:r>
            <a:r>
              <a:rPr lang="zh-CN" sz="6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国别进入 / 监测传播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6288" y="3170644"/>
            <a:ext cx="836788" cy="4388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00"/>
              </a:lnSpc>
            </a:pP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10 反馈更新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使用反馈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异议处理</a:t>
            </a:r>
            <a:r>
              <a:rPr lang="zh-CN" sz="68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补证修正 / 规则修订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9534" y="3331840"/>
            <a:ext cx="1597704" cy="1809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2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回流至数据治理 / 证据入库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0276" y="4663026"/>
            <a:ext cx="808764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项目新增/完工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77266" y="4663026"/>
            <a:ext cx="808764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证书到期/更新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82330" y="4663026"/>
            <a:ext cx="1052807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行政处罚/信用修复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64802" y="4663026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国别规则变化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91793" y="4663026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风险事件变化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40804" y="4663026"/>
            <a:ext cx="497610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企业补证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89421" y="5603748"/>
            <a:ext cx="8013158" cy="217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核心逻辑：以授权取证和证据入库为基础，用模型评价形成结果，再通过场景调用和反馈更新形成可持续运营闭环。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0975" y="235744"/>
            <a:ext cx="6909911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b="1" dirty="0">
                <a:solidFill>
                  <a:srgbClr val="123B66"/>
                </a:solidFill>
                <a:latin typeface="Arial"/>
                <a:ea typeface="Microsoft YaHei"/>
                <a:cs typeface="Arial"/>
              </a:rPr>
              <a:t>九类能力维度与六类证据资源共同构成评价模型的核心支撑</a:t>
            </a: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90600"/>
            <a:ext cx="11811000" cy="5638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22349" y="1911629"/>
            <a:ext cx="1058242" cy="241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3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六类证据资源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94597" y="1911629"/>
            <a:ext cx="1058242" cy="241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3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九类能力维度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82767" y="1919002"/>
            <a:ext cx="952675" cy="217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企业类型适配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39571" y="4049173"/>
            <a:ext cx="638876" cy="217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场景适配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0643" y="2380074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企业主体数据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0643" y="2834321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海外项目数据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0643" y="3288473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技术装备数据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0643" y="3742720"/>
            <a:ext cx="741653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财务信用数据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200" y="4196967"/>
            <a:ext cx="1150539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E&amp;S/HSE与合规数据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7611" y="4651215"/>
            <a:ext cx="1107716" cy="169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国别市场与风险数据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05839" y="2595472"/>
            <a:ext cx="404374" cy="3677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1 主体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治理与合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规能力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36113" y="2595472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2 财务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稳健与信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用履约能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66387" y="2595472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3 国际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项目经验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与交付能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05839" y="3472629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4 技术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装备与系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统集成能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36113" y="3472629"/>
            <a:ext cx="369825" cy="3677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en-US" sz="740" b="1" dirty="0">
                <a:solidFill>
                  <a:srgbClr val="23312D"/>
                </a:solidFill>
                <a:latin typeface="Arial"/>
                <a:ea typeface="Arial"/>
                <a:cs typeface="Arial"/>
              </a:rPr>
              <a:t xml:space="preserve">5 E&amp;S </a:t>
            </a:r>
            <a:r>
              <a:rPr lang="en-US" sz="740" b="1" dirty="0">
                <a:solidFill>
                  <a:srgbClr val="23312D"/>
                </a:solidFill>
                <a:latin typeface="Arial"/>
                <a:ea typeface="Arial"/>
                <a:cs typeface="Arial"/>
              </a:rPr>
              <a:t xml:space="preserve">ESG 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HSE能力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66387" y="3472629"/>
            <a:ext cx="404374" cy="3677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6 供应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链责任能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05839" y="4349787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7 属地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化经营与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伙伴协同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36113" y="4349787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8 国别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适配与风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险应对能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66387" y="4349787"/>
            <a:ext cx="404374" cy="4786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874"/>
              </a:lnSpc>
            </a:pP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9 数据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可信与证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据管理能</a:t>
            </a:r>
            <a:r>
              <a:rPr lang="zh-CN" sz="74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19038" y="2269769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投资运营企业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15639" y="2269769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规划设计企业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72197" y="2520372"/>
            <a:ext cx="650842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EPC总承包企业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15639" y="2520372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装备制造企业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19038" y="2770975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运维服务企业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15639" y="2770975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平台集成企业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73402" y="3021578"/>
            <a:ext cx="648432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供应链服务企业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19038" y="4415657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基础画像评价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15639" y="4415657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投标预审评价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19038" y="4666259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融资保险评价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570003" y="4666259"/>
            <a:ext cx="648432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供应链准入评价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19038" y="4916862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国别适配评价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15639" y="4916862"/>
            <a:ext cx="557159" cy="1339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80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传播展示评价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52322" y="5913120"/>
            <a:ext cx="6687356" cy="217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" b="1" dirty="0">
                <a:solidFill>
                  <a:srgbClr val="23312D"/>
                </a:solidFill>
                <a:latin typeface="Arial"/>
                <a:ea typeface="Microsoft YaHei"/>
                <a:cs typeface="Arial"/>
              </a:rPr>
              <a:t>评价模型不是单一打分表，而是“证据资源 × 能力维度 × 企业类型 × 应用场景”的组合支撑体系。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2026-07-05T07:01:58Z</dcterms:created>
  <dcterms:modified xsi:type="dcterms:W3CDTF">2026-07-05T07:01:58Z</dcterms:modified>
  <cp:category/>
  <cp:contentStatus/>
</cp:coreProperties>
</file>