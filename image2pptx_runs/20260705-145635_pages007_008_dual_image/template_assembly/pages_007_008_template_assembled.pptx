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950976"/>
            <a:ext cx="11411712" cy="0"/>
          </a:xfrm>
          <a:prstGeom prst="line">
            <a:avLst/>
          </a:prstGeom>
          <a:noFill/>
          <a:ln w="15240">
            <a:solidFill>
              <a:srgbClr val="1F5B4D">
                <a:alpha val="9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6519672"/>
            <a:ext cx="11411712" cy="0"/>
          </a:xfrm>
          <a:prstGeom prst="line">
            <a:avLst/>
          </a:prstGeom>
          <a:noFill/>
          <a:ln w="10160">
            <a:solidFill>
              <a:srgbClr val="D0D8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83696" y="65471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D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84048" y="28346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3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闭环运行流程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84048" y="63093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8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企业入库—证据归集—能力评价—结果生成—场景调用—反馈更新</a:t>
            </a:r>
            <a:endParaRPr lang="en-US" sz="950" dirty="0"/>
          </a:p>
        </p:txBody>
      </p:sp>
      <p:pic>
        <p:nvPicPr>
          <p:cNvPr id="8" name="Image 0" descr="/Volumes/DOC/CyberPPT/image2pptx_runs/20260705-145635_pages007_008_dual_image/images/page_007_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78992"/>
            <a:ext cx="11411712" cy="5321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111" y="2298573"/>
            <a:ext cx="552755" cy="1847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 企业入库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865480" y="2542489"/>
            <a:ext cx="748894" cy="41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企业类型 / 业务范围 / 目标区域 / 应用需求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2238451" y="2298573"/>
            <a:ext cx="552755" cy="1847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 角色识别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1988820" y="2542489"/>
            <a:ext cx="748894" cy="41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投资运营 / 规划设计 / EPC / 装备制造 / 运维等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3361792" y="2298573"/>
            <a:ext cx="552755" cy="1847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 授权取证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3112160" y="2542489"/>
            <a:ext cx="748894" cy="41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基础评价 / 专项评价 / 对外传播授权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4485132" y="2298573"/>
            <a:ext cx="552755" cy="1847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 数据治理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4235501" y="2542489"/>
            <a:ext cx="748894" cy="41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清洗 / 校验 / 去重 / 口径统一 / 版本管理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5608472" y="2298573"/>
            <a:ext cx="552755" cy="1847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 证据入库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5358841" y="2542489"/>
            <a:ext cx="748894" cy="41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按证据类型 / 能力维度 / 场景 / 授权边界入库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5608472" y="3555111"/>
            <a:ext cx="552755" cy="1847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 能力评价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5358841" y="3799027"/>
            <a:ext cx="748894" cy="41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评价模型 / 证据等级 / 场景适配规则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4485132" y="3555111"/>
            <a:ext cx="552755" cy="1847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7 专家复核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4235501" y="3799027"/>
            <a:ext cx="748894" cy="41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重大结论 / 关键证据 / 风险提示 / 争议事项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3361792" y="3555111"/>
            <a:ext cx="552755" cy="1847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 结果生成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3112160" y="3799027"/>
            <a:ext cx="748894" cy="41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画像报告 / 评价结果 / 证明材料 / 专题报告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2238451" y="3555111"/>
            <a:ext cx="552755" cy="1847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9 场景调用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1988820" y="3799027"/>
            <a:ext cx="748894" cy="41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投标 / 融资 / 供应链 / 国别进入 / 监测传播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1115111" y="3555111"/>
            <a:ext cx="552755" cy="1847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 反馈更新</a:t>
            </a:r>
            <a:endParaRPr lang="en-US" sz="1080" dirty="0"/>
          </a:p>
        </p:txBody>
      </p:sp>
      <p:sp>
        <p:nvSpPr>
          <p:cNvPr id="28" name="Text 25"/>
          <p:cNvSpPr/>
          <p:nvPr/>
        </p:nvSpPr>
        <p:spPr>
          <a:xfrm>
            <a:off x="865480" y="3799027"/>
            <a:ext cx="748894" cy="41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使用反馈 / 异议处理 / 补证修正 / 规则修订</a:t>
            </a:r>
            <a:endParaRPr lang="en-US" sz="720" dirty="0"/>
          </a:p>
        </p:txBody>
      </p:sp>
      <p:sp>
        <p:nvSpPr>
          <p:cNvPr id="29" name="Text 26"/>
          <p:cNvSpPr/>
          <p:nvPr/>
        </p:nvSpPr>
        <p:spPr>
          <a:xfrm>
            <a:off x="901141" y="5255133"/>
            <a:ext cx="1319479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项目新增/完工</a:t>
            </a:r>
            <a:endParaRPr lang="en-US" sz="1080" dirty="0"/>
          </a:p>
        </p:txBody>
      </p:sp>
      <p:sp>
        <p:nvSpPr>
          <p:cNvPr id="30" name="Text 27"/>
          <p:cNvSpPr/>
          <p:nvPr/>
        </p:nvSpPr>
        <p:spPr>
          <a:xfrm>
            <a:off x="2648560" y="5255133"/>
            <a:ext cx="1319479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证书到期/更新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4395978" y="5255133"/>
            <a:ext cx="1319479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行政处罚/信用修复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6143396" y="5255133"/>
            <a:ext cx="1319479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国别规则变化</a:t>
            </a:r>
            <a:endParaRPr lang="en-US" sz="1080" dirty="0"/>
          </a:p>
        </p:txBody>
      </p:sp>
      <p:sp>
        <p:nvSpPr>
          <p:cNvPr id="33" name="Text 30"/>
          <p:cNvSpPr/>
          <p:nvPr/>
        </p:nvSpPr>
        <p:spPr>
          <a:xfrm>
            <a:off x="7890815" y="5255133"/>
            <a:ext cx="1319479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风险事件变化</a:t>
            </a:r>
            <a:endParaRPr lang="en-US" sz="1080" dirty="0"/>
          </a:p>
        </p:txBody>
      </p:sp>
      <p:sp>
        <p:nvSpPr>
          <p:cNvPr id="34" name="Text 31"/>
          <p:cNvSpPr/>
          <p:nvPr/>
        </p:nvSpPr>
        <p:spPr>
          <a:xfrm>
            <a:off x="9638233" y="5255133"/>
            <a:ext cx="1319479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企业补证</a:t>
            </a:r>
            <a:endParaRPr lang="en-US" sz="1080" dirty="0"/>
          </a:p>
        </p:txBody>
      </p:sp>
      <p:sp>
        <p:nvSpPr>
          <p:cNvPr id="35" name="Text 32"/>
          <p:cNvSpPr/>
          <p:nvPr/>
        </p:nvSpPr>
        <p:spPr>
          <a:xfrm>
            <a:off x="1008126" y="5735574"/>
            <a:ext cx="101635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96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核心逻辑：以授权取证和证据入库为基础，用模型评价形成结果，再通过场景调用和反馈更新形成可持续运营闭环。</a:t>
            </a:r>
            <a:endParaRPr lang="en-US" sz="129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950976"/>
            <a:ext cx="11411712" cy="0"/>
          </a:xfrm>
          <a:prstGeom prst="line">
            <a:avLst/>
          </a:prstGeom>
          <a:noFill/>
          <a:ln w="15240">
            <a:solidFill>
              <a:srgbClr val="1F5B4D">
                <a:alpha val="9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6519672"/>
            <a:ext cx="11411712" cy="0"/>
          </a:xfrm>
          <a:prstGeom prst="line">
            <a:avLst/>
          </a:prstGeom>
          <a:noFill/>
          <a:ln w="10160">
            <a:solidFill>
              <a:srgbClr val="D0D8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83696" y="65471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D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84048" y="28346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3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评价模型核心支撑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84048" y="63093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8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九类能力维度 × 六类证据资源 × 企业类型/场景适配</a:t>
            </a:r>
            <a:endParaRPr lang="en-US" sz="950" dirty="0"/>
          </a:p>
        </p:txBody>
      </p:sp>
      <p:pic>
        <p:nvPicPr>
          <p:cNvPr id="8" name="Image 0" descr="/Volumes/DOC/CyberPPT/image2pptx_runs/20260705-145635_pages007_008_dual_image/images/page_008_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78992"/>
            <a:ext cx="11411712" cy="5321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8126" y="2246833"/>
            <a:ext cx="1676095" cy="2069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12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六类证据资源</a:t>
            </a:r>
            <a:endParaRPr lang="en-US" sz="1512" dirty="0"/>
          </a:p>
        </p:txBody>
      </p:sp>
      <p:sp>
        <p:nvSpPr>
          <p:cNvPr id="10" name="Text 7"/>
          <p:cNvSpPr/>
          <p:nvPr/>
        </p:nvSpPr>
        <p:spPr>
          <a:xfrm>
            <a:off x="1115111" y="2638577"/>
            <a:ext cx="1462126" cy="147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企业主体数据</a:t>
            </a:r>
            <a:endParaRPr lang="en-US" sz="1008" dirty="0"/>
          </a:p>
        </p:txBody>
      </p:sp>
      <p:sp>
        <p:nvSpPr>
          <p:cNvPr id="11" name="Text 8"/>
          <p:cNvSpPr/>
          <p:nvPr/>
        </p:nvSpPr>
        <p:spPr>
          <a:xfrm>
            <a:off x="1115111" y="3059887"/>
            <a:ext cx="1462126" cy="147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海外项目数据</a:t>
            </a:r>
            <a:endParaRPr lang="en-US" sz="1008" dirty="0"/>
          </a:p>
        </p:txBody>
      </p:sp>
      <p:sp>
        <p:nvSpPr>
          <p:cNvPr id="12" name="Text 9"/>
          <p:cNvSpPr/>
          <p:nvPr/>
        </p:nvSpPr>
        <p:spPr>
          <a:xfrm>
            <a:off x="1115111" y="3481197"/>
            <a:ext cx="1462126" cy="147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技术装备数据</a:t>
            </a:r>
            <a:endParaRPr lang="en-US" sz="1008" dirty="0"/>
          </a:p>
        </p:txBody>
      </p:sp>
      <p:sp>
        <p:nvSpPr>
          <p:cNvPr id="13" name="Text 10"/>
          <p:cNvSpPr/>
          <p:nvPr/>
        </p:nvSpPr>
        <p:spPr>
          <a:xfrm>
            <a:off x="1115111" y="3902507"/>
            <a:ext cx="1462126" cy="147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财务信用数据</a:t>
            </a:r>
            <a:endParaRPr lang="en-US" sz="1008" dirty="0"/>
          </a:p>
        </p:txBody>
      </p:sp>
      <p:sp>
        <p:nvSpPr>
          <p:cNvPr id="14" name="Text 11"/>
          <p:cNvSpPr/>
          <p:nvPr/>
        </p:nvSpPr>
        <p:spPr>
          <a:xfrm>
            <a:off x="1115111" y="4323817"/>
            <a:ext cx="1462126" cy="147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E&amp;S/HSE与合规数据</a:t>
            </a:r>
            <a:endParaRPr lang="en-US" sz="1008" dirty="0"/>
          </a:p>
        </p:txBody>
      </p:sp>
      <p:sp>
        <p:nvSpPr>
          <p:cNvPr id="15" name="Text 12"/>
          <p:cNvSpPr/>
          <p:nvPr/>
        </p:nvSpPr>
        <p:spPr>
          <a:xfrm>
            <a:off x="1115111" y="4745126"/>
            <a:ext cx="1462126" cy="147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国别市场与风险数据</a:t>
            </a:r>
            <a:endParaRPr lang="en-US" sz="1008" dirty="0"/>
          </a:p>
        </p:txBody>
      </p:sp>
      <p:sp>
        <p:nvSpPr>
          <p:cNvPr id="16" name="Text 13"/>
          <p:cNvSpPr/>
          <p:nvPr/>
        </p:nvSpPr>
        <p:spPr>
          <a:xfrm>
            <a:off x="5020056" y="2246833"/>
            <a:ext cx="2014880" cy="2069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九类能力维度</a:t>
            </a:r>
            <a:endParaRPr lang="en-US" sz="1584" dirty="0"/>
          </a:p>
        </p:txBody>
      </p:sp>
      <p:sp>
        <p:nvSpPr>
          <p:cNvPr id="17" name="Text 14"/>
          <p:cNvSpPr/>
          <p:nvPr/>
        </p:nvSpPr>
        <p:spPr>
          <a:xfrm>
            <a:off x="4413809" y="2801188"/>
            <a:ext cx="838048" cy="3104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主体治理与合规能力</a:t>
            </a:r>
            <a:endParaRPr lang="en-US" sz="936" dirty="0"/>
          </a:p>
        </p:txBody>
      </p:sp>
      <p:sp>
        <p:nvSpPr>
          <p:cNvPr id="18" name="Text 15"/>
          <p:cNvSpPr/>
          <p:nvPr/>
        </p:nvSpPr>
        <p:spPr>
          <a:xfrm>
            <a:off x="5822442" y="2801188"/>
            <a:ext cx="838048" cy="3104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财务稳健与信用履约能力</a:t>
            </a:r>
            <a:endParaRPr lang="en-US" sz="936" dirty="0"/>
          </a:p>
        </p:txBody>
      </p:sp>
      <p:sp>
        <p:nvSpPr>
          <p:cNvPr id="19" name="Text 16"/>
          <p:cNvSpPr/>
          <p:nvPr/>
        </p:nvSpPr>
        <p:spPr>
          <a:xfrm>
            <a:off x="7231075" y="2801188"/>
            <a:ext cx="838048" cy="3104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国际项目经验与交付能力</a:t>
            </a:r>
            <a:endParaRPr lang="en-US" sz="936" dirty="0"/>
          </a:p>
        </p:txBody>
      </p:sp>
      <p:sp>
        <p:nvSpPr>
          <p:cNvPr id="20" name="Text 17"/>
          <p:cNvSpPr/>
          <p:nvPr/>
        </p:nvSpPr>
        <p:spPr>
          <a:xfrm>
            <a:off x="4413809" y="3577285"/>
            <a:ext cx="838048" cy="3104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技术装备与系统集成能力</a:t>
            </a:r>
            <a:endParaRPr lang="en-US" sz="936" dirty="0"/>
          </a:p>
        </p:txBody>
      </p:sp>
      <p:sp>
        <p:nvSpPr>
          <p:cNvPr id="21" name="Text 18"/>
          <p:cNvSpPr/>
          <p:nvPr/>
        </p:nvSpPr>
        <p:spPr>
          <a:xfrm>
            <a:off x="5822442" y="3577285"/>
            <a:ext cx="838048" cy="3104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E&amp;S/ESG/HSE能力</a:t>
            </a:r>
            <a:endParaRPr lang="en-US" sz="936" dirty="0"/>
          </a:p>
        </p:txBody>
      </p:sp>
      <p:sp>
        <p:nvSpPr>
          <p:cNvPr id="22" name="Text 19"/>
          <p:cNvSpPr/>
          <p:nvPr/>
        </p:nvSpPr>
        <p:spPr>
          <a:xfrm>
            <a:off x="7231075" y="3577285"/>
            <a:ext cx="838048" cy="3104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供应链责任能力</a:t>
            </a:r>
            <a:endParaRPr lang="en-US" sz="936" dirty="0"/>
          </a:p>
        </p:txBody>
      </p:sp>
      <p:sp>
        <p:nvSpPr>
          <p:cNvPr id="23" name="Text 20"/>
          <p:cNvSpPr/>
          <p:nvPr/>
        </p:nvSpPr>
        <p:spPr>
          <a:xfrm>
            <a:off x="4413809" y="4353382"/>
            <a:ext cx="838048" cy="3104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属地化经营与伙伴协同能力</a:t>
            </a:r>
            <a:endParaRPr lang="en-US" sz="936" dirty="0"/>
          </a:p>
        </p:txBody>
      </p:sp>
      <p:sp>
        <p:nvSpPr>
          <p:cNvPr id="24" name="Text 21"/>
          <p:cNvSpPr/>
          <p:nvPr/>
        </p:nvSpPr>
        <p:spPr>
          <a:xfrm>
            <a:off x="5822442" y="4353382"/>
            <a:ext cx="838048" cy="3104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国别适配与风险应对能力</a:t>
            </a:r>
            <a:endParaRPr lang="en-US" sz="936" dirty="0"/>
          </a:p>
        </p:txBody>
      </p:sp>
      <p:sp>
        <p:nvSpPr>
          <p:cNvPr id="25" name="Text 22"/>
          <p:cNvSpPr/>
          <p:nvPr/>
        </p:nvSpPr>
        <p:spPr>
          <a:xfrm>
            <a:off x="7231075" y="4353382"/>
            <a:ext cx="838048" cy="3104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数据可信与证据管理能力</a:t>
            </a:r>
            <a:endParaRPr lang="en-US" sz="936" dirty="0"/>
          </a:p>
        </p:txBody>
      </p:sp>
      <p:sp>
        <p:nvSpPr>
          <p:cNvPr id="26" name="Text 23"/>
          <p:cNvSpPr/>
          <p:nvPr/>
        </p:nvSpPr>
        <p:spPr>
          <a:xfrm>
            <a:off x="9299448" y="2246833"/>
            <a:ext cx="1818742" cy="1847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企业类型适配</a:t>
            </a:r>
            <a:endParaRPr lang="en-US" sz="1440" dirty="0"/>
          </a:p>
        </p:txBody>
      </p:sp>
      <p:sp>
        <p:nvSpPr>
          <p:cNvPr id="27" name="Text 24"/>
          <p:cNvSpPr/>
          <p:nvPr/>
        </p:nvSpPr>
        <p:spPr>
          <a:xfrm>
            <a:off x="9299448" y="2572055"/>
            <a:ext cx="855878" cy="1626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4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投资运营企业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10226650" y="2572055"/>
            <a:ext cx="855878" cy="1626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4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规划设计企业</a:t>
            </a:r>
            <a:endParaRPr lang="en-US" sz="864" dirty="0"/>
          </a:p>
        </p:txBody>
      </p:sp>
      <p:sp>
        <p:nvSpPr>
          <p:cNvPr id="29" name="Text 26"/>
          <p:cNvSpPr/>
          <p:nvPr/>
        </p:nvSpPr>
        <p:spPr>
          <a:xfrm>
            <a:off x="9299448" y="2801188"/>
            <a:ext cx="855878" cy="1626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4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EPC总承包企业</a:t>
            </a:r>
            <a:endParaRPr lang="en-US" sz="864" dirty="0"/>
          </a:p>
        </p:txBody>
      </p:sp>
      <p:sp>
        <p:nvSpPr>
          <p:cNvPr id="30" name="Text 27"/>
          <p:cNvSpPr/>
          <p:nvPr/>
        </p:nvSpPr>
        <p:spPr>
          <a:xfrm>
            <a:off x="10226650" y="2801188"/>
            <a:ext cx="855878" cy="1626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4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装备制造企业</a:t>
            </a:r>
            <a:endParaRPr lang="en-US" sz="864" dirty="0"/>
          </a:p>
        </p:txBody>
      </p:sp>
      <p:sp>
        <p:nvSpPr>
          <p:cNvPr id="31" name="Text 28"/>
          <p:cNvSpPr/>
          <p:nvPr/>
        </p:nvSpPr>
        <p:spPr>
          <a:xfrm>
            <a:off x="9299448" y="3030322"/>
            <a:ext cx="855878" cy="1626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4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运维服务企业</a:t>
            </a:r>
            <a:endParaRPr lang="en-US" sz="864" dirty="0"/>
          </a:p>
        </p:txBody>
      </p:sp>
      <p:sp>
        <p:nvSpPr>
          <p:cNvPr id="32" name="Text 29"/>
          <p:cNvSpPr/>
          <p:nvPr/>
        </p:nvSpPr>
        <p:spPr>
          <a:xfrm>
            <a:off x="10226650" y="3030322"/>
            <a:ext cx="855878" cy="1626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4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平台集成企业</a:t>
            </a:r>
            <a:endParaRPr lang="en-US" sz="864" dirty="0"/>
          </a:p>
        </p:txBody>
      </p:sp>
      <p:sp>
        <p:nvSpPr>
          <p:cNvPr id="33" name="Text 30"/>
          <p:cNvSpPr/>
          <p:nvPr/>
        </p:nvSpPr>
        <p:spPr>
          <a:xfrm>
            <a:off x="9299448" y="3259455"/>
            <a:ext cx="855878" cy="1626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4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供应链服务企业</a:t>
            </a:r>
            <a:endParaRPr lang="en-US" sz="864" dirty="0"/>
          </a:p>
        </p:txBody>
      </p:sp>
      <p:sp>
        <p:nvSpPr>
          <p:cNvPr id="34" name="Text 31"/>
          <p:cNvSpPr/>
          <p:nvPr/>
        </p:nvSpPr>
        <p:spPr>
          <a:xfrm>
            <a:off x="9299448" y="4050335"/>
            <a:ext cx="1818742" cy="1847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场景适配</a:t>
            </a:r>
            <a:endParaRPr lang="en-US" sz="1440" dirty="0"/>
          </a:p>
        </p:txBody>
      </p:sp>
      <p:sp>
        <p:nvSpPr>
          <p:cNvPr id="35" name="Text 32"/>
          <p:cNvSpPr/>
          <p:nvPr/>
        </p:nvSpPr>
        <p:spPr>
          <a:xfrm>
            <a:off x="9299448" y="4375556"/>
            <a:ext cx="855878" cy="1626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4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基础画像评价</a:t>
            </a:r>
            <a:endParaRPr lang="en-US" sz="864" dirty="0"/>
          </a:p>
        </p:txBody>
      </p:sp>
      <p:sp>
        <p:nvSpPr>
          <p:cNvPr id="36" name="Text 33"/>
          <p:cNvSpPr/>
          <p:nvPr/>
        </p:nvSpPr>
        <p:spPr>
          <a:xfrm>
            <a:off x="10226650" y="4375556"/>
            <a:ext cx="855878" cy="1626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4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投标预审评价</a:t>
            </a:r>
            <a:endParaRPr lang="en-US" sz="864" dirty="0"/>
          </a:p>
        </p:txBody>
      </p:sp>
      <p:sp>
        <p:nvSpPr>
          <p:cNvPr id="37" name="Text 34"/>
          <p:cNvSpPr/>
          <p:nvPr/>
        </p:nvSpPr>
        <p:spPr>
          <a:xfrm>
            <a:off x="9299448" y="4626864"/>
            <a:ext cx="855878" cy="1626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4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融资保险评价</a:t>
            </a:r>
            <a:endParaRPr lang="en-US" sz="864" dirty="0"/>
          </a:p>
        </p:txBody>
      </p:sp>
      <p:sp>
        <p:nvSpPr>
          <p:cNvPr id="38" name="Text 35"/>
          <p:cNvSpPr/>
          <p:nvPr/>
        </p:nvSpPr>
        <p:spPr>
          <a:xfrm>
            <a:off x="10226650" y="4626864"/>
            <a:ext cx="855878" cy="1626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4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供应链准入评价</a:t>
            </a:r>
            <a:endParaRPr lang="en-US" sz="864" dirty="0"/>
          </a:p>
        </p:txBody>
      </p:sp>
      <p:sp>
        <p:nvSpPr>
          <p:cNvPr id="39" name="Text 36"/>
          <p:cNvSpPr/>
          <p:nvPr/>
        </p:nvSpPr>
        <p:spPr>
          <a:xfrm>
            <a:off x="9299448" y="4878172"/>
            <a:ext cx="855878" cy="1626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4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国别适配评价</a:t>
            </a:r>
            <a:endParaRPr lang="en-US" sz="864" dirty="0"/>
          </a:p>
        </p:txBody>
      </p:sp>
      <p:sp>
        <p:nvSpPr>
          <p:cNvPr id="40" name="Text 37"/>
          <p:cNvSpPr/>
          <p:nvPr/>
        </p:nvSpPr>
        <p:spPr>
          <a:xfrm>
            <a:off x="10226650" y="4878172"/>
            <a:ext cx="855878" cy="1626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4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传播展示评价</a:t>
            </a:r>
            <a:endParaRPr lang="en-US" sz="864" dirty="0"/>
          </a:p>
        </p:txBody>
      </p:sp>
      <p:sp>
        <p:nvSpPr>
          <p:cNvPr id="41" name="Text 38"/>
          <p:cNvSpPr/>
          <p:nvPr/>
        </p:nvSpPr>
        <p:spPr>
          <a:xfrm>
            <a:off x="1115111" y="5691226"/>
            <a:ext cx="9896094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96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评价模型不是单一打分表，而是“证据资源 × 能力维度 × 企业类型 × 应用场景”的组合支撑体系。</a:t>
            </a:r>
            <a:endParaRPr lang="en-US" sz="129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overseas capability P7-P8</dc:title>
  <dc:subject>power overseas capability P7-P8</dc:subject>
  <dc:creator>CyberPPT</dc:creator>
  <cp:lastModifiedBy>CyberPPT</cp:lastModifiedBy>
  <cp:revision>1</cp:revision>
  <dcterms:created xsi:type="dcterms:W3CDTF">2026-07-05T06:56:35Z</dcterms:created>
  <dcterms:modified xsi:type="dcterms:W3CDTF">2026-07-05T06:56:35Z</dcterms:modified>
</cp:coreProperties>
</file>