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olumes/DOC/CyberPPT/image2pptx_runs/20260705-110458_page006_dual_image/project/images/normalized/page_006_background_1280x7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67012" y="6858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662487" y="6858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57962" y="6858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67012" y="192405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62487" y="192405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57962" y="192405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67012" y="31623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2487" y="31623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57962" y="31623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039475" y="738188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039475" y="1757362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039475" y="2767013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039475" y="3786188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039475" y="4795837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039475" y="5815013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2450" y="171450"/>
            <a:ext cx="65722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数据基础</a:t>
            </a:r>
            <a:endParaRPr lang="en-US" sz="986" dirty="0"/>
          </a:p>
        </p:txBody>
      </p:sp>
      <p:sp>
        <p:nvSpPr>
          <p:cNvPr id="19" name="Text 16"/>
          <p:cNvSpPr/>
          <p:nvPr/>
        </p:nvSpPr>
        <p:spPr>
          <a:xfrm>
            <a:off x="561975" y="342900"/>
            <a:ext cx="65722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9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（多源汇聚）</a:t>
            </a:r>
            <a:endParaRPr lang="en-US" sz="759" dirty="0"/>
          </a:p>
        </p:txBody>
      </p:sp>
      <p:sp>
        <p:nvSpPr>
          <p:cNvPr id="20" name="Text 17"/>
          <p:cNvSpPr/>
          <p:nvPr/>
        </p:nvSpPr>
        <p:spPr>
          <a:xfrm>
            <a:off x="657225" y="733425"/>
            <a:ext cx="6477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企业/业务数据</a:t>
            </a:r>
            <a:endParaRPr lang="en-US" sz="684" dirty="0"/>
          </a:p>
        </p:txBody>
      </p:sp>
      <p:sp>
        <p:nvSpPr>
          <p:cNvPr id="21" name="Text 18"/>
          <p:cNvSpPr/>
          <p:nvPr/>
        </p:nvSpPr>
        <p:spPr>
          <a:xfrm>
            <a:off x="762000" y="942975"/>
            <a:ext cx="6191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经营管理数据</a:t>
            </a:r>
            <a:endParaRPr lang="en-US" sz="580" dirty="0"/>
          </a:p>
        </p:txBody>
      </p:sp>
      <p:sp>
        <p:nvSpPr>
          <p:cNvPr id="22" name="Text 19"/>
          <p:cNvSpPr/>
          <p:nvPr/>
        </p:nvSpPr>
        <p:spPr>
          <a:xfrm>
            <a:off x="676275" y="938213"/>
            <a:ext cx="3810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560" dirty="0"/>
          </a:p>
        </p:txBody>
      </p:sp>
      <p:sp>
        <p:nvSpPr>
          <p:cNvPr id="23" name="Text 20"/>
          <p:cNvSpPr/>
          <p:nvPr/>
        </p:nvSpPr>
        <p:spPr>
          <a:xfrm>
            <a:off x="762000" y="1123950"/>
            <a:ext cx="6096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项目执行数据</a:t>
            </a:r>
            <a:endParaRPr lang="en-US" sz="580" dirty="0"/>
          </a:p>
        </p:txBody>
      </p:sp>
      <p:sp>
        <p:nvSpPr>
          <p:cNvPr id="24" name="Text 21"/>
          <p:cNvSpPr/>
          <p:nvPr/>
        </p:nvSpPr>
        <p:spPr>
          <a:xfrm>
            <a:off x="676275" y="1119188"/>
            <a:ext cx="3810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560" dirty="0"/>
          </a:p>
        </p:txBody>
      </p:sp>
      <p:sp>
        <p:nvSpPr>
          <p:cNvPr id="25" name="Text 22"/>
          <p:cNvSpPr/>
          <p:nvPr/>
        </p:nvSpPr>
        <p:spPr>
          <a:xfrm>
            <a:off x="762000" y="1304925"/>
            <a:ext cx="6096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合同订单数据</a:t>
            </a:r>
            <a:endParaRPr lang="en-US" sz="580" dirty="0"/>
          </a:p>
        </p:txBody>
      </p:sp>
      <p:sp>
        <p:nvSpPr>
          <p:cNvPr id="26" name="Text 23"/>
          <p:cNvSpPr/>
          <p:nvPr/>
        </p:nvSpPr>
        <p:spPr>
          <a:xfrm>
            <a:off x="676275" y="1300163"/>
            <a:ext cx="3810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560" dirty="0"/>
          </a:p>
        </p:txBody>
      </p:sp>
      <p:sp>
        <p:nvSpPr>
          <p:cNvPr id="27" name="Text 24"/>
          <p:cNvSpPr/>
          <p:nvPr/>
        </p:nvSpPr>
        <p:spPr>
          <a:xfrm>
            <a:off x="762000" y="1457325"/>
            <a:ext cx="70485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绩效与指标数据</a:t>
            </a:r>
            <a:endParaRPr lang="en-US" sz="638" dirty="0"/>
          </a:p>
        </p:txBody>
      </p:sp>
      <p:sp>
        <p:nvSpPr>
          <p:cNvPr id="28" name="Text 25"/>
          <p:cNvSpPr/>
          <p:nvPr/>
        </p:nvSpPr>
        <p:spPr>
          <a:xfrm>
            <a:off x="676275" y="14525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29" name="Text 26"/>
          <p:cNvSpPr/>
          <p:nvPr/>
        </p:nvSpPr>
        <p:spPr>
          <a:xfrm>
            <a:off x="762000" y="1609725"/>
            <a:ext cx="26670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520" dirty="0"/>
          </a:p>
        </p:txBody>
      </p:sp>
      <p:sp>
        <p:nvSpPr>
          <p:cNvPr id="30" name="Text 27"/>
          <p:cNvSpPr/>
          <p:nvPr/>
        </p:nvSpPr>
        <p:spPr>
          <a:xfrm>
            <a:off x="657225" y="1933575"/>
            <a:ext cx="6477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内部职能数据</a:t>
            </a:r>
            <a:endParaRPr lang="en-US" sz="748" dirty="0"/>
          </a:p>
        </p:txBody>
      </p:sp>
      <p:sp>
        <p:nvSpPr>
          <p:cNvPr id="31" name="Text 28"/>
          <p:cNvSpPr/>
          <p:nvPr/>
        </p:nvSpPr>
        <p:spPr>
          <a:xfrm>
            <a:off x="762000" y="2162175"/>
            <a:ext cx="61912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人力资源数据</a:t>
            </a:r>
            <a:endParaRPr lang="en-US" sz="638" dirty="0"/>
          </a:p>
        </p:txBody>
      </p:sp>
      <p:sp>
        <p:nvSpPr>
          <p:cNvPr id="32" name="Text 29"/>
          <p:cNvSpPr/>
          <p:nvPr/>
        </p:nvSpPr>
        <p:spPr>
          <a:xfrm>
            <a:off x="676275" y="21574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33" name="Text 30"/>
          <p:cNvSpPr/>
          <p:nvPr/>
        </p:nvSpPr>
        <p:spPr>
          <a:xfrm>
            <a:off x="762000" y="2324100"/>
            <a:ext cx="61912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财务管理数据</a:t>
            </a:r>
            <a:endParaRPr lang="en-US" sz="638" dirty="0"/>
          </a:p>
        </p:txBody>
      </p:sp>
      <p:sp>
        <p:nvSpPr>
          <p:cNvPr id="34" name="Text 31"/>
          <p:cNvSpPr/>
          <p:nvPr/>
        </p:nvSpPr>
        <p:spPr>
          <a:xfrm>
            <a:off x="676275" y="23193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35" name="Text 32"/>
          <p:cNvSpPr/>
          <p:nvPr/>
        </p:nvSpPr>
        <p:spPr>
          <a:xfrm>
            <a:off x="762000" y="2495550"/>
            <a:ext cx="61912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法务合规数据</a:t>
            </a:r>
            <a:endParaRPr lang="en-US" sz="638" dirty="0"/>
          </a:p>
        </p:txBody>
      </p:sp>
      <p:sp>
        <p:nvSpPr>
          <p:cNvPr id="36" name="Text 33"/>
          <p:cNvSpPr/>
          <p:nvPr/>
        </p:nvSpPr>
        <p:spPr>
          <a:xfrm>
            <a:off x="676275" y="249078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37" name="Text 34"/>
          <p:cNvSpPr/>
          <p:nvPr/>
        </p:nvSpPr>
        <p:spPr>
          <a:xfrm>
            <a:off x="762000" y="2647950"/>
            <a:ext cx="70485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采购供应链数据</a:t>
            </a:r>
            <a:endParaRPr lang="en-US" sz="638" dirty="0"/>
          </a:p>
        </p:txBody>
      </p:sp>
      <p:sp>
        <p:nvSpPr>
          <p:cNvPr id="38" name="Text 35"/>
          <p:cNvSpPr/>
          <p:nvPr/>
        </p:nvSpPr>
        <p:spPr>
          <a:xfrm>
            <a:off x="676275" y="26431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39" name="Text 36"/>
          <p:cNvSpPr/>
          <p:nvPr/>
        </p:nvSpPr>
        <p:spPr>
          <a:xfrm>
            <a:off x="762000" y="2819400"/>
            <a:ext cx="26670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520" dirty="0"/>
          </a:p>
        </p:txBody>
      </p:sp>
      <p:sp>
        <p:nvSpPr>
          <p:cNvPr id="40" name="Text 37"/>
          <p:cNvSpPr/>
          <p:nvPr/>
        </p:nvSpPr>
        <p:spPr>
          <a:xfrm>
            <a:off x="657225" y="3152775"/>
            <a:ext cx="6477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外部公共数据</a:t>
            </a:r>
            <a:endParaRPr lang="en-US" sz="748" dirty="0"/>
          </a:p>
        </p:txBody>
      </p:sp>
      <p:sp>
        <p:nvSpPr>
          <p:cNvPr id="41" name="Text 38"/>
          <p:cNvSpPr/>
          <p:nvPr/>
        </p:nvSpPr>
        <p:spPr>
          <a:xfrm>
            <a:off x="762000" y="3381375"/>
            <a:ext cx="61912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工商税务数据</a:t>
            </a:r>
            <a:endParaRPr lang="en-US" sz="638" dirty="0"/>
          </a:p>
        </p:txBody>
      </p:sp>
      <p:sp>
        <p:nvSpPr>
          <p:cNvPr id="42" name="Text 39"/>
          <p:cNvSpPr/>
          <p:nvPr/>
        </p:nvSpPr>
        <p:spPr>
          <a:xfrm>
            <a:off x="676275" y="33766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43" name="Text 40"/>
          <p:cNvSpPr/>
          <p:nvPr/>
        </p:nvSpPr>
        <p:spPr>
          <a:xfrm>
            <a:off x="762000" y="3543300"/>
            <a:ext cx="63817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信用/司法数据</a:t>
            </a:r>
            <a:endParaRPr lang="en-US" sz="638" dirty="0"/>
          </a:p>
        </p:txBody>
      </p:sp>
      <p:sp>
        <p:nvSpPr>
          <p:cNvPr id="44" name="Text 41"/>
          <p:cNvSpPr/>
          <p:nvPr/>
        </p:nvSpPr>
        <p:spPr>
          <a:xfrm>
            <a:off x="676275" y="35385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45" name="Text 42"/>
          <p:cNvSpPr/>
          <p:nvPr/>
        </p:nvSpPr>
        <p:spPr>
          <a:xfrm>
            <a:off x="762000" y="3705225"/>
            <a:ext cx="79057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进出口与海关数据</a:t>
            </a:r>
            <a:endParaRPr lang="en-US" sz="638" dirty="0"/>
          </a:p>
        </p:txBody>
      </p:sp>
      <p:sp>
        <p:nvSpPr>
          <p:cNvPr id="46" name="Text 43"/>
          <p:cNvSpPr/>
          <p:nvPr/>
        </p:nvSpPr>
        <p:spPr>
          <a:xfrm>
            <a:off x="676275" y="37004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47" name="Text 44"/>
          <p:cNvSpPr/>
          <p:nvPr/>
        </p:nvSpPr>
        <p:spPr>
          <a:xfrm>
            <a:off x="762000" y="3867150"/>
            <a:ext cx="61912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宏观经济数据</a:t>
            </a:r>
            <a:endParaRPr lang="en-US" sz="638" dirty="0"/>
          </a:p>
        </p:txBody>
      </p:sp>
      <p:sp>
        <p:nvSpPr>
          <p:cNvPr id="48" name="Text 45"/>
          <p:cNvSpPr/>
          <p:nvPr/>
        </p:nvSpPr>
        <p:spPr>
          <a:xfrm>
            <a:off x="676275" y="386238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49" name="Text 46"/>
          <p:cNvSpPr/>
          <p:nvPr/>
        </p:nvSpPr>
        <p:spPr>
          <a:xfrm>
            <a:off x="762000" y="4038600"/>
            <a:ext cx="26670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520" dirty="0"/>
          </a:p>
        </p:txBody>
      </p:sp>
      <p:sp>
        <p:nvSpPr>
          <p:cNvPr id="50" name="Text 47"/>
          <p:cNvSpPr/>
          <p:nvPr/>
        </p:nvSpPr>
        <p:spPr>
          <a:xfrm>
            <a:off x="590550" y="4371975"/>
            <a:ext cx="78105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7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外部专业机构数据</a:t>
            </a:r>
            <a:endParaRPr lang="en-US" sz="677" dirty="0"/>
          </a:p>
        </p:txBody>
      </p:sp>
      <p:sp>
        <p:nvSpPr>
          <p:cNvPr id="51" name="Text 48"/>
          <p:cNvSpPr/>
          <p:nvPr/>
        </p:nvSpPr>
        <p:spPr>
          <a:xfrm>
            <a:off x="762000" y="4600575"/>
            <a:ext cx="61912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评级评估数据</a:t>
            </a:r>
            <a:endParaRPr lang="en-US" sz="638" dirty="0"/>
          </a:p>
        </p:txBody>
      </p:sp>
      <p:sp>
        <p:nvSpPr>
          <p:cNvPr id="52" name="Text 49"/>
          <p:cNvSpPr/>
          <p:nvPr/>
        </p:nvSpPr>
        <p:spPr>
          <a:xfrm>
            <a:off x="676275" y="4595812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53" name="Text 50"/>
          <p:cNvSpPr/>
          <p:nvPr/>
        </p:nvSpPr>
        <p:spPr>
          <a:xfrm>
            <a:off x="762000" y="4762500"/>
            <a:ext cx="61912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行业基准数据</a:t>
            </a:r>
            <a:endParaRPr lang="en-US" sz="638" dirty="0"/>
          </a:p>
        </p:txBody>
      </p:sp>
      <p:sp>
        <p:nvSpPr>
          <p:cNvPr id="54" name="Text 51"/>
          <p:cNvSpPr/>
          <p:nvPr/>
        </p:nvSpPr>
        <p:spPr>
          <a:xfrm>
            <a:off x="676275" y="47577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55" name="Text 52"/>
          <p:cNvSpPr/>
          <p:nvPr/>
        </p:nvSpPr>
        <p:spPr>
          <a:xfrm>
            <a:off x="762000" y="4924425"/>
            <a:ext cx="80962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ESG/HSE评估数据</a:t>
            </a:r>
            <a:endParaRPr lang="en-US" sz="638" dirty="0"/>
          </a:p>
        </p:txBody>
      </p:sp>
      <p:sp>
        <p:nvSpPr>
          <p:cNvPr id="56" name="Text 53"/>
          <p:cNvSpPr/>
          <p:nvPr/>
        </p:nvSpPr>
        <p:spPr>
          <a:xfrm>
            <a:off x="676275" y="49196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57" name="Text 54"/>
          <p:cNvSpPr/>
          <p:nvPr/>
        </p:nvSpPr>
        <p:spPr>
          <a:xfrm>
            <a:off x="762000" y="5095875"/>
            <a:ext cx="61912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风险情报数据</a:t>
            </a:r>
            <a:endParaRPr lang="en-US" sz="638" dirty="0"/>
          </a:p>
        </p:txBody>
      </p:sp>
      <p:sp>
        <p:nvSpPr>
          <p:cNvPr id="58" name="Text 55"/>
          <p:cNvSpPr/>
          <p:nvPr/>
        </p:nvSpPr>
        <p:spPr>
          <a:xfrm>
            <a:off x="676275" y="50911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59" name="Text 56"/>
          <p:cNvSpPr/>
          <p:nvPr/>
        </p:nvSpPr>
        <p:spPr>
          <a:xfrm>
            <a:off x="762000" y="5257800"/>
            <a:ext cx="26670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520" dirty="0"/>
          </a:p>
        </p:txBody>
      </p:sp>
      <p:sp>
        <p:nvSpPr>
          <p:cNvPr id="60" name="Text 57"/>
          <p:cNvSpPr/>
          <p:nvPr/>
        </p:nvSpPr>
        <p:spPr>
          <a:xfrm>
            <a:off x="3705225" y="171450"/>
            <a:ext cx="340042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核心能力评估空间（评估模型与能力引擎）</a:t>
            </a:r>
            <a:endParaRPr lang="en-US" sz="1044" dirty="0"/>
          </a:p>
        </p:txBody>
      </p:sp>
      <p:sp>
        <p:nvSpPr>
          <p:cNvPr id="61" name="Text 58"/>
          <p:cNvSpPr/>
          <p:nvPr/>
        </p:nvSpPr>
        <p:spPr>
          <a:xfrm>
            <a:off x="2767012" y="6953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720" dirty="0"/>
          </a:p>
        </p:txBody>
      </p:sp>
      <p:sp>
        <p:nvSpPr>
          <p:cNvPr id="62" name="Text 59"/>
          <p:cNvSpPr/>
          <p:nvPr/>
        </p:nvSpPr>
        <p:spPr>
          <a:xfrm>
            <a:off x="3209925" y="723900"/>
            <a:ext cx="5619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目录管理</a:t>
            </a:r>
            <a:endParaRPr lang="en-US" sz="812" dirty="0"/>
          </a:p>
        </p:txBody>
      </p:sp>
      <p:sp>
        <p:nvSpPr>
          <p:cNvPr id="63" name="Text 60"/>
          <p:cNvSpPr/>
          <p:nvPr/>
        </p:nvSpPr>
        <p:spPr>
          <a:xfrm>
            <a:off x="3305175" y="1009650"/>
            <a:ext cx="70485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指标/能力目录</a:t>
            </a:r>
            <a:endParaRPr lang="en-US" sz="638" dirty="0"/>
          </a:p>
        </p:txBody>
      </p:sp>
      <p:sp>
        <p:nvSpPr>
          <p:cNvPr id="64" name="Text 61"/>
          <p:cNvSpPr/>
          <p:nvPr/>
        </p:nvSpPr>
        <p:spPr>
          <a:xfrm>
            <a:off x="3219450" y="10048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65" name="Text 62"/>
          <p:cNvSpPr/>
          <p:nvPr/>
        </p:nvSpPr>
        <p:spPr>
          <a:xfrm>
            <a:off x="3305175" y="1200150"/>
            <a:ext cx="70485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评估维度管理</a:t>
            </a:r>
            <a:endParaRPr lang="en-US" sz="638" dirty="0"/>
          </a:p>
        </p:txBody>
      </p:sp>
      <p:sp>
        <p:nvSpPr>
          <p:cNvPr id="66" name="Text 63"/>
          <p:cNvSpPr/>
          <p:nvPr/>
        </p:nvSpPr>
        <p:spPr>
          <a:xfrm>
            <a:off x="3219450" y="119538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67" name="Text 64"/>
          <p:cNvSpPr/>
          <p:nvPr/>
        </p:nvSpPr>
        <p:spPr>
          <a:xfrm>
            <a:off x="3305175" y="1390650"/>
            <a:ext cx="79057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分类与标签管理</a:t>
            </a:r>
            <a:endParaRPr lang="en-US" sz="638" dirty="0"/>
          </a:p>
        </p:txBody>
      </p:sp>
      <p:sp>
        <p:nvSpPr>
          <p:cNvPr id="68" name="Text 65"/>
          <p:cNvSpPr/>
          <p:nvPr/>
        </p:nvSpPr>
        <p:spPr>
          <a:xfrm>
            <a:off x="3219450" y="13858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69" name="Text 66"/>
          <p:cNvSpPr/>
          <p:nvPr/>
        </p:nvSpPr>
        <p:spPr>
          <a:xfrm>
            <a:off x="3305175" y="1571625"/>
            <a:ext cx="70485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目录版本管理</a:t>
            </a:r>
            <a:endParaRPr lang="en-US" sz="638" dirty="0"/>
          </a:p>
        </p:txBody>
      </p:sp>
      <p:sp>
        <p:nvSpPr>
          <p:cNvPr id="70" name="Text 67"/>
          <p:cNvSpPr/>
          <p:nvPr/>
        </p:nvSpPr>
        <p:spPr>
          <a:xfrm>
            <a:off x="3219450" y="1566862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71" name="Text 68"/>
          <p:cNvSpPr/>
          <p:nvPr/>
        </p:nvSpPr>
        <p:spPr>
          <a:xfrm>
            <a:off x="4662487" y="6953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5095875" y="723900"/>
            <a:ext cx="5619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身份认证</a:t>
            </a:r>
            <a:endParaRPr lang="en-US" sz="812" dirty="0"/>
          </a:p>
        </p:txBody>
      </p:sp>
      <p:sp>
        <p:nvSpPr>
          <p:cNvPr id="73" name="Text 70"/>
          <p:cNvSpPr/>
          <p:nvPr/>
        </p:nvSpPr>
        <p:spPr>
          <a:xfrm>
            <a:off x="5238750" y="1009650"/>
            <a:ext cx="60960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主体身份管理</a:t>
            </a:r>
            <a:endParaRPr lang="en-US" sz="638" dirty="0"/>
          </a:p>
        </p:txBody>
      </p:sp>
      <p:sp>
        <p:nvSpPr>
          <p:cNvPr id="74" name="Text 71"/>
          <p:cNvSpPr/>
          <p:nvPr/>
        </p:nvSpPr>
        <p:spPr>
          <a:xfrm>
            <a:off x="5153025" y="10048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75" name="Text 72"/>
          <p:cNvSpPr/>
          <p:nvPr/>
        </p:nvSpPr>
        <p:spPr>
          <a:xfrm>
            <a:off x="5238750" y="1200150"/>
            <a:ext cx="60960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人员身份管理</a:t>
            </a:r>
            <a:endParaRPr lang="en-US" sz="638" dirty="0"/>
          </a:p>
        </p:txBody>
      </p:sp>
      <p:sp>
        <p:nvSpPr>
          <p:cNvPr id="76" name="Text 73"/>
          <p:cNvSpPr/>
          <p:nvPr/>
        </p:nvSpPr>
        <p:spPr>
          <a:xfrm>
            <a:off x="5153025" y="119538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77" name="Text 74"/>
          <p:cNvSpPr/>
          <p:nvPr/>
        </p:nvSpPr>
        <p:spPr>
          <a:xfrm>
            <a:off x="5238750" y="1390650"/>
            <a:ext cx="60960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可信身份校验</a:t>
            </a:r>
            <a:endParaRPr lang="en-US" sz="638" dirty="0"/>
          </a:p>
        </p:txBody>
      </p:sp>
      <p:sp>
        <p:nvSpPr>
          <p:cNvPr id="78" name="Text 75"/>
          <p:cNvSpPr/>
          <p:nvPr/>
        </p:nvSpPr>
        <p:spPr>
          <a:xfrm>
            <a:off x="5153025" y="13858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79" name="Text 76"/>
          <p:cNvSpPr/>
          <p:nvPr/>
        </p:nvSpPr>
        <p:spPr>
          <a:xfrm>
            <a:off x="5238750" y="1571625"/>
            <a:ext cx="60960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认证策略配置</a:t>
            </a:r>
            <a:endParaRPr lang="en-US" sz="638" dirty="0"/>
          </a:p>
        </p:txBody>
      </p:sp>
      <p:sp>
        <p:nvSpPr>
          <p:cNvPr id="80" name="Text 77"/>
          <p:cNvSpPr/>
          <p:nvPr/>
        </p:nvSpPr>
        <p:spPr>
          <a:xfrm>
            <a:off x="5153025" y="1566862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81" name="Text 78"/>
          <p:cNvSpPr/>
          <p:nvPr/>
        </p:nvSpPr>
        <p:spPr>
          <a:xfrm>
            <a:off x="6557962" y="6953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7029450" y="723900"/>
            <a:ext cx="5619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授权控制</a:t>
            </a:r>
            <a:endParaRPr lang="en-US" sz="812" dirty="0"/>
          </a:p>
        </p:txBody>
      </p:sp>
      <p:sp>
        <p:nvSpPr>
          <p:cNvPr id="83" name="Text 80"/>
          <p:cNvSpPr/>
          <p:nvPr/>
        </p:nvSpPr>
        <p:spPr>
          <a:xfrm>
            <a:off x="7162800" y="1009650"/>
            <a:ext cx="60960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数据资源授权</a:t>
            </a:r>
            <a:endParaRPr lang="en-US" sz="638" dirty="0"/>
          </a:p>
        </p:txBody>
      </p:sp>
      <p:sp>
        <p:nvSpPr>
          <p:cNvPr id="84" name="Text 81"/>
          <p:cNvSpPr/>
          <p:nvPr/>
        </p:nvSpPr>
        <p:spPr>
          <a:xfrm>
            <a:off x="7077075" y="10048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85" name="Text 82"/>
          <p:cNvSpPr/>
          <p:nvPr/>
        </p:nvSpPr>
        <p:spPr>
          <a:xfrm>
            <a:off x="7162800" y="1200150"/>
            <a:ext cx="60960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能力访问授权</a:t>
            </a:r>
            <a:endParaRPr lang="en-US" sz="638" dirty="0"/>
          </a:p>
        </p:txBody>
      </p:sp>
      <p:sp>
        <p:nvSpPr>
          <p:cNvPr id="86" name="Text 83"/>
          <p:cNvSpPr/>
          <p:nvPr/>
        </p:nvSpPr>
        <p:spPr>
          <a:xfrm>
            <a:off x="7077075" y="119538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87" name="Text 84"/>
          <p:cNvSpPr/>
          <p:nvPr/>
        </p:nvSpPr>
        <p:spPr>
          <a:xfrm>
            <a:off x="7162800" y="1390650"/>
            <a:ext cx="60960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角色权限管理</a:t>
            </a:r>
            <a:endParaRPr lang="en-US" sz="638" dirty="0"/>
          </a:p>
        </p:txBody>
      </p:sp>
      <p:sp>
        <p:nvSpPr>
          <p:cNvPr id="88" name="Text 85"/>
          <p:cNvSpPr/>
          <p:nvPr/>
        </p:nvSpPr>
        <p:spPr>
          <a:xfrm>
            <a:off x="7077075" y="13858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89" name="Text 86"/>
          <p:cNvSpPr/>
          <p:nvPr/>
        </p:nvSpPr>
        <p:spPr>
          <a:xfrm>
            <a:off x="7162800" y="1571625"/>
            <a:ext cx="60960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授权策略管理</a:t>
            </a:r>
            <a:endParaRPr lang="en-US" sz="638" dirty="0"/>
          </a:p>
        </p:txBody>
      </p:sp>
      <p:sp>
        <p:nvSpPr>
          <p:cNvPr id="90" name="Text 87"/>
          <p:cNvSpPr/>
          <p:nvPr/>
        </p:nvSpPr>
        <p:spPr>
          <a:xfrm>
            <a:off x="7077075" y="1566862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91" name="Text 88"/>
          <p:cNvSpPr/>
          <p:nvPr/>
        </p:nvSpPr>
        <p:spPr>
          <a:xfrm>
            <a:off x="2767012" y="193357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20" dirty="0"/>
          </a:p>
        </p:txBody>
      </p:sp>
      <p:sp>
        <p:nvSpPr>
          <p:cNvPr id="92" name="Text 89"/>
          <p:cNvSpPr/>
          <p:nvPr/>
        </p:nvSpPr>
        <p:spPr>
          <a:xfrm>
            <a:off x="3209925" y="1952625"/>
            <a:ext cx="5619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规则调用</a:t>
            </a:r>
            <a:endParaRPr lang="en-US" sz="812" dirty="0"/>
          </a:p>
        </p:txBody>
      </p:sp>
      <p:sp>
        <p:nvSpPr>
          <p:cNvPr id="93" name="Text 90"/>
          <p:cNvSpPr/>
          <p:nvPr/>
        </p:nvSpPr>
        <p:spPr>
          <a:xfrm>
            <a:off x="3305175" y="2238375"/>
            <a:ext cx="70485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评估规则引擎</a:t>
            </a:r>
            <a:endParaRPr lang="en-US" sz="638" dirty="0"/>
          </a:p>
        </p:txBody>
      </p:sp>
      <p:sp>
        <p:nvSpPr>
          <p:cNvPr id="94" name="Text 91"/>
          <p:cNvSpPr/>
          <p:nvPr/>
        </p:nvSpPr>
        <p:spPr>
          <a:xfrm>
            <a:off x="3219450" y="22336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95" name="Text 92"/>
          <p:cNvSpPr/>
          <p:nvPr/>
        </p:nvSpPr>
        <p:spPr>
          <a:xfrm>
            <a:off x="3305175" y="2419350"/>
            <a:ext cx="70485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评分算法管理</a:t>
            </a:r>
            <a:endParaRPr lang="en-US" sz="638" dirty="0"/>
          </a:p>
        </p:txBody>
      </p:sp>
      <p:sp>
        <p:nvSpPr>
          <p:cNvPr id="96" name="Text 93"/>
          <p:cNvSpPr/>
          <p:nvPr/>
        </p:nvSpPr>
        <p:spPr>
          <a:xfrm>
            <a:off x="3219450" y="24145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97" name="Text 94"/>
          <p:cNvSpPr/>
          <p:nvPr/>
        </p:nvSpPr>
        <p:spPr>
          <a:xfrm>
            <a:off x="3305175" y="2609850"/>
            <a:ext cx="70485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规则版本管理</a:t>
            </a:r>
            <a:endParaRPr lang="en-US" sz="638" dirty="0"/>
          </a:p>
        </p:txBody>
      </p:sp>
      <p:sp>
        <p:nvSpPr>
          <p:cNvPr id="98" name="Text 95"/>
          <p:cNvSpPr/>
          <p:nvPr/>
        </p:nvSpPr>
        <p:spPr>
          <a:xfrm>
            <a:off x="3219450" y="260508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99" name="Text 96"/>
          <p:cNvSpPr/>
          <p:nvPr/>
        </p:nvSpPr>
        <p:spPr>
          <a:xfrm>
            <a:off x="3305175" y="2790825"/>
            <a:ext cx="70485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规则执行日志</a:t>
            </a:r>
            <a:endParaRPr lang="en-US" sz="638" dirty="0"/>
          </a:p>
        </p:txBody>
      </p:sp>
      <p:sp>
        <p:nvSpPr>
          <p:cNvPr id="100" name="Text 97"/>
          <p:cNvSpPr/>
          <p:nvPr/>
        </p:nvSpPr>
        <p:spPr>
          <a:xfrm>
            <a:off x="3219450" y="27860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101" name="Text 98"/>
          <p:cNvSpPr/>
          <p:nvPr/>
        </p:nvSpPr>
        <p:spPr>
          <a:xfrm>
            <a:off x="4662487" y="193357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720" dirty="0"/>
          </a:p>
        </p:txBody>
      </p:sp>
      <p:sp>
        <p:nvSpPr>
          <p:cNvPr id="102" name="Text 99"/>
          <p:cNvSpPr/>
          <p:nvPr/>
        </p:nvSpPr>
        <p:spPr>
          <a:xfrm>
            <a:off x="5095875" y="1952625"/>
            <a:ext cx="5619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证据管理</a:t>
            </a:r>
            <a:endParaRPr lang="en-US" sz="812" dirty="0"/>
          </a:p>
        </p:txBody>
      </p:sp>
      <p:sp>
        <p:nvSpPr>
          <p:cNvPr id="103" name="Text 100"/>
          <p:cNvSpPr/>
          <p:nvPr/>
        </p:nvSpPr>
        <p:spPr>
          <a:xfrm>
            <a:off x="5238750" y="2238375"/>
            <a:ext cx="70485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证据采集接入</a:t>
            </a:r>
            <a:endParaRPr lang="en-US" sz="638" dirty="0"/>
          </a:p>
        </p:txBody>
      </p:sp>
      <p:sp>
        <p:nvSpPr>
          <p:cNvPr id="104" name="Text 101"/>
          <p:cNvSpPr/>
          <p:nvPr/>
        </p:nvSpPr>
        <p:spPr>
          <a:xfrm>
            <a:off x="5153025" y="22336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105" name="Text 102"/>
          <p:cNvSpPr/>
          <p:nvPr/>
        </p:nvSpPr>
        <p:spPr>
          <a:xfrm>
            <a:off x="5238750" y="2419350"/>
            <a:ext cx="60960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证据标准化</a:t>
            </a:r>
            <a:endParaRPr lang="en-US" sz="638" dirty="0"/>
          </a:p>
        </p:txBody>
      </p:sp>
      <p:sp>
        <p:nvSpPr>
          <p:cNvPr id="106" name="Text 103"/>
          <p:cNvSpPr/>
          <p:nvPr/>
        </p:nvSpPr>
        <p:spPr>
          <a:xfrm>
            <a:off x="5153025" y="24145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107" name="Text 104"/>
          <p:cNvSpPr/>
          <p:nvPr/>
        </p:nvSpPr>
        <p:spPr>
          <a:xfrm>
            <a:off x="5238750" y="2609850"/>
            <a:ext cx="70485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证据质量校验</a:t>
            </a:r>
            <a:endParaRPr lang="en-US" sz="638" dirty="0"/>
          </a:p>
        </p:txBody>
      </p:sp>
      <p:sp>
        <p:nvSpPr>
          <p:cNvPr id="108" name="Text 105"/>
          <p:cNvSpPr/>
          <p:nvPr/>
        </p:nvSpPr>
        <p:spPr>
          <a:xfrm>
            <a:off x="5153025" y="260508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109" name="Text 106"/>
          <p:cNvSpPr/>
          <p:nvPr/>
        </p:nvSpPr>
        <p:spPr>
          <a:xfrm>
            <a:off x="5238750" y="2790825"/>
            <a:ext cx="70485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证据关联映射</a:t>
            </a:r>
            <a:endParaRPr lang="en-US" sz="638" dirty="0"/>
          </a:p>
        </p:txBody>
      </p:sp>
      <p:sp>
        <p:nvSpPr>
          <p:cNvPr id="110" name="Text 107"/>
          <p:cNvSpPr/>
          <p:nvPr/>
        </p:nvSpPr>
        <p:spPr>
          <a:xfrm>
            <a:off x="5153025" y="27860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111" name="Text 108"/>
          <p:cNvSpPr/>
          <p:nvPr/>
        </p:nvSpPr>
        <p:spPr>
          <a:xfrm>
            <a:off x="6557962" y="193357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720" dirty="0"/>
          </a:p>
        </p:txBody>
      </p:sp>
      <p:sp>
        <p:nvSpPr>
          <p:cNvPr id="112" name="Text 109"/>
          <p:cNvSpPr/>
          <p:nvPr/>
        </p:nvSpPr>
        <p:spPr>
          <a:xfrm>
            <a:off x="7029450" y="1952625"/>
            <a:ext cx="5619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能力评估</a:t>
            </a:r>
            <a:endParaRPr lang="en-US" sz="812" dirty="0"/>
          </a:p>
        </p:txBody>
      </p:sp>
      <p:sp>
        <p:nvSpPr>
          <p:cNvPr id="113" name="Text 110"/>
          <p:cNvSpPr/>
          <p:nvPr/>
        </p:nvSpPr>
        <p:spPr>
          <a:xfrm>
            <a:off x="7162800" y="2238375"/>
            <a:ext cx="60960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能力评分计算</a:t>
            </a:r>
            <a:endParaRPr lang="en-US" sz="638" dirty="0"/>
          </a:p>
        </p:txBody>
      </p:sp>
      <p:sp>
        <p:nvSpPr>
          <p:cNvPr id="114" name="Text 111"/>
          <p:cNvSpPr/>
          <p:nvPr/>
        </p:nvSpPr>
        <p:spPr>
          <a:xfrm>
            <a:off x="7077075" y="22336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115" name="Text 112"/>
          <p:cNvSpPr/>
          <p:nvPr/>
        </p:nvSpPr>
        <p:spPr>
          <a:xfrm>
            <a:off x="7162800" y="2419350"/>
            <a:ext cx="70485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维度权重配置</a:t>
            </a:r>
            <a:endParaRPr lang="en-US" sz="638" dirty="0"/>
          </a:p>
        </p:txBody>
      </p:sp>
      <p:sp>
        <p:nvSpPr>
          <p:cNvPr id="116" name="Text 113"/>
          <p:cNvSpPr/>
          <p:nvPr/>
        </p:nvSpPr>
        <p:spPr>
          <a:xfrm>
            <a:off x="7077075" y="24145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117" name="Text 114"/>
          <p:cNvSpPr/>
          <p:nvPr/>
        </p:nvSpPr>
        <p:spPr>
          <a:xfrm>
            <a:off x="7162800" y="2609850"/>
            <a:ext cx="70485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评估结果校验</a:t>
            </a:r>
            <a:endParaRPr lang="en-US" sz="638" dirty="0"/>
          </a:p>
        </p:txBody>
      </p:sp>
      <p:sp>
        <p:nvSpPr>
          <p:cNvPr id="118" name="Text 115"/>
          <p:cNvSpPr/>
          <p:nvPr/>
        </p:nvSpPr>
        <p:spPr>
          <a:xfrm>
            <a:off x="7077075" y="260508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119" name="Text 116"/>
          <p:cNvSpPr/>
          <p:nvPr/>
        </p:nvSpPr>
        <p:spPr>
          <a:xfrm>
            <a:off x="7162800" y="2790825"/>
            <a:ext cx="60960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敏感项校验</a:t>
            </a:r>
            <a:endParaRPr lang="en-US" sz="638" dirty="0"/>
          </a:p>
        </p:txBody>
      </p:sp>
      <p:sp>
        <p:nvSpPr>
          <p:cNvPr id="120" name="Text 117"/>
          <p:cNvSpPr/>
          <p:nvPr/>
        </p:nvSpPr>
        <p:spPr>
          <a:xfrm>
            <a:off x="7077075" y="27860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121" name="Text 118"/>
          <p:cNvSpPr/>
          <p:nvPr/>
        </p:nvSpPr>
        <p:spPr>
          <a:xfrm>
            <a:off x="2767012" y="31718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720" dirty="0"/>
          </a:p>
        </p:txBody>
      </p:sp>
      <p:sp>
        <p:nvSpPr>
          <p:cNvPr id="122" name="Text 119"/>
          <p:cNvSpPr/>
          <p:nvPr/>
        </p:nvSpPr>
        <p:spPr>
          <a:xfrm>
            <a:off x="3209925" y="3190875"/>
            <a:ext cx="5619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结果生成</a:t>
            </a:r>
            <a:endParaRPr lang="en-US" sz="812" dirty="0"/>
          </a:p>
        </p:txBody>
      </p:sp>
      <p:sp>
        <p:nvSpPr>
          <p:cNvPr id="123" name="Text 120"/>
          <p:cNvSpPr/>
          <p:nvPr/>
        </p:nvSpPr>
        <p:spPr>
          <a:xfrm>
            <a:off x="3305175" y="3476625"/>
            <a:ext cx="70485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评估报告生成</a:t>
            </a:r>
            <a:endParaRPr lang="en-US" sz="638" dirty="0"/>
          </a:p>
        </p:txBody>
      </p:sp>
      <p:sp>
        <p:nvSpPr>
          <p:cNvPr id="124" name="Text 121"/>
          <p:cNvSpPr/>
          <p:nvPr/>
        </p:nvSpPr>
        <p:spPr>
          <a:xfrm>
            <a:off x="3219450" y="34718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125" name="Text 122"/>
          <p:cNvSpPr/>
          <p:nvPr/>
        </p:nvSpPr>
        <p:spPr>
          <a:xfrm>
            <a:off x="3305175" y="3657600"/>
            <a:ext cx="60960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结果可视化</a:t>
            </a:r>
            <a:endParaRPr lang="en-US" sz="638" dirty="0"/>
          </a:p>
        </p:txBody>
      </p:sp>
      <p:sp>
        <p:nvSpPr>
          <p:cNvPr id="126" name="Text 123"/>
          <p:cNvSpPr/>
          <p:nvPr/>
        </p:nvSpPr>
        <p:spPr>
          <a:xfrm>
            <a:off x="3219450" y="36528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127" name="Text 124"/>
          <p:cNvSpPr/>
          <p:nvPr/>
        </p:nvSpPr>
        <p:spPr>
          <a:xfrm>
            <a:off x="3305175" y="3848100"/>
            <a:ext cx="60960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结论与建议</a:t>
            </a:r>
            <a:endParaRPr lang="en-US" sz="638" dirty="0"/>
          </a:p>
        </p:txBody>
      </p:sp>
      <p:sp>
        <p:nvSpPr>
          <p:cNvPr id="128" name="Text 125"/>
          <p:cNvSpPr/>
          <p:nvPr/>
        </p:nvSpPr>
        <p:spPr>
          <a:xfrm>
            <a:off x="3219450" y="38433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129" name="Text 126"/>
          <p:cNvSpPr/>
          <p:nvPr/>
        </p:nvSpPr>
        <p:spPr>
          <a:xfrm>
            <a:off x="3305175" y="4029075"/>
            <a:ext cx="70485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结果导出共享</a:t>
            </a:r>
            <a:endParaRPr lang="en-US" sz="638" dirty="0"/>
          </a:p>
        </p:txBody>
      </p:sp>
      <p:sp>
        <p:nvSpPr>
          <p:cNvPr id="130" name="Text 127"/>
          <p:cNvSpPr/>
          <p:nvPr/>
        </p:nvSpPr>
        <p:spPr>
          <a:xfrm>
            <a:off x="3219450" y="40243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131" name="Text 128"/>
          <p:cNvSpPr/>
          <p:nvPr/>
        </p:nvSpPr>
        <p:spPr>
          <a:xfrm>
            <a:off x="4662487" y="31718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720" dirty="0"/>
          </a:p>
        </p:txBody>
      </p:sp>
      <p:sp>
        <p:nvSpPr>
          <p:cNvPr id="132" name="Text 129"/>
          <p:cNvSpPr/>
          <p:nvPr/>
        </p:nvSpPr>
        <p:spPr>
          <a:xfrm>
            <a:off x="5095875" y="3190875"/>
            <a:ext cx="5619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版本溯源</a:t>
            </a:r>
            <a:endParaRPr lang="en-US" sz="812" dirty="0"/>
          </a:p>
        </p:txBody>
      </p:sp>
      <p:sp>
        <p:nvSpPr>
          <p:cNvPr id="133" name="Text 130"/>
          <p:cNvSpPr/>
          <p:nvPr/>
        </p:nvSpPr>
        <p:spPr>
          <a:xfrm>
            <a:off x="5238750" y="3476625"/>
            <a:ext cx="70485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版本记录管理</a:t>
            </a:r>
            <a:endParaRPr lang="en-US" sz="638" dirty="0"/>
          </a:p>
        </p:txBody>
      </p:sp>
      <p:sp>
        <p:nvSpPr>
          <p:cNvPr id="134" name="Text 131"/>
          <p:cNvSpPr/>
          <p:nvPr/>
        </p:nvSpPr>
        <p:spPr>
          <a:xfrm>
            <a:off x="5153025" y="34718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135" name="Text 132"/>
          <p:cNvSpPr/>
          <p:nvPr/>
        </p:nvSpPr>
        <p:spPr>
          <a:xfrm>
            <a:off x="5238750" y="3657600"/>
            <a:ext cx="70485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变更影响追踪</a:t>
            </a:r>
            <a:endParaRPr lang="en-US" sz="638" dirty="0"/>
          </a:p>
        </p:txBody>
      </p:sp>
      <p:sp>
        <p:nvSpPr>
          <p:cNvPr id="136" name="Text 133"/>
          <p:cNvSpPr/>
          <p:nvPr/>
        </p:nvSpPr>
        <p:spPr>
          <a:xfrm>
            <a:off x="5153025" y="36528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137" name="Text 134"/>
          <p:cNvSpPr/>
          <p:nvPr/>
        </p:nvSpPr>
        <p:spPr>
          <a:xfrm>
            <a:off x="5238750" y="3848100"/>
            <a:ext cx="70485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溯源链路管理</a:t>
            </a:r>
            <a:endParaRPr lang="en-US" sz="638" dirty="0"/>
          </a:p>
        </p:txBody>
      </p:sp>
      <p:sp>
        <p:nvSpPr>
          <p:cNvPr id="138" name="Text 135"/>
          <p:cNvSpPr/>
          <p:nvPr/>
        </p:nvSpPr>
        <p:spPr>
          <a:xfrm>
            <a:off x="5153025" y="38433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139" name="Text 136"/>
          <p:cNvSpPr/>
          <p:nvPr/>
        </p:nvSpPr>
        <p:spPr>
          <a:xfrm>
            <a:off x="5238750" y="4029075"/>
            <a:ext cx="60960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回溯与对比</a:t>
            </a:r>
            <a:endParaRPr lang="en-US" sz="638" dirty="0"/>
          </a:p>
        </p:txBody>
      </p:sp>
      <p:sp>
        <p:nvSpPr>
          <p:cNvPr id="140" name="Text 137"/>
          <p:cNvSpPr/>
          <p:nvPr/>
        </p:nvSpPr>
        <p:spPr>
          <a:xfrm>
            <a:off x="5153025" y="40243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141" name="Text 138"/>
          <p:cNvSpPr/>
          <p:nvPr/>
        </p:nvSpPr>
        <p:spPr>
          <a:xfrm>
            <a:off x="6557962" y="31718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720" dirty="0"/>
          </a:p>
        </p:txBody>
      </p:sp>
      <p:sp>
        <p:nvSpPr>
          <p:cNvPr id="142" name="Text 139"/>
          <p:cNvSpPr/>
          <p:nvPr/>
        </p:nvSpPr>
        <p:spPr>
          <a:xfrm>
            <a:off x="7029450" y="3190875"/>
            <a:ext cx="5619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证书审核</a:t>
            </a:r>
            <a:endParaRPr lang="en-US" sz="812" dirty="0"/>
          </a:p>
        </p:txBody>
      </p:sp>
      <p:sp>
        <p:nvSpPr>
          <p:cNvPr id="143" name="Text 140"/>
          <p:cNvSpPr/>
          <p:nvPr/>
        </p:nvSpPr>
        <p:spPr>
          <a:xfrm>
            <a:off x="7162800" y="3476625"/>
            <a:ext cx="70485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结果合规审核</a:t>
            </a:r>
            <a:endParaRPr lang="en-US" sz="638" dirty="0"/>
          </a:p>
        </p:txBody>
      </p:sp>
      <p:sp>
        <p:nvSpPr>
          <p:cNvPr id="144" name="Text 141"/>
          <p:cNvSpPr/>
          <p:nvPr/>
        </p:nvSpPr>
        <p:spPr>
          <a:xfrm>
            <a:off x="7077075" y="34718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145" name="Text 142"/>
          <p:cNvSpPr/>
          <p:nvPr/>
        </p:nvSpPr>
        <p:spPr>
          <a:xfrm>
            <a:off x="7162800" y="3657600"/>
            <a:ext cx="70485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证书签发管理</a:t>
            </a:r>
            <a:endParaRPr lang="en-US" sz="638" dirty="0"/>
          </a:p>
        </p:txBody>
      </p:sp>
      <p:sp>
        <p:nvSpPr>
          <p:cNvPr id="146" name="Text 143"/>
          <p:cNvSpPr/>
          <p:nvPr/>
        </p:nvSpPr>
        <p:spPr>
          <a:xfrm>
            <a:off x="7077075" y="36528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147" name="Text 144"/>
          <p:cNvSpPr/>
          <p:nvPr/>
        </p:nvSpPr>
        <p:spPr>
          <a:xfrm>
            <a:off x="7162800" y="3848100"/>
            <a:ext cx="70485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证书状态管理</a:t>
            </a:r>
            <a:endParaRPr lang="en-US" sz="638" dirty="0"/>
          </a:p>
        </p:txBody>
      </p:sp>
      <p:sp>
        <p:nvSpPr>
          <p:cNvPr id="148" name="Text 145"/>
          <p:cNvSpPr/>
          <p:nvPr/>
        </p:nvSpPr>
        <p:spPr>
          <a:xfrm>
            <a:off x="7077075" y="38433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149" name="Text 146"/>
          <p:cNvSpPr/>
          <p:nvPr/>
        </p:nvSpPr>
        <p:spPr>
          <a:xfrm>
            <a:off x="7162800" y="4029075"/>
            <a:ext cx="60960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撤销与更新</a:t>
            </a:r>
            <a:endParaRPr lang="en-US" sz="638" dirty="0"/>
          </a:p>
        </p:txBody>
      </p:sp>
      <p:sp>
        <p:nvSpPr>
          <p:cNvPr id="150" name="Text 147"/>
          <p:cNvSpPr/>
          <p:nvPr/>
        </p:nvSpPr>
        <p:spPr>
          <a:xfrm>
            <a:off x="7077075" y="40243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151" name="Text 148"/>
          <p:cNvSpPr/>
          <p:nvPr/>
        </p:nvSpPr>
        <p:spPr>
          <a:xfrm>
            <a:off x="8601075" y="2466975"/>
            <a:ext cx="2476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反馈迭代</a:t>
            </a:r>
            <a:endParaRPr lang="en-US" sz="620" dirty="0"/>
          </a:p>
        </p:txBody>
      </p:sp>
      <p:sp>
        <p:nvSpPr>
          <p:cNvPr id="152" name="Text 149"/>
          <p:cNvSpPr/>
          <p:nvPr/>
        </p:nvSpPr>
        <p:spPr>
          <a:xfrm>
            <a:off x="5438775" y="4333875"/>
            <a:ext cx="571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证据支撑</a:t>
            </a:r>
            <a:endParaRPr lang="en-US" sz="754" dirty="0"/>
          </a:p>
        </p:txBody>
      </p:sp>
      <p:sp>
        <p:nvSpPr>
          <p:cNvPr id="153" name="Text 150"/>
          <p:cNvSpPr/>
          <p:nvPr/>
        </p:nvSpPr>
        <p:spPr>
          <a:xfrm>
            <a:off x="4038600" y="4533900"/>
            <a:ext cx="272415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对象/证据池（评估对象与关键证据沉淀）</a:t>
            </a:r>
            <a:endParaRPr lang="en-US" sz="870" dirty="0"/>
          </a:p>
        </p:txBody>
      </p:sp>
      <p:sp>
        <p:nvSpPr>
          <p:cNvPr id="154" name="Text 151"/>
          <p:cNvSpPr/>
          <p:nvPr/>
        </p:nvSpPr>
        <p:spPr>
          <a:xfrm>
            <a:off x="2905125" y="5000625"/>
            <a:ext cx="4762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企业主体</a:t>
            </a:r>
            <a:endParaRPr lang="en-US" sz="754" dirty="0"/>
          </a:p>
        </p:txBody>
      </p:sp>
      <p:sp>
        <p:nvSpPr>
          <p:cNvPr id="155" name="Text 152"/>
          <p:cNvSpPr/>
          <p:nvPr/>
        </p:nvSpPr>
        <p:spPr>
          <a:xfrm>
            <a:off x="3829050" y="5000625"/>
            <a:ext cx="4953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海外项目</a:t>
            </a:r>
            <a:endParaRPr lang="en-US" sz="754" dirty="0"/>
          </a:p>
        </p:txBody>
      </p:sp>
      <p:sp>
        <p:nvSpPr>
          <p:cNvPr id="156" name="Text 153"/>
          <p:cNvSpPr/>
          <p:nvPr/>
        </p:nvSpPr>
        <p:spPr>
          <a:xfrm>
            <a:off x="4791075" y="5000625"/>
            <a:ext cx="4857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技术设备</a:t>
            </a:r>
            <a:endParaRPr lang="en-US" sz="754" dirty="0"/>
          </a:p>
        </p:txBody>
      </p:sp>
      <p:sp>
        <p:nvSpPr>
          <p:cNvPr id="157" name="Text 154"/>
          <p:cNvSpPr/>
          <p:nvPr/>
        </p:nvSpPr>
        <p:spPr>
          <a:xfrm>
            <a:off x="5772150" y="5000625"/>
            <a:ext cx="4857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财务信用</a:t>
            </a:r>
            <a:endParaRPr lang="en-US" sz="754" dirty="0"/>
          </a:p>
        </p:txBody>
      </p:sp>
      <p:sp>
        <p:nvSpPr>
          <p:cNvPr id="158" name="Text 155"/>
          <p:cNvSpPr/>
          <p:nvPr/>
        </p:nvSpPr>
        <p:spPr>
          <a:xfrm>
            <a:off x="6734175" y="4895850"/>
            <a:ext cx="4762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E&amp;S/HSE</a:t>
            </a:r>
            <a:endParaRPr lang="en-US" sz="754" dirty="0"/>
          </a:p>
        </p:txBody>
      </p:sp>
      <p:sp>
        <p:nvSpPr>
          <p:cNvPr id="159" name="Text 156"/>
          <p:cNvSpPr/>
          <p:nvPr/>
        </p:nvSpPr>
        <p:spPr>
          <a:xfrm>
            <a:off x="6867525" y="5038725"/>
            <a:ext cx="2476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</a:t>
            </a:r>
            <a:endParaRPr lang="en-US" sz="754" dirty="0"/>
          </a:p>
        </p:txBody>
      </p:sp>
      <p:sp>
        <p:nvSpPr>
          <p:cNvPr id="160" name="Text 157"/>
          <p:cNvSpPr/>
          <p:nvPr/>
        </p:nvSpPr>
        <p:spPr>
          <a:xfrm>
            <a:off x="7724775" y="4895850"/>
            <a:ext cx="4857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国别市场</a:t>
            </a:r>
            <a:endParaRPr lang="en-US" sz="754" dirty="0"/>
          </a:p>
        </p:txBody>
      </p:sp>
      <p:sp>
        <p:nvSpPr>
          <p:cNvPr id="161" name="Text 158"/>
          <p:cNvSpPr/>
          <p:nvPr/>
        </p:nvSpPr>
        <p:spPr>
          <a:xfrm>
            <a:off x="7848600" y="5038725"/>
            <a:ext cx="3619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与风险</a:t>
            </a:r>
            <a:endParaRPr lang="en-US" sz="754" dirty="0"/>
          </a:p>
        </p:txBody>
      </p:sp>
      <p:sp>
        <p:nvSpPr>
          <p:cNvPr id="162" name="Text 159"/>
          <p:cNvSpPr/>
          <p:nvPr/>
        </p:nvSpPr>
        <p:spPr>
          <a:xfrm>
            <a:off x="9505950" y="171450"/>
            <a:ext cx="64770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结果应用</a:t>
            </a:r>
            <a:endParaRPr lang="en-US" sz="986" dirty="0"/>
          </a:p>
        </p:txBody>
      </p:sp>
      <p:sp>
        <p:nvSpPr>
          <p:cNvPr id="163" name="Text 160"/>
          <p:cNvSpPr/>
          <p:nvPr/>
        </p:nvSpPr>
        <p:spPr>
          <a:xfrm>
            <a:off x="9496425" y="342900"/>
            <a:ext cx="65722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1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（多场景赋能）</a:t>
            </a:r>
            <a:endParaRPr lang="en-US" sz="651" dirty="0"/>
          </a:p>
        </p:txBody>
      </p:sp>
      <p:sp>
        <p:nvSpPr>
          <p:cNvPr id="164" name="Text 161"/>
          <p:cNvSpPr/>
          <p:nvPr/>
        </p:nvSpPr>
        <p:spPr>
          <a:xfrm>
            <a:off x="9505950" y="733425"/>
            <a:ext cx="4953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企业应用</a:t>
            </a:r>
            <a:endParaRPr lang="en-US" sz="754" dirty="0"/>
          </a:p>
        </p:txBody>
      </p:sp>
      <p:sp>
        <p:nvSpPr>
          <p:cNvPr id="165" name="Text 162"/>
          <p:cNvSpPr/>
          <p:nvPr/>
        </p:nvSpPr>
        <p:spPr>
          <a:xfrm>
            <a:off x="9639300" y="1000125"/>
            <a:ext cx="69532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战略决策支持</a:t>
            </a:r>
            <a:endParaRPr lang="en-US" sz="638" dirty="0"/>
          </a:p>
        </p:txBody>
      </p:sp>
      <p:sp>
        <p:nvSpPr>
          <p:cNvPr id="166" name="Text 163"/>
          <p:cNvSpPr/>
          <p:nvPr/>
        </p:nvSpPr>
        <p:spPr>
          <a:xfrm>
            <a:off x="9553575" y="9953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167" name="Text 164"/>
          <p:cNvSpPr/>
          <p:nvPr/>
        </p:nvSpPr>
        <p:spPr>
          <a:xfrm>
            <a:off x="9639300" y="1181100"/>
            <a:ext cx="69532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投资立项评估</a:t>
            </a:r>
            <a:endParaRPr lang="en-US" sz="638" dirty="0"/>
          </a:p>
        </p:txBody>
      </p:sp>
      <p:sp>
        <p:nvSpPr>
          <p:cNvPr id="168" name="Text 165"/>
          <p:cNvSpPr/>
          <p:nvPr/>
        </p:nvSpPr>
        <p:spPr>
          <a:xfrm>
            <a:off x="9553575" y="11763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169" name="Text 166"/>
          <p:cNvSpPr/>
          <p:nvPr/>
        </p:nvSpPr>
        <p:spPr>
          <a:xfrm>
            <a:off x="9639300" y="1371600"/>
            <a:ext cx="69532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项目投标支持</a:t>
            </a:r>
            <a:endParaRPr lang="en-US" sz="638" dirty="0"/>
          </a:p>
        </p:txBody>
      </p:sp>
      <p:sp>
        <p:nvSpPr>
          <p:cNvPr id="170" name="Text 167"/>
          <p:cNvSpPr/>
          <p:nvPr/>
        </p:nvSpPr>
        <p:spPr>
          <a:xfrm>
            <a:off x="9553575" y="13668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171" name="Text 168"/>
          <p:cNvSpPr/>
          <p:nvPr/>
        </p:nvSpPr>
        <p:spPr>
          <a:xfrm>
            <a:off x="9639300" y="1552575"/>
            <a:ext cx="69532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绩效考核应用</a:t>
            </a:r>
            <a:endParaRPr lang="en-US" sz="638" dirty="0"/>
          </a:p>
        </p:txBody>
      </p:sp>
      <p:sp>
        <p:nvSpPr>
          <p:cNvPr id="172" name="Text 169"/>
          <p:cNvSpPr/>
          <p:nvPr/>
        </p:nvSpPr>
        <p:spPr>
          <a:xfrm>
            <a:off x="9553575" y="15478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173" name="Text 170"/>
          <p:cNvSpPr/>
          <p:nvPr/>
        </p:nvSpPr>
        <p:spPr>
          <a:xfrm>
            <a:off x="9639300" y="1733550"/>
            <a:ext cx="69532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风险预警控制</a:t>
            </a:r>
            <a:endParaRPr lang="en-US" sz="638" dirty="0"/>
          </a:p>
        </p:txBody>
      </p:sp>
      <p:sp>
        <p:nvSpPr>
          <p:cNvPr id="174" name="Text 171"/>
          <p:cNvSpPr/>
          <p:nvPr/>
        </p:nvSpPr>
        <p:spPr>
          <a:xfrm>
            <a:off x="9553575" y="17287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175" name="Text 172"/>
          <p:cNvSpPr/>
          <p:nvPr/>
        </p:nvSpPr>
        <p:spPr>
          <a:xfrm>
            <a:off x="9477375" y="2371725"/>
            <a:ext cx="80962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1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外部合作伙伴应用</a:t>
            </a:r>
            <a:endParaRPr lang="en-US" sz="701" dirty="0"/>
          </a:p>
        </p:txBody>
      </p:sp>
      <p:sp>
        <p:nvSpPr>
          <p:cNvPr id="176" name="Text 173"/>
          <p:cNvSpPr/>
          <p:nvPr/>
        </p:nvSpPr>
        <p:spPr>
          <a:xfrm>
            <a:off x="9639300" y="2657475"/>
            <a:ext cx="69532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金融机构授信</a:t>
            </a:r>
            <a:endParaRPr lang="en-US" sz="638" dirty="0"/>
          </a:p>
        </p:txBody>
      </p:sp>
      <p:sp>
        <p:nvSpPr>
          <p:cNvPr id="177" name="Text 174"/>
          <p:cNvSpPr/>
          <p:nvPr/>
        </p:nvSpPr>
        <p:spPr>
          <a:xfrm>
            <a:off x="9553575" y="26527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178" name="Text 175"/>
          <p:cNvSpPr/>
          <p:nvPr/>
        </p:nvSpPr>
        <p:spPr>
          <a:xfrm>
            <a:off x="9639300" y="2847975"/>
            <a:ext cx="78105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供应商准入评估</a:t>
            </a:r>
            <a:endParaRPr lang="en-US" sz="638" dirty="0"/>
          </a:p>
        </p:txBody>
      </p:sp>
      <p:sp>
        <p:nvSpPr>
          <p:cNvPr id="179" name="Text 176"/>
          <p:cNvSpPr/>
          <p:nvPr/>
        </p:nvSpPr>
        <p:spPr>
          <a:xfrm>
            <a:off x="9553575" y="28432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180" name="Text 177"/>
          <p:cNvSpPr/>
          <p:nvPr/>
        </p:nvSpPr>
        <p:spPr>
          <a:xfrm>
            <a:off x="9639300" y="3028950"/>
            <a:ext cx="69532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合作伙伴尽调</a:t>
            </a:r>
            <a:endParaRPr lang="en-US" sz="638" dirty="0"/>
          </a:p>
        </p:txBody>
      </p:sp>
      <p:sp>
        <p:nvSpPr>
          <p:cNvPr id="181" name="Text 178"/>
          <p:cNvSpPr/>
          <p:nvPr/>
        </p:nvSpPr>
        <p:spPr>
          <a:xfrm>
            <a:off x="9553575" y="30241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182" name="Text 179"/>
          <p:cNvSpPr/>
          <p:nvPr/>
        </p:nvSpPr>
        <p:spPr>
          <a:xfrm>
            <a:off x="9639300" y="3209925"/>
            <a:ext cx="69532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保险承保参考</a:t>
            </a:r>
            <a:endParaRPr lang="en-US" sz="638" dirty="0"/>
          </a:p>
        </p:txBody>
      </p:sp>
      <p:sp>
        <p:nvSpPr>
          <p:cNvPr id="183" name="Text 180"/>
          <p:cNvSpPr/>
          <p:nvPr/>
        </p:nvSpPr>
        <p:spPr>
          <a:xfrm>
            <a:off x="9553575" y="32051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184" name="Text 181"/>
          <p:cNvSpPr/>
          <p:nvPr/>
        </p:nvSpPr>
        <p:spPr>
          <a:xfrm>
            <a:off x="9639300" y="3400425"/>
            <a:ext cx="69532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法律合规尽职</a:t>
            </a:r>
            <a:endParaRPr lang="en-US" sz="638" dirty="0"/>
          </a:p>
        </p:txBody>
      </p:sp>
      <p:sp>
        <p:nvSpPr>
          <p:cNvPr id="185" name="Text 182"/>
          <p:cNvSpPr/>
          <p:nvPr/>
        </p:nvSpPr>
        <p:spPr>
          <a:xfrm>
            <a:off x="9553575" y="33956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186" name="Text 183"/>
          <p:cNvSpPr/>
          <p:nvPr/>
        </p:nvSpPr>
        <p:spPr>
          <a:xfrm>
            <a:off x="9505950" y="3990975"/>
            <a:ext cx="6477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行业组织应用</a:t>
            </a:r>
            <a:endParaRPr lang="en-US" sz="748" dirty="0"/>
          </a:p>
        </p:txBody>
      </p:sp>
      <p:sp>
        <p:nvSpPr>
          <p:cNvPr id="187" name="Text 184"/>
          <p:cNvSpPr/>
          <p:nvPr/>
        </p:nvSpPr>
        <p:spPr>
          <a:xfrm>
            <a:off x="9639300" y="4267200"/>
            <a:ext cx="69532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行业能力对标</a:t>
            </a:r>
            <a:endParaRPr lang="en-US" sz="638" dirty="0"/>
          </a:p>
        </p:txBody>
      </p:sp>
      <p:sp>
        <p:nvSpPr>
          <p:cNvPr id="188" name="Text 185"/>
          <p:cNvSpPr/>
          <p:nvPr/>
        </p:nvSpPr>
        <p:spPr>
          <a:xfrm>
            <a:off x="9553575" y="42624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189" name="Text 186"/>
          <p:cNvSpPr/>
          <p:nvPr/>
        </p:nvSpPr>
        <p:spPr>
          <a:xfrm>
            <a:off x="9639300" y="4457700"/>
            <a:ext cx="69532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标准制定参考</a:t>
            </a:r>
            <a:endParaRPr lang="en-US" sz="638" dirty="0"/>
          </a:p>
        </p:txBody>
      </p:sp>
      <p:sp>
        <p:nvSpPr>
          <p:cNvPr id="190" name="Text 187"/>
          <p:cNvSpPr/>
          <p:nvPr/>
        </p:nvSpPr>
        <p:spPr>
          <a:xfrm>
            <a:off x="9553575" y="44529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191" name="Text 188"/>
          <p:cNvSpPr/>
          <p:nvPr/>
        </p:nvSpPr>
        <p:spPr>
          <a:xfrm>
            <a:off x="9639300" y="4638675"/>
            <a:ext cx="69532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行业洞察分析</a:t>
            </a:r>
            <a:endParaRPr lang="en-US" sz="638" dirty="0"/>
          </a:p>
        </p:txBody>
      </p:sp>
      <p:sp>
        <p:nvSpPr>
          <p:cNvPr id="192" name="Text 189"/>
          <p:cNvSpPr/>
          <p:nvPr/>
        </p:nvSpPr>
        <p:spPr>
          <a:xfrm>
            <a:off x="9553575" y="46339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193" name="Text 190"/>
          <p:cNvSpPr/>
          <p:nvPr/>
        </p:nvSpPr>
        <p:spPr>
          <a:xfrm>
            <a:off x="9639300" y="4819650"/>
            <a:ext cx="69532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政策研究支持</a:t>
            </a:r>
            <a:endParaRPr lang="en-US" sz="638" dirty="0"/>
          </a:p>
        </p:txBody>
      </p:sp>
      <p:sp>
        <p:nvSpPr>
          <p:cNvPr id="194" name="Text 191"/>
          <p:cNvSpPr/>
          <p:nvPr/>
        </p:nvSpPr>
        <p:spPr>
          <a:xfrm>
            <a:off x="9553575" y="48148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195" name="Text 192"/>
          <p:cNvSpPr/>
          <p:nvPr/>
        </p:nvSpPr>
        <p:spPr>
          <a:xfrm>
            <a:off x="9639300" y="5010150"/>
            <a:ext cx="69532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公共服务支撑</a:t>
            </a:r>
            <a:endParaRPr lang="en-US" sz="638" dirty="0"/>
          </a:p>
        </p:txBody>
      </p:sp>
      <p:sp>
        <p:nvSpPr>
          <p:cNvPr id="196" name="Text 193"/>
          <p:cNvSpPr/>
          <p:nvPr/>
        </p:nvSpPr>
        <p:spPr>
          <a:xfrm>
            <a:off x="9553575" y="50053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197" name="Text 194"/>
          <p:cNvSpPr/>
          <p:nvPr/>
        </p:nvSpPr>
        <p:spPr>
          <a:xfrm>
            <a:off x="11153775" y="171450"/>
            <a:ext cx="63817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运营保障</a:t>
            </a:r>
            <a:endParaRPr lang="en-US" sz="986" dirty="0"/>
          </a:p>
        </p:txBody>
      </p:sp>
      <p:sp>
        <p:nvSpPr>
          <p:cNvPr id="198" name="Text 195"/>
          <p:cNvSpPr/>
          <p:nvPr/>
        </p:nvSpPr>
        <p:spPr>
          <a:xfrm>
            <a:off x="11153775" y="342900"/>
            <a:ext cx="6477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（安全合规）</a:t>
            </a:r>
            <a:endParaRPr lang="en-US" sz="748" dirty="0"/>
          </a:p>
        </p:txBody>
      </p:sp>
      <p:sp>
        <p:nvSpPr>
          <p:cNvPr id="199" name="Text 196"/>
          <p:cNvSpPr/>
          <p:nvPr/>
        </p:nvSpPr>
        <p:spPr>
          <a:xfrm>
            <a:off x="11039475" y="747713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80" dirty="0"/>
          </a:p>
        </p:txBody>
      </p:sp>
      <p:sp>
        <p:nvSpPr>
          <p:cNvPr id="200" name="Text 197"/>
          <p:cNvSpPr/>
          <p:nvPr/>
        </p:nvSpPr>
        <p:spPr>
          <a:xfrm>
            <a:off x="11401425" y="847725"/>
            <a:ext cx="4857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分类分级</a:t>
            </a:r>
            <a:endParaRPr lang="en-US" sz="754" dirty="0"/>
          </a:p>
        </p:txBody>
      </p:sp>
      <p:sp>
        <p:nvSpPr>
          <p:cNvPr id="201" name="Text 198"/>
          <p:cNvSpPr/>
          <p:nvPr/>
        </p:nvSpPr>
        <p:spPr>
          <a:xfrm>
            <a:off x="11372850" y="1123950"/>
            <a:ext cx="5715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数据与能力</a:t>
            </a:r>
            <a:endParaRPr lang="en-US" sz="696" dirty="0"/>
          </a:p>
        </p:txBody>
      </p:sp>
      <p:sp>
        <p:nvSpPr>
          <p:cNvPr id="202" name="Text 199"/>
          <p:cNvSpPr/>
          <p:nvPr/>
        </p:nvSpPr>
        <p:spPr>
          <a:xfrm>
            <a:off x="11315700" y="1119188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72" dirty="0"/>
          </a:p>
        </p:txBody>
      </p:sp>
      <p:sp>
        <p:nvSpPr>
          <p:cNvPr id="203" name="Text 200"/>
          <p:cNvSpPr/>
          <p:nvPr/>
        </p:nvSpPr>
        <p:spPr>
          <a:xfrm>
            <a:off x="11372850" y="1276350"/>
            <a:ext cx="65722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分类分级管理</a:t>
            </a:r>
            <a:endParaRPr lang="en-US" sz="696" dirty="0"/>
          </a:p>
        </p:txBody>
      </p:sp>
      <p:sp>
        <p:nvSpPr>
          <p:cNvPr id="204" name="Text 201"/>
          <p:cNvSpPr/>
          <p:nvPr/>
        </p:nvSpPr>
        <p:spPr>
          <a:xfrm>
            <a:off x="11315700" y="1271588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72" dirty="0"/>
          </a:p>
        </p:txBody>
      </p:sp>
      <p:sp>
        <p:nvSpPr>
          <p:cNvPr id="205" name="Text 202"/>
          <p:cNvSpPr/>
          <p:nvPr/>
        </p:nvSpPr>
        <p:spPr>
          <a:xfrm>
            <a:off x="11039475" y="1766887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80" dirty="0"/>
          </a:p>
        </p:txBody>
      </p:sp>
      <p:sp>
        <p:nvSpPr>
          <p:cNvPr id="206" name="Text 203"/>
          <p:cNvSpPr/>
          <p:nvPr/>
        </p:nvSpPr>
        <p:spPr>
          <a:xfrm>
            <a:off x="11401425" y="1866900"/>
            <a:ext cx="4857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授权管理</a:t>
            </a:r>
            <a:endParaRPr lang="en-US" sz="754" dirty="0"/>
          </a:p>
        </p:txBody>
      </p:sp>
      <p:sp>
        <p:nvSpPr>
          <p:cNvPr id="207" name="Text 204"/>
          <p:cNvSpPr/>
          <p:nvPr/>
        </p:nvSpPr>
        <p:spPr>
          <a:xfrm>
            <a:off x="11382375" y="2143125"/>
            <a:ext cx="56197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访问主体与</a:t>
            </a:r>
            <a:endParaRPr lang="en-US" sz="696" dirty="0"/>
          </a:p>
        </p:txBody>
      </p:sp>
      <p:sp>
        <p:nvSpPr>
          <p:cNvPr id="208" name="Text 205"/>
          <p:cNvSpPr/>
          <p:nvPr/>
        </p:nvSpPr>
        <p:spPr>
          <a:xfrm>
            <a:off x="11325225" y="2138363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72" dirty="0"/>
          </a:p>
        </p:txBody>
      </p:sp>
      <p:sp>
        <p:nvSpPr>
          <p:cNvPr id="209" name="Text 206"/>
          <p:cNvSpPr/>
          <p:nvPr/>
        </p:nvSpPr>
        <p:spPr>
          <a:xfrm>
            <a:off x="11372850" y="2286000"/>
            <a:ext cx="65722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范围授权管理</a:t>
            </a:r>
            <a:endParaRPr lang="en-US" sz="696" dirty="0"/>
          </a:p>
        </p:txBody>
      </p:sp>
      <p:sp>
        <p:nvSpPr>
          <p:cNvPr id="210" name="Text 207"/>
          <p:cNvSpPr/>
          <p:nvPr/>
        </p:nvSpPr>
        <p:spPr>
          <a:xfrm>
            <a:off x="11315700" y="2281238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72" dirty="0"/>
          </a:p>
        </p:txBody>
      </p:sp>
      <p:sp>
        <p:nvSpPr>
          <p:cNvPr id="211" name="Text 208"/>
          <p:cNvSpPr/>
          <p:nvPr/>
        </p:nvSpPr>
        <p:spPr>
          <a:xfrm>
            <a:off x="11039475" y="2776538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680" dirty="0"/>
          </a:p>
        </p:txBody>
      </p:sp>
      <p:sp>
        <p:nvSpPr>
          <p:cNvPr id="212" name="Text 209"/>
          <p:cNvSpPr/>
          <p:nvPr/>
        </p:nvSpPr>
        <p:spPr>
          <a:xfrm>
            <a:off x="11401425" y="2886075"/>
            <a:ext cx="4857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权限控制</a:t>
            </a:r>
            <a:endParaRPr lang="en-US" sz="754" dirty="0"/>
          </a:p>
        </p:txBody>
      </p:sp>
      <p:sp>
        <p:nvSpPr>
          <p:cNvPr id="213" name="Text 210"/>
          <p:cNvSpPr/>
          <p:nvPr/>
        </p:nvSpPr>
        <p:spPr>
          <a:xfrm>
            <a:off x="11372850" y="3162300"/>
            <a:ext cx="5715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细粒度权限</a:t>
            </a:r>
            <a:endParaRPr lang="en-US" sz="696" dirty="0"/>
          </a:p>
        </p:txBody>
      </p:sp>
      <p:sp>
        <p:nvSpPr>
          <p:cNvPr id="214" name="Text 211"/>
          <p:cNvSpPr/>
          <p:nvPr/>
        </p:nvSpPr>
        <p:spPr>
          <a:xfrm>
            <a:off x="11315700" y="3157538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72" dirty="0"/>
          </a:p>
        </p:txBody>
      </p:sp>
      <p:sp>
        <p:nvSpPr>
          <p:cNvPr id="215" name="Text 212"/>
          <p:cNvSpPr/>
          <p:nvPr/>
        </p:nvSpPr>
        <p:spPr>
          <a:xfrm>
            <a:off x="11372850" y="3305175"/>
            <a:ext cx="5715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与策略控制</a:t>
            </a:r>
            <a:endParaRPr lang="en-US" sz="696" dirty="0"/>
          </a:p>
        </p:txBody>
      </p:sp>
      <p:sp>
        <p:nvSpPr>
          <p:cNvPr id="216" name="Text 213"/>
          <p:cNvSpPr/>
          <p:nvPr/>
        </p:nvSpPr>
        <p:spPr>
          <a:xfrm>
            <a:off x="11315700" y="3300413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72" dirty="0"/>
          </a:p>
        </p:txBody>
      </p:sp>
      <p:sp>
        <p:nvSpPr>
          <p:cNvPr id="217" name="Text 214"/>
          <p:cNvSpPr/>
          <p:nvPr/>
        </p:nvSpPr>
        <p:spPr>
          <a:xfrm>
            <a:off x="11039475" y="3795713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680" dirty="0"/>
          </a:p>
        </p:txBody>
      </p:sp>
      <p:sp>
        <p:nvSpPr>
          <p:cNvPr id="218" name="Text 215"/>
          <p:cNvSpPr/>
          <p:nvPr/>
        </p:nvSpPr>
        <p:spPr>
          <a:xfrm>
            <a:off x="11401425" y="3905250"/>
            <a:ext cx="4857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数据脱敏</a:t>
            </a:r>
            <a:endParaRPr lang="en-US" sz="754" dirty="0"/>
          </a:p>
        </p:txBody>
      </p:sp>
      <p:sp>
        <p:nvSpPr>
          <p:cNvPr id="219" name="Text 216"/>
          <p:cNvSpPr/>
          <p:nvPr/>
        </p:nvSpPr>
        <p:spPr>
          <a:xfrm>
            <a:off x="11372850" y="4181475"/>
            <a:ext cx="65722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敏感数据识别</a:t>
            </a:r>
            <a:endParaRPr lang="en-US" sz="696" dirty="0"/>
          </a:p>
        </p:txBody>
      </p:sp>
      <p:sp>
        <p:nvSpPr>
          <p:cNvPr id="220" name="Text 217"/>
          <p:cNvSpPr/>
          <p:nvPr/>
        </p:nvSpPr>
        <p:spPr>
          <a:xfrm>
            <a:off x="11315700" y="4176712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72" dirty="0"/>
          </a:p>
        </p:txBody>
      </p:sp>
      <p:sp>
        <p:nvSpPr>
          <p:cNvPr id="221" name="Text 218"/>
          <p:cNvSpPr/>
          <p:nvPr/>
        </p:nvSpPr>
        <p:spPr>
          <a:xfrm>
            <a:off x="11372850" y="4324350"/>
            <a:ext cx="5715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与脱敏处理</a:t>
            </a:r>
            <a:endParaRPr lang="en-US" sz="696" dirty="0"/>
          </a:p>
        </p:txBody>
      </p:sp>
      <p:sp>
        <p:nvSpPr>
          <p:cNvPr id="222" name="Text 219"/>
          <p:cNvSpPr/>
          <p:nvPr/>
        </p:nvSpPr>
        <p:spPr>
          <a:xfrm>
            <a:off x="11315700" y="4319588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72" dirty="0"/>
          </a:p>
        </p:txBody>
      </p:sp>
      <p:sp>
        <p:nvSpPr>
          <p:cNvPr id="223" name="Text 220"/>
          <p:cNvSpPr/>
          <p:nvPr/>
        </p:nvSpPr>
        <p:spPr>
          <a:xfrm>
            <a:off x="11039475" y="4805363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680" dirty="0"/>
          </a:p>
        </p:txBody>
      </p:sp>
      <p:sp>
        <p:nvSpPr>
          <p:cNvPr id="224" name="Text 221"/>
          <p:cNvSpPr/>
          <p:nvPr/>
        </p:nvSpPr>
        <p:spPr>
          <a:xfrm>
            <a:off x="11401425" y="4914900"/>
            <a:ext cx="4857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发布审核</a:t>
            </a:r>
            <a:endParaRPr lang="en-US" sz="754" dirty="0"/>
          </a:p>
        </p:txBody>
      </p:sp>
      <p:sp>
        <p:nvSpPr>
          <p:cNvPr id="225" name="Text 222"/>
          <p:cNvSpPr/>
          <p:nvPr/>
        </p:nvSpPr>
        <p:spPr>
          <a:xfrm>
            <a:off x="11372850" y="5191125"/>
            <a:ext cx="5715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对外发布前</a:t>
            </a:r>
            <a:endParaRPr lang="en-US" sz="696" dirty="0"/>
          </a:p>
        </p:txBody>
      </p:sp>
      <p:sp>
        <p:nvSpPr>
          <p:cNvPr id="226" name="Text 223"/>
          <p:cNvSpPr/>
          <p:nvPr/>
        </p:nvSpPr>
        <p:spPr>
          <a:xfrm>
            <a:off x="11315700" y="5186363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72" dirty="0"/>
          </a:p>
        </p:txBody>
      </p:sp>
      <p:sp>
        <p:nvSpPr>
          <p:cNvPr id="227" name="Text 224"/>
          <p:cNvSpPr/>
          <p:nvPr/>
        </p:nvSpPr>
        <p:spPr>
          <a:xfrm>
            <a:off x="11372850" y="5334000"/>
            <a:ext cx="48577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合规审核</a:t>
            </a:r>
            <a:endParaRPr lang="en-US" sz="696" dirty="0"/>
          </a:p>
        </p:txBody>
      </p:sp>
      <p:sp>
        <p:nvSpPr>
          <p:cNvPr id="228" name="Text 225"/>
          <p:cNvSpPr/>
          <p:nvPr/>
        </p:nvSpPr>
        <p:spPr>
          <a:xfrm>
            <a:off x="11315700" y="5329238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72" dirty="0"/>
          </a:p>
        </p:txBody>
      </p:sp>
      <p:sp>
        <p:nvSpPr>
          <p:cNvPr id="229" name="Text 226"/>
          <p:cNvSpPr/>
          <p:nvPr/>
        </p:nvSpPr>
        <p:spPr>
          <a:xfrm>
            <a:off x="11039475" y="5824537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680" dirty="0"/>
          </a:p>
        </p:txBody>
      </p:sp>
      <p:sp>
        <p:nvSpPr>
          <p:cNvPr id="230" name="Text 227"/>
          <p:cNvSpPr/>
          <p:nvPr/>
        </p:nvSpPr>
        <p:spPr>
          <a:xfrm>
            <a:off x="11401425" y="5934075"/>
            <a:ext cx="4857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审计追踪</a:t>
            </a:r>
            <a:endParaRPr lang="en-US" sz="754" dirty="0"/>
          </a:p>
        </p:txBody>
      </p:sp>
      <p:sp>
        <p:nvSpPr>
          <p:cNvPr id="231" name="Text 228"/>
          <p:cNvSpPr/>
          <p:nvPr/>
        </p:nvSpPr>
        <p:spPr>
          <a:xfrm>
            <a:off x="11372850" y="6210300"/>
            <a:ext cx="5715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全链路操作</a:t>
            </a:r>
            <a:endParaRPr lang="en-US" sz="696" dirty="0"/>
          </a:p>
        </p:txBody>
      </p:sp>
      <p:sp>
        <p:nvSpPr>
          <p:cNvPr id="232" name="Text 229"/>
          <p:cNvSpPr/>
          <p:nvPr/>
        </p:nvSpPr>
        <p:spPr>
          <a:xfrm>
            <a:off x="11315700" y="6205538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72" dirty="0"/>
          </a:p>
        </p:txBody>
      </p:sp>
      <p:sp>
        <p:nvSpPr>
          <p:cNvPr id="233" name="Text 230"/>
          <p:cNvSpPr/>
          <p:nvPr/>
        </p:nvSpPr>
        <p:spPr>
          <a:xfrm>
            <a:off x="11372850" y="6353175"/>
            <a:ext cx="65722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日志留存审计</a:t>
            </a:r>
            <a:endParaRPr lang="en-US" sz="696" dirty="0"/>
          </a:p>
        </p:txBody>
      </p:sp>
      <p:sp>
        <p:nvSpPr>
          <p:cNvPr id="234" name="Text 231"/>
          <p:cNvSpPr/>
          <p:nvPr/>
        </p:nvSpPr>
        <p:spPr>
          <a:xfrm>
            <a:off x="11315700" y="6348413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72" dirty="0"/>
          </a:p>
        </p:txBody>
      </p:sp>
      <p:sp>
        <p:nvSpPr>
          <p:cNvPr id="235" name="Text 232"/>
          <p:cNvSpPr/>
          <p:nvPr/>
        </p:nvSpPr>
        <p:spPr>
          <a:xfrm>
            <a:off x="390525" y="6010275"/>
            <a:ext cx="8096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服务价值层</a:t>
            </a:r>
            <a:endParaRPr lang="en-US" sz="1102" dirty="0"/>
          </a:p>
        </p:txBody>
      </p:sp>
      <p:sp>
        <p:nvSpPr>
          <p:cNvPr id="236" name="Text 233"/>
          <p:cNvSpPr/>
          <p:nvPr/>
        </p:nvSpPr>
        <p:spPr>
          <a:xfrm>
            <a:off x="171450" y="6286500"/>
            <a:ext cx="124777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（能力输出与服务支撑）</a:t>
            </a:r>
            <a:endParaRPr lang="en-US" sz="786" dirty="0"/>
          </a:p>
        </p:txBody>
      </p:sp>
      <p:sp>
        <p:nvSpPr>
          <p:cNvPr id="237" name="Text 234"/>
          <p:cNvSpPr/>
          <p:nvPr/>
        </p:nvSpPr>
        <p:spPr>
          <a:xfrm>
            <a:off x="2343150" y="5915025"/>
            <a:ext cx="7143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基础评估服务</a:t>
            </a:r>
            <a:endParaRPr lang="en-US" sz="812" dirty="0"/>
          </a:p>
        </p:txBody>
      </p:sp>
      <p:sp>
        <p:nvSpPr>
          <p:cNvPr id="238" name="Text 235"/>
          <p:cNvSpPr/>
          <p:nvPr/>
        </p:nvSpPr>
        <p:spPr>
          <a:xfrm>
            <a:off x="2438400" y="6181725"/>
            <a:ext cx="80010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标准化评估服务</a:t>
            </a:r>
            <a:endParaRPr lang="en-US" sz="638" dirty="0"/>
          </a:p>
        </p:txBody>
      </p:sp>
      <p:sp>
        <p:nvSpPr>
          <p:cNvPr id="239" name="Text 236"/>
          <p:cNvSpPr/>
          <p:nvPr/>
        </p:nvSpPr>
        <p:spPr>
          <a:xfrm>
            <a:off x="2352675" y="61769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240" name="Text 237"/>
          <p:cNvSpPr/>
          <p:nvPr/>
        </p:nvSpPr>
        <p:spPr>
          <a:xfrm>
            <a:off x="2438400" y="6362700"/>
            <a:ext cx="70485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快速评估工具</a:t>
            </a:r>
            <a:endParaRPr lang="en-US" sz="638" dirty="0"/>
          </a:p>
        </p:txBody>
      </p:sp>
      <p:sp>
        <p:nvSpPr>
          <p:cNvPr id="241" name="Text 238"/>
          <p:cNvSpPr/>
          <p:nvPr/>
        </p:nvSpPr>
        <p:spPr>
          <a:xfrm>
            <a:off x="2352675" y="63579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242" name="Text 239"/>
          <p:cNvSpPr/>
          <p:nvPr/>
        </p:nvSpPr>
        <p:spPr>
          <a:xfrm>
            <a:off x="2438400" y="6534150"/>
            <a:ext cx="70485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评估模板中心</a:t>
            </a:r>
            <a:endParaRPr lang="en-US" sz="638" dirty="0"/>
          </a:p>
        </p:txBody>
      </p:sp>
      <p:sp>
        <p:nvSpPr>
          <p:cNvPr id="243" name="Text 240"/>
          <p:cNvSpPr/>
          <p:nvPr/>
        </p:nvSpPr>
        <p:spPr>
          <a:xfrm>
            <a:off x="2352675" y="65293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244" name="Text 241"/>
          <p:cNvSpPr/>
          <p:nvPr/>
        </p:nvSpPr>
        <p:spPr>
          <a:xfrm>
            <a:off x="4076700" y="5915025"/>
            <a:ext cx="7143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专项评估服务</a:t>
            </a:r>
            <a:endParaRPr lang="en-US" sz="812" dirty="0"/>
          </a:p>
        </p:txBody>
      </p:sp>
      <p:sp>
        <p:nvSpPr>
          <p:cNvPr id="245" name="Text 242"/>
          <p:cNvSpPr/>
          <p:nvPr/>
        </p:nvSpPr>
        <p:spPr>
          <a:xfrm>
            <a:off x="4162425" y="6181725"/>
            <a:ext cx="71437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专项能力评估</a:t>
            </a:r>
            <a:endParaRPr lang="en-US" sz="638" dirty="0"/>
          </a:p>
        </p:txBody>
      </p:sp>
      <p:sp>
        <p:nvSpPr>
          <p:cNvPr id="246" name="Text 243"/>
          <p:cNvSpPr/>
          <p:nvPr/>
        </p:nvSpPr>
        <p:spPr>
          <a:xfrm>
            <a:off x="4076700" y="61769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247" name="Text 244"/>
          <p:cNvSpPr/>
          <p:nvPr/>
        </p:nvSpPr>
        <p:spPr>
          <a:xfrm>
            <a:off x="4162425" y="6362700"/>
            <a:ext cx="71437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行业场景评估</a:t>
            </a:r>
            <a:endParaRPr lang="en-US" sz="638" dirty="0"/>
          </a:p>
        </p:txBody>
      </p:sp>
      <p:sp>
        <p:nvSpPr>
          <p:cNvPr id="248" name="Text 245"/>
          <p:cNvSpPr/>
          <p:nvPr/>
        </p:nvSpPr>
        <p:spPr>
          <a:xfrm>
            <a:off x="4076700" y="63579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249" name="Text 246"/>
          <p:cNvSpPr/>
          <p:nvPr/>
        </p:nvSpPr>
        <p:spPr>
          <a:xfrm>
            <a:off x="4162425" y="6534150"/>
            <a:ext cx="80010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定制化评估服务</a:t>
            </a:r>
            <a:endParaRPr lang="en-US" sz="638" dirty="0"/>
          </a:p>
        </p:txBody>
      </p:sp>
      <p:sp>
        <p:nvSpPr>
          <p:cNvPr id="250" name="Text 247"/>
          <p:cNvSpPr/>
          <p:nvPr/>
        </p:nvSpPr>
        <p:spPr>
          <a:xfrm>
            <a:off x="4076700" y="65293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251" name="Text 248"/>
          <p:cNvSpPr/>
          <p:nvPr/>
        </p:nvSpPr>
        <p:spPr>
          <a:xfrm>
            <a:off x="5867400" y="5915025"/>
            <a:ext cx="7143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监测订阅服务</a:t>
            </a:r>
            <a:endParaRPr lang="en-US" sz="812" dirty="0"/>
          </a:p>
        </p:txBody>
      </p:sp>
      <p:sp>
        <p:nvSpPr>
          <p:cNvPr id="252" name="Text 249"/>
          <p:cNvSpPr/>
          <p:nvPr/>
        </p:nvSpPr>
        <p:spPr>
          <a:xfrm>
            <a:off x="5943600" y="6181725"/>
            <a:ext cx="71437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能力动态监测</a:t>
            </a:r>
            <a:endParaRPr lang="en-US" sz="638" dirty="0"/>
          </a:p>
        </p:txBody>
      </p:sp>
      <p:sp>
        <p:nvSpPr>
          <p:cNvPr id="253" name="Text 250"/>
          <p:cNvSpPr/>
          <p:nvPr/>
        </p:nvSpPr>
        <p:spPr>
          <a:xfrm>
            <a:off x="5857875" y="61769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254" name="Text 251"/>
          <p:cNvSpPr/>
          <p:nvPr/>
        </p:nvSpPr>
        <p:spPr>
          <a:xfrm>
            <a:off x="5943600" y="6362700"/>
            <a:ext cx="71437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风险预警订阅</a:t>
            </a:r>
            <a:endParaRPr lang="en-US" sz="638" dirty="0"/>
          </a:p>
        </p:txBody>
      </p:sp>
      <p:sp>
        <p:nvSpPr>
          <p:cNvPr id="255" name="Text 252"/>
          <p:cNvSpPr/>
          <p:nvPr/>
        </p:nvSpPr>
        <p:spPr>
          <a:xfrm>
            <a:off x="5857875" y="63579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256" name="Text 253"/>
          <p:cNvSpPr/>
          <p:nvPr/>
        </p:nvSpPr>
        <p:spPr>
          <a:xfrm>
            <a:off x="5943600" y="6534150"/>
            <a:ext cx="71437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指标变化推送</a:t>
            </a:r>
            <a:endParaRPr lang="en-US" sz="638" dirty="0"/>
          </a:p>
        </p:txBody>
      </p:sp>
      <p:sp>
        <p:nvSpPr>
          <p:cNvPr id="257" name="Text 254"/>
          <p:cNvSpPr/>
          <p:nvPr/>
        </p:nvSpPr>
        <p:spPr>
          <a:xfrm>
            <a:off x="5857875" y="65293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258" name="Text 255"/>
          <p:cNvSpPr/>
          <p:nvPr/>
        </p:nvSpPr>
        <p:spPr>
          <a:xfrm>
            <a:off x="7677150" y="5915025"/>
            <a:ext cx="7143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国际交流服务</a:t>
            </a:r>
            <a:endParaRPr lang="en-US" sz="812" dirty="0"/>
          </a:p>
        </p:txBody>
      </p:sp>
      <p:sp>
        <p:nvSpPr>
          <p:cNvPr id="259" name="Text 256"/>
          <p:cNvSpPr/>
          <p:nvPr/>
        </p:nvSpPr>
        <p:spPr>
          <a:xfrm>
            <a:off x="7753350" y="6181725"/>
            <a:ext cx="71437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国际标准对接</a:t>
            </a:r>
            <a:endParaRPr lang="en-US" sz="638" dirty="0"/>
          </a:p>
        </p:txBody>
      </p:sp>
      <p:sp>
        <p:nvSpPr>
          <p:cNvPr id="260" name="Text 257"/>
          <p:cNvSpPr/>
          <p:nvPr/>
        </p:nvSpPr>
        <p:spPr>
          <a:xfrm>
            <a:off x="7667625" y="61769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261" name="Text 258"/>
          <p:cNvSpPr/>
          <p:nvPr/>
        </p:nvSpPr>
        <p:spPr>
          <a:xfrm>
            <a:off x="7753350" y="6362700"/>
            <a:ext cx="71437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跨境互认支持</a:t>
            </a:r>
            <a:endParaRPr lang="en-US" sz="638" dirty="0"/>
          </a:p>
        </p:txBody>
      </p:sp>
      <p:sp>
        <p:nvSpPr>
          <p:cNvPr id="262" name="Text 259"/>
          <p:cNvSpPr/>
          <p:nvPr/>
        </p:nvSpPr>
        <p:spPr>
          <a:xfrm>
            <a:off x="7667625" y="63579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263" name="Text 260"/>
          <p:cNvSpPr/>
          <p:nvPr/>
        </p:nvSpPr>
        <p:spPr>
          <a:xfrm>
            <a:off x="7753350" y="6534150"/>
            <a:ext cx="71437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国别信息服务</a:t>
            </a:r>
            <a:endParaRPr lang="en-US" sz="638" dirty="0"/>
          </a:p>
        </p:txBody>
      </p:sp>
      <p:sp>
        <p:nvSpPr>
          <p:cNvPr id="264" name="Text 261"/>
          <p:cNvSpPr/>
          <p:nvPr/>
        </p:nvSpPr>
        <p:spPr>
          <a:xfrm>
            <a:off x="7667625" y="65293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265" name="Text 262"/>
          <p:cNvSpPr/>
          <p:nvPr/>
        </p:nvSpPr>
        <p:spPr>
          <a:xfrm>
            <a:off x="9486900" y="5915025"/>
            <a:ext cx="7143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生态协作服务</a:t>
            </a:r>
            <a:endParaRPr lang="en-US" sz="812" dirty="0"/>
          </a:p>
        </p:txBody>
      </p:sp>
      <p:sp>
        <p:nvSpPr>
          <p:cNvPr id="266" name="Text 263"/>
          <p:cNvSpPr/>
          <p:nvPr/>
        </p:nvSpPr>
        <p:spPr>
          <a:xfrm>
            <a:off x="9563100" y="6181725"/>
            <a:ext cx="71437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合作生态对接</a:t>
            </a:r>
            <a:endParaRPr lang="en-US" sz="638" dirty="0"/>
          </a:p>
        </p:txBody>
      </p:sp>
      <p:sp>
        <p:nvSpPr>
          <p:cNvPr id="267" name="Text 264"/>
          <p:cNvSpPr/>
          <p:nvPr/>
        </p:nvSpPr>
        <p:spPr>
          <a:xfrm>
            <a:off x="9477375" y="61769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268" name="Text 265"/>
          <p:cNvSpPr/>
          <p:nvPr/>
        </p:nvSpPr>
        <p:spPr>
          <a:xfrm>
            <a:off x="9563100" y="6362700"/>
            <a:ext cx="71437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能力开放共享</a:t>
            </a:r>
            <a:endParaRPr lang="en-US" sz="638" dirty="0"/>
          </a:p>
        </p:txBody>
      </p:sp>
      <p:sp>
        <p:nvSpPr>
          <p:cNvPr id="269" name="Text 266"/>
          <p:cNvSpPr/>
          <p:nvPr/>
        </p:nvSpPr>
        <p:spPr>
          <a:xfrm>
            <a:off x="9477375" y="63579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  <p:sp>
        <p:nvSpPr>
          <p:cNvPr id="270" name="Text 267"/>
          <p:cNvSpPr/>
          <p:nvPr/>
        </p:nvSpPr>
        <p:spPr>
          <a:xfrm>
            <a:off x="9563100" y="6534150"/>
            <a:ext cx="71437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生态共建共赢</a:t>
            </a:r>
            <a:endParaRPr lang="en-US" sz="638" dirty="0"/>
          </a:p>
        </p:txBody>
      </p:sp>
      <p:sp>
        <p:nvSpPr>
          <p:cNvPr id="271" name="Text 268"/>
          <p:cNvSpPr/>
          <p:nvPr/>
        </p:nvSpPr>
        <p:spPr>
          <a:xfrm>
            <a:off x="9477375" y="65293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61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CyberPPT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CyberPPT dual image editable overlay</dc:title>
  <dc:subject>dual_image_editable_overlay</dc:subject>
  <dc:creator>CyberPPT</dc:creator>
  <cp:lastModifiedBy>CyberPPT</cp:lastModifiedBy>
  <cp:revision>1</cp:revision>
  <dcterms:created xsi:type="dcterms:W3CDTF">2026-07-05T03:24:30Z</dcterms:created>
  <dcterms:modified xsi:type="dcterms:W3CDTF">2026-07-05T03:24:30Z</dcterms:modified>
</cp:coreProperties>
</file>