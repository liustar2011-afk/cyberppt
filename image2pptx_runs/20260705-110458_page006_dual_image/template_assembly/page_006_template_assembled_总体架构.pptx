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ns0:Relationships xmlns:ns0="http://schemas.openxmlformats.org/package/2006/relationships"><ns0:Relationship Id="rId1" Type="http://schemas.openxmlformats.org/officeDocument/2006/relationships/image" Target="../media/image-1-1.png" /><ns0:Relationship Id="rId2" Type="http://schemas.openxmlformats.org/officeDocument/2006/relationships/slideLayout" Target="../slideLayouts/slideLayout1.xml" /><ns0:Relationship Id="rId3" Type="http://schemas.openxmlformats.org/officeDocument/2006/relationships/notesSlide" Target="../notesSlides/notesSlide1.xml" /><ns0:Relationship Id="rIdLogo1" Type="http://schemas.openxmlformats.org/officeDocument/2006/relationships/image" Target="../media/cec_logo.png" /></ns0: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olumes/DOC/CyberPPT/image2pptx_runs/20260705-110458_page006_dual_image/project/images/normalized/page_006_background_1280x7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5467" y="1162050"/>
            <a:ext cx="9381067" cy="52768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534529" y="1689735"/>
            <a:ext cx="146579" cy="146579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992991" y="1689735"/>
            <a:ext cx="146579" cy="146579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51454" y="1689735"/>
            <a:ext cx="146579" cy="146579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534529" y="2642500"/>
            <a:ext cx="146579" cy="146579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992991" y="2642500"/>
            <a:ext cx="146579" cy="146579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51454" y="2642500"/>
            <a:ext cx="146579" cy="146579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534529" y="3595264"/>
            <a:ext cx="146579" cy="146579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992991" y="3595264"/>
            <a:ext cx="146579" cy="146579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51454" y="3595264"/>
            <a:ext cx="146579" cy="146579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899729" y="1730045"/>
            <a:ext cx="131921" cy="131921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899729" y="2514242"/>
            <a:ext cx="131921" cy="131921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899729" y="3291113"/>
            <a:ext cx="131921" cy="131921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899729" y="4075311"/>
            <a:ext cx="131921" cy="131921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899729" y="4852180"/>
            <a:ext cx="131921" cy="131921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899729" y="5636379"/>
            <a:ext cx="131921" cy="131921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830546" y="1293971"/>
            <a:ext cx="505698" cy="1392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8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数据基础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1732888" y="1422961"/>
            <a:ext cx="715673" cy="12312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8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（多源汇聚）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1769115" y="1723448"/>
            <a:ext cx="782469" cy="12312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8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企业/业务数据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1991783" y="1881050"/>
            <a:ext cx="613433" cy="1055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经营管理数据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925823" y="1887280"/>
            <a:ext cx="29316" cy="9161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1991783" y="1993975"/>
            <a:ext cx="613433" cy="1055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项目执行数据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925823" y="1889449"/>
            <a:ext cx="29316" cy="9161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1991783" y="2106899"/>
            <a:ext cx="613433" cy="1055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合同订单数据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925823" y="2000938"/>
            <a:ext cx="29316" cy="9161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1991783" y="2219824"/>
            <a:ext cx="715673" cy="1055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绩效与指标数据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925823" y="2223122"/>
            <a:ext cx="29316" cy="98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1991783" y="2332748"/>
            <a:ext cx="205211" cy="1055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……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802513" y="2646897"/>
            <a:ext cx="715673" cy="12312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8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内部职能数据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1991783" y="2804499"/>
            <a:ext cx="613433" cy="1055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人力资源数据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925823" y="2667814"/>
            <a:ext cx="29316" cy="98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1991783" y="2917424"/>
            <a:ext cx="613433" cy="1055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财务管理数据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925823" y="2920721"/>
            <a:ext cx="29316" cy="98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1991783" y="3030348"/>
            <a:ext cx="613433" cy="1055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法务合规数据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925823" y="3033646"/>
            <a:ext cx="29316" cy="98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37" name="Text 34"/>
          <p:cNvSpPr/>
          <p:nvPr/>
        </p:nvSpPr>
        <p:spPr>
          <a:xfrm>
            <a:off x="1991783" y="3143272"/>
            <a:ext cx="715673" cy="1055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采购供应链数据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925823" y="3146570"/>
            <a:ext cx="29316" cy="98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39" name="Text 36"/>
          <p:cNvSpPr/>
          <p:nvPr/>
        </p:nvSpPr>
        <p:spPr>
          <a:xfrm>
            <a:off x="1991783" y="3256197"/>
            <a:ext cx="205211" cy="1055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……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1802513" y="3585004"/>
            <a:ext cx="715673" cy="12312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8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外部公共数据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1991783" y="3742606"/>
            <a:ext cx="613433" cy="1055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工商税务数据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1925823" y="3745904"/>
            <a:ext cx="29316" cy="98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43" name="Text 40"/>
          <p:cNvSpPr/>
          <p:nvPr/>
        </p:nvSpPr>
        <p:spPr>
          <a:xfrm>
            <a:off x="1991783" y="3855530"/>
            <a:ext cx="670688" cy="1055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信用/司法数据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1925823" y="3858828"/>
            <a:ext cx="29316" cy="98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45" name="Text 42"/>
          <p:cNvSpPr/>
          <p:nvPr/>
        </p:nvSpPr>
        <p:spPr>
          <a:xfrm>
            <a:off x="1991783" y="3968455"/>
            <a:ext cx="817912" cy="1055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进出口与海关数据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1925823" y="3971753"/>
            <a:ext cx="29316" cy="98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47" name="Text 44"/>
          <p:cNvSpPr/>
          <p:nvPr/>
        </p:nvSpPr>
        <p:spPr>
          <a:xfrm>
            <a:off x="1991783" y="4081379"/>
            <a:ext cx="613433" cy="1055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宏观经济数据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1925823" y="4084677"/>
            <a:ext cx="29316" cy="98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49" name="Text 46"/>
          <p:cNvSpPr/>
          <p:nvPr/>
        </p:nvSpPr>
        <p:spPr>
          <a:xfrm>
            <a:off x="1991783" y="4194304"/>
            <a:ext cx="205211" cy="1055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……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1683234" y="4526042"/>
            <a:ext cx="954230" cy="12459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8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外部专业机构数据</a:t>
            </a:r>
            <a:endParaRPr lang="en-US" sz="1050" dirty="0"/>
          </a:p>
        </p:txBody>
      </p:sp>
      <p:sp>
        <p:nvSpPr>
          <p:cNvPr id="51" name="Text 48"/>
          <p:cNvSpPr/>
          <p:nvPr/>
        </p:nvSpPr>
        <p:spPr>
          <a:xfrm>
            <a:off x="1991783" y="4685520"/>
            <a:ext cx="613433" cy="1055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评级评估数据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1925823" y="4688818"/>
            <a:ext cx="29316" cy="98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53" name="Text 50"/>
          <p:cNvSpPr/>
          <p:nvPr/>
        </p:nvSpPr>
        <p:spPr>
          <a:xfrm>
            <a:off x="1991783" y="4798444"/>
            <a:ext cx="613433" cy="1055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行业基准数据</a:t>
            </a:r>
            <a:endParaRPr lang="en-US" sz="900" dirty="0"/>
          </a:p>
        </p:txBody>
      </p:sp>
      <p:sp>
        <p:nvSpPr>
          <p:cNvPr id="54" name="Text 51"/>
          <p:cNvSpPr/>
          <p:nvPr/>
        </p:nvSpPr>
        <p:spPr>
          <a:xfrm>
            <a:off x="1925823" y="4801742"/>
            <a:ext cx="29316" cy="98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55" name="Text 52"/>
          <p:cNvSpPr/>
          <p:nvPr/>
        </p:nvSpPr>
        <p:spPr>
          <a:xfrm>
            <a:off x="1991783" y="4911369"/>
            <a:ext cx="809733" cy="1055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ESG/HSE评估数据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1925823" y="4914667"/>
            <a:ext cx="29316" cy="98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57" name="Text 54"/>
          <p:cNvSpPr/>
          <p:nvPr/>
        </p:nvSpPr>
        <p:spPr>
          <a:xfrm>
            <a:off x="1991783" y="5024294"/>
            <a:ext cx="613433" cy="1055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风险情报数据</a:t>
            </a:r>
            <a:endParaRPr lang="en-US" sz="900" dirty="0"/>
          </a:p>
        </p:txBody>
      </p:sp>
      <p:sp>
        <p:nvSpPr>
          <p:cNvPr id="58" name="Text 55"/>
          <p:cNvSpPr/>
          <p:nvPr/>
        </p:nvSpPr>
        <p:spPr>
          <a:xfrm>
            <a:off x="1925823" y="5027592"/>
            <a:ext cx="29316" cy="98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59" name="Text 56"/>
          <p:cNvSpPr/>
          <p:nvPr/>
        </p:nvSpPr>
        <p:spPr>
          <a:xfrm>
            <a:off x="1991783" y="5137219"/>
            <a:ext cx="205211" cy="1055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……</a:t>
            </a:r>
            <a:endParaRPr lang="en-US" sz="900" dirty="0"/>
          </a:p>
        </p:txBody>
      </p:sp>
      <p:sp>
        <p:nvSpPr>
          <p:cNvPr id="60" name="Text 57"/>
          <p:cNvSpPr/>
          <p:nvPr/>
        </p:nvSpPr>
        <p:spPr>
          <a:xfrm>
            <a:off x="4256431" y="1293971"/>
            <a:ext cx="2616438" cy="14657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8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核心能力评估空间（评估模型与能力引擎）</a:t>
            </a:r>
            <a:endParaRPr lang="en-US" sz="1050" dirty="0"/>
          </a:p>
        </p:txBody>
      </p:sp>
      <p:sp>
        <p:nvSpPr>
          <p:cNvPr id="61" name="Text 58"/>
          <p:cNvSpPr/>
          <p:nvPr/>
        </p:nvSpPr>
        <p:spPr>
          <a:xfrm>
            <a:off x="3534529" y="1697064"/>
            <a:ext cx="146579" cy="15390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720" dirty="0"/>
          </a:p>
        </p:txBody>
      </p:sp>
      <p:sp>
        <p:nvSpPr>
          <p:cNvPr id="62" name="Text 59"/>
          <p:cNvSpPr/>
          <p:nvPr/>
        </p:nvSpPr>
        <p:spPr>
          <a:xfrm>
            <a:off x="3852972" y="1684751"/>
            <a:ext cx="477115" cy="12312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8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目录管理</a:t>
            </a:r>
            <a:endParaRPr lang="en-US" sz="1050" dirty="0"/>
          </a:p>
        </p:txBody>
      </p:sp>
      <p:sp>
        <p:nvSpPr>
          <p:cNvPr id="63" name="Text 60"/>
          <p:cNvSpPr/>
          <p:nvPr/>
        </p:nvSpPr>
        <p:spPr>
          <a:xfrm>
            <a:off x="3948615" y="1842354"/>
            <a:ext cx="670688" cy="1055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指标/能力目录</a:t>
            </a:r>
            <a:endParaRPr lang="en-US" sz="900" dirty="0"/>
          </a:p>
        </p:txBody>
      </p:sp>
      <p:sp>
        <p:nvSpPr>
          <p:cNvPr id="64" name="Text 61"/>
          <p:cNvSpPr/>
          <p:nvPr/>
        </p:nvSpPr>
        <p:spPr>
          <a:xfrm>
            <a:off x="3882655" y="1845651"/>
            <a:ext cx="29316" cy="98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65" name="Text 62"/>
          <p:cNvSpPr/>
          <p:nvPr/>
        </p:nvSpPr>
        <p:spPr>
          <a:xfrm>
            <a:off x="3948615" y="1955278"/>
            <a:ext cx="613433" cy="1055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评估维度管理</a:t>
            </a:r>
            <a:endParaRPr lang="en-US" sz="900" dirty="0"/>
          </a:p>
        </p:txBody>
      </p:sp>
      <p:sp>
        <p:nvSpPr>
          <p:cNvPr id="66" name="Text 63"/>
          <p:cNvSpPr/>
          <p:nvPr/>
        </p:nvSpPr>
        <p:spPr>
          <a:xfrm>
            <a:off x="3882655" y="1958576"/>
            <a:ext cx="29316" cy="98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67" name="Text 64"/>
          <p:cNvSpPr/>
          <p:nvPr/>
        </p:nvSpPr>
        <p:spPr>
          <a:xfrm>
            <a:off x="3948615" y="2068202"/>
            <a:ext cx="715673" cy="1055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分类与标签管理</a:t>
            </a:r>
            <a:endParaRPr lang="en-US" sz="900" dirty="0"/>
          </a:p>
        </p:txBody>
      </p:sp>
      <p:sp>
        <p:nvSpPr>
          <p:cNvPr id="68" name="Text 65"/>
          <p:cNvSpPr/>
          <p:nvPr/>
        </p:nvSpPr>
        <p:spPr>
          <a:xfrm>
            <a:off x="3882655" y="2110197"/>
            <a:ext cx="29316" cy="98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69" name="Text 66"/>
          <p:cNvSpPr/>
          <p:nvPr/>
        </p:nvSpPr>
        <p:spPr>
          <a:xfrm>
            <a:off x="3948615" y="2181127"/>
            <a:ext cx="613433" cy="1055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目录版本管理</a:t>
            </a:r>
            <a:endParaRPr lang="en-US" sz="900" dirty="0"/>
          </a:p>
        </p:txBody>
      </p:sp>
      <p:sp>
        <p:nvSpPr>
          <p:cNvPr id="70" name="Text 67"/>
          <p:cNvSpPr/>
          <p:nvPr/>
        </p:nvSpPr>
        <p:spPr>
          <a:xfrm>
            <a:off x="3882655" y="2184425"/>
            <a:ext cx="29316" cy="98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71" name="Text 68"/>
          <p:cNvSpPr/>
          <p:nvPr/>
        </p:nvSpPr>
        <p:spPr>
          <a:xfrm>
            <a:off x="4992991" y="1697064"/>
            <a:ext cx="146579" cy="15390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720" dirty="0"/>
          </a:p>
        </p:txBody>
      </p:sp>
      <p:sp>
        <p:nvSpPr>
          <p:cNvPr id="72" name="Text 69"/>
          <p:cNvSpPr/>
          <p:nvPr/>
        </p:nvSpPr>
        <p:spPr>
          <a:xfrm>
            <a:off x="5304106" y="1684751"/>
            <a:ext cx="477115" cy="12312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8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身份认证</a:t>
            </a:r>
            <a:endParaRPr lang="en-US" sz="1050" dirty="0"/>
          </a:p>
        </p:txBody>
      </p:sp>
      <p:sp>
        <p:nvSpPr>
          <p:cNvPr id="73" name="Text 70"/>
          <p:cNvSpPr/>
          <p:nvPr/>
        </p:nvSpPr>
        <p:spPr>
          <a:xfrm>
            <a:off x="5436394" y="1842354"/>
            <a:ext cx="613433" cy="1055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主体身份管理</a:t>
            </a:r>
            <a:endParaRPr lang="en-US" sz="900" dirty="0"/>
          </a:p>
        </p:txBody>
      </p:sp>
      <p:sp>
        <p:nvSpPr>
          <p:cNvPr id="74" name="Text 71"/>
          <p:cNvSpPr/>
          <p:nvPr/>
        </p:nvSpPr>
        <p:spPr>
          <a:xfrm>
            <a:off x="5370433" y="1845651"/>
            <a:ext cx="29316" cy="98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75" name="Text 72"/>
          <p:cNvSpPr/>
          <p:nvPr/>
        </p:nvSpPr>
        <p:spPr>
          <a:xfrm>
            <a:off x="5436394" y="1955278"/>
            <a:ext cx="613433" cy="1055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人员身份管理</a:t>
            </a:r>
            <a:endParaRPr lang="en-US" sz="900" dirty="0"/>
          </a:p>
        </p:txBody>
      </p:sp>
      <p:sp>
        <p:nvSpPr>
          <p:cNvPr id="76" name="Text 73"/>
          <p:cNvSpPr/>
          <p:nvPr/>
        </p:nvSpPr>
        <p:spPr>
          <a:xfrm>
            <a:off x="5370433" y="1958576"/>
            <a:ext cx="29316" cy="98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77" name="Text 74"/>
          <p:cNvSpPr/>
          <p:nvPr/>
        </p:nvSpPr>
        <p:spPr>
          <a:xfrm>
            <a:off x="5436394" y="2068202"/>
            <a:ext cx="613433" cy="1055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可信身份校验</a:t>
            </a:r>
            <a:endParaRPr lang="en-US" sz="900" dirty="0"/>
          </a:p>
        </p:txBody>
      </p:sp>
      <p:sp>
        <p:nvSpPr>
          <p:cNvPr id="78" name="Text 75"/>
          <p:cNvSpPr/>
          <p:nvPr/>
        </p:nvSpPr>
        <p:spPr>
          <a:xfrm>
            <a:off x="5370433" y="2071500"/>
            <a:ext cx="29316" cy="98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79" name="Text 76"/>
          <p:cNvSpPr/>
          <p:nvPr/>
        </p:nvSpPr>
        <p:spPr>
          <a:xfrm>
            <a:off x="5436394" y="2181127"/>
            <a:ext cx="613433" cy="1055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认证策略配置</a:t>
            </a:r>
            <a:endParaRPr lang="en-US" sz="900" dirty="0"/>
          </a:p>
        </p:txBody>
      </p:sp>
      <p:sp>
        <p:nvSpPr>
          <p:cNvPr id="80" name="Text 77"/>
          <p:cNvSpPr/>
          <p:nvPr/>
        </p:nvSpPr>
        <p:spPr>
          <a:xfrm>
            <a:off x="5370433" y="2071500"/>
            <a:ext cx="29316" cy="98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81" name="Text 78"/>
          <p:cNvSpPr/>
          <p:nvPr/>
        </p:nvSpPr>
        <p:spPr>
          <a:xfrm>
            <a:off x="6451454" y="1697064"/>
            <a:ext cx="146579" cy="15390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720" dirty="0"/>
          </a:p>
        </p:txBody>
      </p:sp>
      <p:sp>
        <p:nvSpPr>
          <p:cNvPr id="82" name="Text 79"/>
          <p:cNvSpPr/>
          <p:nvPr/>
        </p:nvSpPr>
        <p:spPr>
          <a:xfrm>
            <a:off x="6791885" y="1684751"/>
            <a:ext cx="477115" cy="12312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8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授权控制</a:t>
            </a:r>
            <a:endParaRPr lang="en-US" sz="1050" dirty="0"/>
          </a:p>
        </p:txBody>
      </p:sp>
      <p:sp>
        <p:nvSpPr>
          <p:cNvPr id="83" name="Text 80"/>
          <p:cNvSpPr/>
          <p:nvPr/>
        </p:nvSpPr>
        <p:spPr>
          <a:xfrm>
            <a:off x="6916843" y="1842354"/>
            <a:ext cx="613433" cy="1055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数据资源授权</a:t>
            </a:r>
            <a:endParaRPr lang="en-US" sz="900" dirty="0"/>
          </a:p>
        </p:txBody>
      </p:sp>
      <p:sp>
        <p:nvSpPr>
          <p:cNvPr id="84" name="Text 81"/>
          <p:cNvSpPr/>
          <p:nvPr/>
        </p:nvSpPr>
        <p:spPr>
          <a:xfrm>
            <a:off x="6850883" y="1845651"/>
            <a:ext cx="29316" cy="98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85" name="Text 82"/>
          <p:cNvSpPr/>
          <p:nvPr/>
        </p:nvSpPr>
        <p:spPr>
          <a:xfrm>
            <a:off x="6916843" y="1955278"/>
            <a:ext cx="613433" cy="1055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能力访问授权</a:t>
            </a:r>
            <a:endParaRPr lang="en-US" sz="900" dirty="0"/>
          </a:p>
        </p:txBody>
      </p:sp>
      <p:sp>
        <p:nvSpPr>
          <p:cNvPr id="86" name="Text 83"/>
          <p:cNvSpPr/>
          <p:nvPr/>
        </p:nvSpPr>
        <p:spPr>
          <a:xfrm>
            <a:off x="6850883" y="1958576"/>
            <a:ext cx="29316" cy="98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87" name="Text 84"/>
          <p:cNvSpPr/>
          <p:nvPr/>
        </p:nvSpPr>
        <p:spPr>
          <a:xfrm>
            <a:off x="6916843" y="2068202"/>
            <a:ext cx="613433" cy="1055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角色权限管理</a:t>
            </a:r>
            <a:endParaRPr lang="en-US" sz="900" dirty="0"/>
          </a:p>
        </p:txBody>
      </p:sp>
      <p:sp>
        <p:nvSpPr>
          <p:cNvPr id="88" name="Text 85"/>
          <p:cNvSpPr/>
          <p:nvPr/>
        </p:nvSpPr>
        <p:spPr>
          <a:xfrm>
            <a:off x="6850883" y="2071500"/>
            <a:ext cx="29316" cy="98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89" name="Text 86"/>
          <p:cNvSpPr/>
          <p:nvPr/>
        </p:nvSpPr>
        <p:spPr>
          <a:xfrm>
            <a:off x="6916843" y="2181127"/>
            <a:ext cx="613433" cy="1055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授权策略管理</a:t>
            </a:r>
            <a:endParaRPr lang="en-US" sz="900" dirty="0"/>
          </a:p>
        </p:txBody>
      </p:sp>
      <p:sp>
        <p:nvSpPr>
          <p:cNvPr id="90" name="Text 87"/>
          <p:cNvSpPr/>
          <p:nvPr/>
        </p:nvSpPr>
        <p:spPr>
          <a:xfrm>
            <a:off x="6850883" y="2184425"/>
            <a:ext cx="29316" cy="98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91" name="Text 88"/>
          <p:cNvSpPr/>
          <p:nvPr/>
        </p:nvSpPr>
        <p:spPr>
          <a:xfrm>
            <a:off x="3534529" y="2649829"/>
            <a:ext cx="146579" cy="15390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720" dirty="0"/>
          </a:p>
        </p:txBody>
      </p:sp>
      <p:sp>
        <p:nvSpPr>
          <p:cNvPr id="92" name="Text 89"/>
          <p:cNvSpPr/>
          <p:nvPr/>
        </p:nvSpPr>
        <p:spPr>
          <a:xfrm>
            <a:off x="3852972" y="2637516"/>
            <a:ext cx="477115" cy="12312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8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规则调用</a:t>
            </a:r>
            <a:endParaRPr lang="en-US" sz="1050" dirty="0"/>
          </a:p>
        </p:txBody>
      </p:sp>
      <p:sp>
        <p:nvSpPr>
          <p:cNvPr id="93" name="Text 90"/>
          <p:cNvSpPr/>
          <p:nvPr/>
        </p:nvSpPr>
        <p:spPr>
          <a:xfrm>
            <a:off x="3948615" y="2795118"/>
            <a:ext cx="613433" cy="1055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评估规则引擎</a:t>
            </a:r>
            <a:endParaRPr lang="en-US" sz="900" dirty="0"/>
          </a:p>
        </p:txBody>
      </p:sp>
      <p:sp>
        <p:nvSpPr>
          <p:cNvPr id="94" name="Text 91"/>
          <p:cNvSpPr/>
          <p:nvPr/>
        </p:nvSpPr>
        <p:spPr>
          <a:xfrm>
            <a:off x="3882655" y="2798416"/>
            <a:ext cx="29316" cy="98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95" name="Text 92"/>
          <p:cNvSpPr/>
          <p:nvPr/>
        </p:nvSpPr>
        <p:spPr>
          <a:xfrm>
            <a:off x="3948615" y="2908043"/>
            <a:ext cx="613433" cy="1055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评分算法管理</a:t>
            </a:r>
            <a:endParaRPr lang="en-US" sz="900" dirty="0"/>
          </a:p>
        </p:txBody>
      </p:sp>
      <p:sp>
        <p:nvSpPr>
          <p:cNvPr id="96" name="Text 93"/>
          <p:cNvSpPr/>
          <p:nvPr/>
        </p:nvSpPr>
        <p:spPr>
          <a:xfrm>
            <a:off x="3882655" y="2911340"/>
            <a:ext cx="29316" cy="98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97" name="Text 94"/>
          <p:cNvSpPr/>
          <p:nvPr/>
        </p:nvSpPr>
        <p:spPr>
          <a:xfrm>
            <a:off x="3948615" y="3020967"/>
            <a:ext cx="613433" cy="1055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规则版本管理</a:t>
            </a:r>
            <a:endParaRPr lang="en-US" sz="900" dirty="0"/>
          </a:p>
        </p:txBody>
      </p:sp>
      <p:sp>
        <p:nvSpPr>
          <p:cNvPr id="98" name="Text 95"/>
          <p:cNvSpPr/>
          <p:nvPr/>
        </p:nvSpPr>
        <p:spPr>
          <a:xfrm>
            <a:off x="3882655" y="3024265"/>
            <a:ext cx="29316" cy="98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99" name="Text 96"/>
          <p:cNvSpPr/>
          <p:nvPr/>
        </p:nvSpPr>
        <p:spPr>
          <a:xfrm>
            <a:off x="3948615" y="3133891"/>
            <a:ext cx="613433" cy="1055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规则执行日志</a:t>
            </a:r>
            <a:endParaRPr lang="en-US" sz="900" dirty="0"/>
          </a:p>
        </p:txBody>
      </p:sp>
      <p:sp>
        <p:nvSpPr>
          <p:cNvPr id="100" name="Text 97"/>
          <p:cNvSpPr/>
          <p:nvPr/>
        </p:nvSpPr>
        <p:spPr>
          <a:xfrm>
            <a:off x="3882655" y="3137189"/>
            <a:ext cx="29316" cy="98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01" name="Text 98"/>
          <p:cNvSpPr/>
          <p:nvPr/>
        </p:nvSpPr>
        <p:spPr>
          <a:xfrm>
            <a:off x="4992991" y="2649829"/>
            <a:ext cx="146579" cy="15390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720" dirty="0"/>
          </a:p>
        </p:txBody>
      </p:sp>
      <p:sp>
        <p:nvSpPr>
          <p:cNvPr id="102" name="Text 99"/>
          <p:cNvSpPr/>
          <p:nvPr/>
        </p:nvSpPr>
        <p:spPr>
          <a:xfrm>
            <a:off x="5304106" y="2637516"/>
            <a:ext cx="477115" cy="12312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8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证据管理</a:t>
            </a:r>
            <a:endParaRPr lang="en-US" sz="1050" dirty="0"/>
          </a:p>
        </p:txBody>
      </p:sp>
      <p:sp>
        <p:nvSpPr>
          <p:cNvPr id="103" name="Text 100"/>
          <p:cNvSpPr/>
          <p:nvPr/>
        </p:nvSpPr>
        <p:spPr>
          <a:xfrm>
            <a:off x="5436394" y="2795118"/>
            <a:ext cx="613433" cy="1055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证据采集接入</a:t>
            </a:r>
            <a:endParaRPr lang="en-US" sz="900" dirty="0"/>
          </a:p>
        </p:txBody>
      </p:sp>
      <p:sp>
        <p:nvSpPr>
          <p:cNvPr id="104" name="Text 101"/>
          <p:cNvSpPr/>
          <p:nvPr/>
        </p:nvSpPr>
        <p:spPr>
          <a:xfrm>
            <a:off x="5370433" y="2798416"/>
            <a:ext cx="29316" cy="98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05" name="Text 102"/>
          <p:cNvSpPr/>
          <p:nvPr/>
        </p:nvSpPr>
        <p:spPr>
          <a:xfrm>
            <a:off x="5436394" y="2908043"/>
            <a:ext cx="511195" cy="1055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证据标准化</a:t>
            </a:r>
            <a:endParaRPr lang="en-US" sz="900" dirty="0"/>
          </a:p>
        </p:txBody>
      </p:sp>
      <p:sp>
        <p:nvSpPr>
          <p:cNvPr id="106" name="Text 103"/>
          <p:cNvSpPr/>
          <p:nvPr/>
        </p:nvSpPr>
        <p:spPr>
          <a:xfrm>
            <a:off x="5370433" y="2911340"/>
            <a:ext cx="29316" cy="98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07" name="Text 104"/>
          <p:cNvSpPr/>
          <p:nvPr/>
        </p:nvSpPr>
        <p:spPr>
          <a:xfrm>
            <a:off x="5436394" y="3020967"/>
            <a:ext cx="613433" cy="1055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证据质量校验</a:t>
            </a:r>
            <a:endParaRPr lang="en-US" sz="900" dirty="0"/>
          </a:p>
        </p:txBody>
      </p:sp>
      <p:sp>
        <p:nvSpPr>
          <p:cNvPr id="108" name="Text 105"/>
          <p:cNvSpPr/>
          <p:nvPr/>
        </p:nvSpPr>
        <p:spPr>
          <a:xfrm>
            <a:off x="5370433" y="3024265"/>
            <a:ext cx="29316" cy="98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09" name="Text 106"/>
          <p:cNvSpPr/>
          <p:nvPr/>
        </p:nvSpPr>
        <p:spPr>
          <a:xfrm>
            <a:off x="5436394" y="3133891"/>
            <a:ext cx="613433" cy="1055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证据关联映射</a:t>
            </a:r>
            <a:endParaRPr lang="en-US" sz="900" dirty="0"/>
          </a:p>
        </p:txBody>
      </p:sp>
      <p:sp>
        <p:nvSpPr>
          <p:cNvPr id="110" name="Text 107"/>
          <p:cNvSpPr/>
          <p:nvPr/>
        </p:nvSpPr>
        <p:spPr>
          <a:xfrm>
            <a:off x="5370433" y="3137189"/>
            <a:ext cx="29316" cy="98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11" name="Text 108"/>
          <p:cNvSpPr/>
          <p:nvPr/>
        </p:nvSpPr>
        <p:spPr>
          <a:xfrm>
            <a:off x="6451454" y="2649829"/>
            <a:ext cx="146579" cy="15390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720" dirty="0"/>
          </a:p>
        </p:txBody>
      </p:sp>
      <p:sp>
        <p:nvSpPr>
          <p:cNvPr id="112" name="Text 109"/>
          <p:cNvSpPr/>
          <p:nvPr/>
        </p:nvSpPr>
        <p:spPr>
          <a:xfrm>
            <a:off x="6791885" y="2637516"/>
            <a:ext cx="477115" cy="12312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8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能力评估</a:t>
            </a:r>
            <a:endParaRPr lang="en-US" sz="1050" dirty="0"/>
          </a:p>
        </p:txBody>
      </p:sp>
      <p:sp>
        <p:nvSpPr>
          <p:cNvPr id="113" name="Text 110"/>
          <p:cNvSpPr/>
          <p:nvPr/>
        </p:nvSpPr>
        <p:spPr>
          <a:xfrm>
            <a:off x="6916843" y="2795118"/>
            <a:ext cx="613433" cy="1055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能力评分计算</a:t>
            </a:r>
            <a:endParaRPr lang="en-US" sz="900" dirty="0"/>
          </a:p>
        </p:txBody>
      </p:sp>
      <p:sp>
        <p:nvSpPr>
          <p:cNvPr id="114" name="Text 111"/>
          <p:cNvSpPr/>
          <p:nvPr/>
        </p:nvSpPr>
        <p:spPr>
          <a:xfrm>
            <a:off x="6850883" y="2798416"/>
            <a:ext cx="29316" cy="98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15" name="Text 112"/>
          <p:cNvSpPr/>
          <p:nvPr/>
        </p:nvSpPr>
        <p:spPr>
          <a:xfrm>
            <a:off x="6916843" y="2908043"/>
            <a:ext cx="613433" cy="1055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维度权重配置</a:t>
            </a:r>
            <a:endParaRPr lang="en-US" sz="900" dirty="0"/>
          </a:p>
        </p:txBody>
      </p:sp>
      <p:sp>
        <p:nvSpPr>
          <p:cNvPr id="116" name="Text 113"/>
          <p:cNvSpPr/>
          <p:nvPr/>
        </p:nvSpPr>
        <p:spPr>
          <a:xfrm>
            <a:off x="6850883" y="2911340"/>
            <a:ext cx="29316" cy="98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17" name="Text 114"/>
          <p:cNvSpPr/>
          <p:nvPr/>
        </p:nvSpPr>
        <p:spPr>
          <a:xfrm>
            <a:off x="6916843" y="3020967"/>
            <a:ext cx="613433" cy="1055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评估结果校验</a:t>
            </a:r>
            <a:endParaRPr lang="en-US" sz="900" dirty="0"/>
          </a:p>
        </p:txBody>
      </p:sp>
      <p:sp>
        <p:nvSpPr>
          <p:cNvPr id="118" name="Text 115"/>
          <p:cNvSpPr/>
          <p:nvPr/>
        </p:nvSpPr>
        <p:spPr>
          <a:xfrm>
            <a:off x="6850883" y="3024265"/>
            <a:ext cx="29316" cy="98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19" name="Text 116"/>
          <p:cNvSpPr/>
          <p:nvPr/>
        </p:nvSpPr>
        <p:spPr>
          <a:xfrm>
            <a:off x="6916843" y="3133891"/>
            <a:ext cx="511195" cy="1055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敏感项校验</a:t>
            </a:r>
            <a:endParaRPr lang="en-US" sz="900" dirty="0"/>
          </a:p>
        </p:txBody>
      </p:sp>
      <p:sp>
        <p:nvSpPr>
          <p:cNvPr id="120" name="Text 117"/>
          <p:cNvSpPr/>
          <p:nvPr/>
        </p:nvSpPr>
        <p:spPr>
          <a:xfrm>
            <a:off x="6850883" y="3137189"/>
            <a:ext cx="29316" cy="98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21" name="Text 118"/>
          <p:cNvSpPr/>
          <p:nvPr/>
        </p:nvSpPr>
        <p:spPr>
          <a:xfrm>
            <a:off x="3534529" y="3602593"/>
            <a:ext cx="146579" cy="15390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720" dirty="0"/>
          </a:p>
        </p:txBody>
      </p:sp>
      <p:sp>
        <p:nvSpPr>
          <p:cNvPr id="122" name="Text 119"/>
          <p:cNvSpPr/>
          <p:nvPr/>
        </p:nvSpPr>
        <p:spPr>
          <a:xfrm>
            <a:off x="3852972" y="3590280"/>
            <a:ext cx="477115" cy="12312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8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结果生成</a:t>
            </a:r>
            <a:endParaRPr lang="en-US" sz="1050" dirty="0"/>
          </a:p>
        </p:txBody>
      </p:sp>
      <p:sp>
        <p:nvSpPr>
          <p:cNvPr id="123" name="Text 120"/>
          <p:cNvSpPr/>
          <p:nvPr/>
        </p:nvSpPr>
        <p:spPr>
          <a:xfrm>
            <a:off x="3948615" y="3747883"/>
            <a:ext cx="613433" cy="1055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评估报告生成</a:t>
            </a:r>
            <a:endParaRPr lang="en-US" sz="900" dirty="0"/>
          </a:p>
        </p:txBody>
      </p:sp>
      <p:sp>
        <p:nvSpPr>
          <p:cNvPr id="124" name="Text 121"/>
          <p:cNvSpPr/>
          <p:nvPr/>
        </p:nvSpPr>
        <p:spPr>
          <a:xfrm>
            <a:off x="3882655" y="3751181"/>
            <a:ext cx="29316" cy="98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25" name="Text 122"/>
          <p:cNvSpPr/>
          <p:nvPr/>
        </p:nvSpPr>
        <p:spPr>
          <a:xfrm>
            <a:off x="3948615" y="3860807"/>
            <a:ext cx="511195" cy="1055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结果可视化</a:t>
            </a:r>
            <a:endParaRPr lang="en-US" sz="900" dirty="0"/>
          </a:p>
        </p:txBody>
      </p:sp>
      <p:sp>
        <p:nvSpPr>
          <p:cNvPr id="126" name="Text 123"/>
          <p:cNvSpPr/>
          <p:nvPr/>
        </p:nvSpPr>
        <p:spPr>
          <a:xfrm>
            <a:off x="3882655" y="3864105"/>
            <a:ext cx="29316" cy="98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27" name="Text 124"/>
          <p:cNvSpPr/>
          <p:nvPr/>
        </p:nvSpPr>
        <p:spPr>
          <a:xfrm>
            <a:off x="3948615" y="3973732"/>
            <a:ext cx="511195" cy="1055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结论与建议</a:t>
            </a:r>
            <a:endParaRPr lang="en-US" sz="900" dirty="0"/>
          </a:p>
        </p:txBody>
      </p:sp>
      <p:sp>
        <p:nvSpPr>
          <p:cNvPr id="128" name="Text 125"/>
          <p:cNvSpPr/>
          <p:nvPr/>
        </p:nvSpPr>
        <p:spPr>
          <a:xfrm>
            <a:off x="3882655" y="3977029"/>
            <a:ext cx="29316" cy="98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29" name="Text 126"/>
          <p:cNvSpPr/>
          <p:nvPr/>
        </p:nvSpPr>
        <p:spPr>
          <a:xfrm>
            <a:off x="3948615" y="4086656"/>
            <a:ext cx="613433" cy="1055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结果导出共享</a:t>
            </a:r>
            <a:endParaRPr lang="en-US" sz="900" dirty="0"/>
          </a:p>
        </p:txBody>
      </p:sp>
      <p:sp>
        <p:nvSpPr>
          <p:cNvPr id="130" name="Text 127"/>
          <p:cNvSpPr/>
          <p:nvPr/>
        </p:nvSpPr>
        <p:spPr>
          <a:xfrm>
            <a:off x="3882655" y="4089954"/>
            <a:ext cx="29316" cy="98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31" name="Text 128"/>
          <p:cNvSpPr/>
          <p:nvPr/>
        </p:nvSpPr>
        <p:spPr>
          <a:xfrm>
            <a:off x="4992991" y="3602593"/>
            <a:ext cx="146579" cy="15390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720" dirty="0"/>
          </a:p>
        </p:txBody>
      </p:sp>
      <p:sp>
        <p:nvSpPr>
          <p:cNvPr id="132" name="Text 129"/>
          <p:cNvSpPr/>
          <p:nvPr/>
        </p:nvSpPr>
        <p:spPr>
          <a:xfrm>
            <a:off x="5304106" y="3590280"/>
            <a:ext cx="477115" cy="12312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8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版本溯源</a:t>
            </a:r>
            <a:endParaRPr lang="en-US" sz="1050" dirty="0"/>
          </a:p>
        </p:txBody>
      </p:sp>
      <p:sp>
        <p:nvSpPr>
          <p:cNvPr id="133" name="Text 130"/>
          <p:cNvSpPr/>
          <p:nvPr/>
        </p:nvSpPr>
        <p:spPr>
          <a:xfrm>
            <a:off x="5436394" y="3747883"/>
            <a:ext cx="613433" cy="1055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版本记录管理</a:t>
            </a:r>
            <a:endParaRPr lang="en-US" sz="900" dirty="0"/>
          </a:p>
        </p:txBody>
      </p:sp>
      <p:sp>
        <p:nvSpPr>
          <p:cNvPr id="134" name="Text 131"/>
          <p:cNvSpPr/>
          <p:nvPr/>
        </p:nvSpPr>
        <p:spPr>
          <a:xfrm>
            <a:off x="5370433" y="3751181"/>
            <a:ext cx="29316" cy="98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35" name="Text 132"/>
          <p:cNvSpPr/>
          <p:nvPr/>
        </p:nvSpPr>
        <p:spPr>
          <a:xfrm>
            <a:off x="5436394" y="3860807"/>
            <a:ext cx="613433" cy="1055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变更影响追踪</a:t>
            </a:r>
            <a:endParaRPr lang="en-US" sz="900" dirty="0"/>
          </a:p>
        </p:txBody>
      </p:sp>
      <p:sp>
        <p:nvSpPr>
          <p:cNvPr id="136" name="Text 133"/>
          <p:cNvSpPr/>
          <p:nvPr/>
        </p:nvSpPr>
        <p:spPr>
          <a:xfrm>
            <a:off x="5370433" y="3864105"/>
            <a:ext cx="29316" cy="98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37" name="Text 134"/>
          <p:cNvSpPr/>
          <p:nvPr/>
        </p:nvSpPr>
        <p:spPr>
          <a:xfrm>
            <a:off x="5436394" y="3973732"/>
            <a:ext cx="613433" cy="1055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溯源链路管理</a:t>
            </a:r>
            <a:endParaRPr lang="en-US" sz="900" dirty="0"/>
          </a:p>
        </p:txBody>
      </p:sp>
      <p:sp>
        <p:nvSpPr>
          <p:cNvPr id="138" name="Text 135"/>
          <p:cNvSpPr/>
          <p:nvPr/>
        </p:nvSpPr>
        <p:spPr>
          <a:xfrm>
            <a:off x="5370433" y="3977029"/>
            <a:ext cx="29316" cy="98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39" name="Text 136"/>
          <p:cNvSpPr/>
          <p:nvPr/>
        </p:nvSpPr>
        <p:spPr>
          <a:xfrm>
            <a:off x="5436394" y="4086656"/>
            <a:ext cx="511195" cy="1055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回溯与对比</a:t>
            </a:r>
            <a:endParaRPr lang="en-US" sz="900" dirty="0"/>
          </a:p>
        </p:txBody>
      </p:sp>
      <p:sp>
        <p:nvSpPr>
          <p:cNvPr id="140" name="Text 137"/>
          <p:cNvSpPr/>
          <p:nvPr/>
        </p:nvSpPr>
        <p:spPr>
          <a:xfrm>
            <a:off x="5370433" y="4089954"/>
            <a:ext cx="29316" cy="98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41" name="Text 138"/>
          <p:cNvSpPr/>
          <p:nvPr/>
        </p:nvSpPr>
        <p:spPr>
          <a:xfrm>
            <a:off x="6451454" y="3602593"/>
            <a:ext cx="146579" cy="15390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720" dirty="0"/>
          </a:p>
        </p:txBody>
      </p:sp>
      <p:sp>
        <p:nvSpPr>
          <p:cNvPr id="142" name="Text 139"/>
          <p:cNvSpPr/>
          <p:nvPr/>
        </p:nvSpPr>
        <p:spPr>
          <a:xfrm>
            <a:off x="6791885" y="3590280"/>
            <a:ext cx="477115" cy="12312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8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证书审核</a:t>
            </a:r>
            <a:endParaRPr lang="en-US" sz="1050" dirty="0"/>
          </a:p>
        </p:txBody>
      </p:sp>
      <p:sp>
        <p:nvSpPr>
          <p:cNvPr id="143" name="Text 140"/>
          <p:cNvSpPr/>
          <p:nvPr/>
        </p:nvSpPr>
        <p:spPr>
          <a:xfrm>
            <a:off x="6916843" y="3747883"/>
            <a:ext cx="613433" cy="1055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结果合规审核</a:t>
            </a:r>
            <a:endParaRPr lang="en-US" sz="900" dirty="0"/>
          </a:p>
        </p:txBody>
      </p:sp>
      <p:sp>
        <p:nvSpPr>
          <p:cNvPr id="144" name="Text 141"/>
          <p:cNvSpPr/>
          <p:nvPr/>
        </p:nvSpPr>
        <p:spPr>
          <a:xfrm>
            <a:off x="6850883" y="3751181"/>
            <a:ext cx="29316" cy="98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45" name="Text 142"/>
          <p:cNvSpPr/>
          <p:nvPr/>
        </p:nvSpPr>
        <p:spPr>
          <a:xfrm>
            <a:off x="6916843" y="3860807"/>
            <a:ext cx="613433" cy="1055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证书签发管理</a:t>
            </a:r>
            <a:endParaRPr lang="en-US" sz="900" dirty="0"/>
          </a:p>
        </p:txBody>
      </p:sp>
      <p:sp>
        <p:nvSpPr>
          <p:cNvPr id="146" name="Text 143"/>
          <p:cNvSpPr/>
          <p:nvPr/>
        </p:nvSpPr>
        <p:spPr>
          <a:xfrm>
            <a:off x="6850883" y="3864105"/>
            <a:ext cx="29316" cy="98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47" name="Text 144"/>
          <p:cNvSpPr/>
          <p:nvPr/>
        </p:nvSpPr>
        <p:spPr>
          <a:xfrm>
            <a:off x="6916843" y="3973732"/>
            <a:ext cx="613433" cy="1055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证书状态管理</a:t>
            </a:r>
            <a:endParaRPr lang="en-US" sz="900" dirty="0"/>
          </a:p>
        </p:txBody>
      </p:sp>
      <p:sp>
        <p:nvSpPr>
          <p:cNvPr id="148" name="Text 145"/>
          <p:cNvSpPr/>
          <p:nvPr/>
        </p:nvSpPr>
        <p:spPr>
          <a:xfrm>
            <a:off x="6850883" y="3977029"/>
            <a:ext cx="29316" cy="98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49" name="Text 146"/>
          <p:cNvSpPr/>
          <p:nvPr/>
        </p:nvSpPr>
        <p:spPr>
          <a:xfrm>
            <a:off x="6916843" y="4086656"/>
            <a:ext cx="511195" cy="1055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撤销与更新</a:t>
            </a:r>
            <a:endParaRPr lang="en-US" sz="900" dirty="0"/>
          </a:p>
        </p:txBody>
      </p:sp>
      <p:sp>
        <p:nvSpPr>
          <p:cNvPr id="150" name="Text 147"/>
          <p:cNvSpPr/>
          <p:nvPr/>
        </p:nvSpPr>
        <p:spPr>
          <a:xfrm>
            <a:off x="6850883" y="4089954"/>
            <a:ext cx="29316" cy="98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51" name="Text 148"/>
          <p:cNvSpPr/>
          <p:nvPr/>
        </p:nvSpPr>
        <p:spPr>
          <a:xfrm>
            <a:off x="7880235" y="3060250"/>
            <a:ext cx="477115" cy="24918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8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反馈迭代</a:t>
            </a:r>
            <a:endParaRPr lang="en-US" sz="1050" dirty="0"/>
          </a:p>
        </p:txBody>
      </p:sp>
      <p:sp>
        <p:nvSpPr>
          <p:cNvPr id="152" name="Text 149"/>
          <p:cNvSpPr/>
          <p:nvPr/>
        </p:nvSpPr>
        <p:spPr>
          <a:xfrm>
            <a:off x="5590302" y="4453119"/>
            <a:ext cx="477115" cy="1055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证据支撑</a:t>
            </a:r>
            <a:endParaRPr lang="en-US" sz="900" dirty="0"/>
          </a:p>
        </p:txBody>
      </p:sp>
      <p:sp>
        <p:nvSpPr>
          <p:cNvPr id="153" name="Text 150"/>
          <p:cNvSpPr/>
          <p:nvPr/>
        </p:nvSpPr>
        <p:spPr>
          <a:xfrm>
            <a:off x="4454079" y="4650634"/>
            <a:ext cx="2213815" cy="12459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8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对象/证据池（评估对象与关键证据沉淀）</a:t>
            </a:r>
            <a:endParaRPr lang="en-US" sz="1050" dirty="0"/>
          </a:p>
        </p:txBody>
      </p:sp>
      <p:sp>
        <p:nvSpPr>
          <p:cNvPr id="154" name="Text 151"/>
          <p:cNvSpPr/>
          <p:nvPr/>
        </p:nvSpPr>
        <p:spPr>
          <a:xfrm>
            <a:off x="3640799" y="5003157"/>
            <a:ext cx="477115" cy="12312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8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企业主体</a:t>
            </a:r>
            <a:endParaRPr lang="en-US" sz="1050" dirty="0"/>
          </a:p>
        </p:txBody>
      </p:sp>
      <p:sp>
        <p:nvSpPr>
          <p:cNvPr id="155" name="Text 152"/>
          <p:cNvSpPr/>
          <p:nvPr/>
        </p:nvSpPr>
        <p:spPr>
          <a:xfrm>
            <a:off x="4351708" y="5003157"/>
            <a:ext cx="477115" cy="12312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8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海外项目</a:t>
            </a:r>
            <a:endParaRPr lang="en-US" sz="1050" dirty="0"/>
          </a:p>
        </p:txBody>
      </p:sp>
      <p:sp>
        <p:nvSpPr>
          <p:cNvPr id="156" name="Text 153"/>
          <p:cNvSpPr/>
          <p:nvPr/>
        </p:nvSpPr>
        <p:spPr>
          <a:xfrm>
            <a:off x="5091933" y="5003157"/>
            <a:ext cx="477115" cy="12312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8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技术设备</a:t>
            </a:r>
            <a:endParaRPr lang="en-US" sz="1050" dirty="0"/>
          </a:p>
        </p:txBody>
      </p:sp>
      <p:sp>
        <p:nvSpPr>
          <p:cNvPr id="157" name="Text 154"/>
          <p:cNvSpPr/>
          <p:nvPr/>
        </p:nvSpPr>
        <p:spPr>
          <a:xfrm>
            <a:off x="5846815" y="5003157"/>
            <a:ext cx="477115" cy="12312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8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财务信用</a:t>
            </a:r>
            <a:endParaRPr lang="en-US" sz="1050" dirty="0"/>
          </a:p>
        </p:txBody>
      </p:sp>
      <p:sp>
        <p:nvSpPr>
          <p:cNvPr id="158" name="Text 155"/>
          <p:cNvSpPr/>
          <p:nvPr/>
        </p:nvSpPr>
        <p:spPr>
          <a:xfrm>
            <a:off x="6587040" y="4922539"/>
            <a:ext cx="467573" cy="12312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8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E&amp;S/HSE</a:t>
            </a:r>
            <a:endParaRPr lang="en-US" sz="1050" dirty="0"/>
          </a:p>
        </p:txBody>
      </p:sp>
      <p:sp>
        <p:nvSpPr>
          <p:cNvPr id="159" name="Text 156"/>
          <p:cNvSpPr/>
          <p:nvPr/>
        </p:nvSpPr>
        <p:spPr>
          <a:xfrm>
            <a:off x="6689646" y="5032473"/>
            <a:ext cx="238558" cy="12312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8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</a:t>
            </a:r>
            <a:endParaRPr lang="en-US" sz="1050" dirty="0"/>
          </a:p>
        </p:txBody>
      </p:sp>
      <p:sp>
        <p:nvSpPr>
          <p:cNvPr id="160" name="Text 157"/>
          <p:cNvSpPr/>
          <p:nvPr/>
        </p:nvSpPr>
        <p:spPr>
          <a:xfrm>
            <a:off x="7349252" y="4922539"/>
            <a:ext cx="477115" cy="12312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8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国别市场</a:t>
            </a:r>
            <a:endParaRPr lang="en-US" sz="1050" dirty="0"/>
          </a:p>
        </p:txBody>
      </p:sp>
      <p:sp>
        <p:nvSpPr>
          <p:cNvPr id="161" name="Text 158"/>
          <p:cNvSpPr/>
          <p:nvPr/>
        </p:nvSpPr>
        <p:spPr>
          <a:xfrm>
            <a:off x="7444528" y="5032473"/>
            <a:ext cx="357836" cy="12312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8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与风险</a:t>
            </a:r>
            <a:endParaRPr lang="en-US" sz="1050" dirty="0"/>
          </a:p>
        </p:txBody>
      </p:sp>
      <p:sp>
        <p:nvSpPr>
          <p:cNvPr id="162" name="Text 159"/>
          <p:cNvSpPr/>
          <p:nvPr/>
        </p:nvSpPr>
        <p:spPr>
          <a:xfrm>
            <a:off x="8719767" y="1293971"/>
            <a:ext cx="498369" cy="1392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8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结果应用</a:t>
            </a:r>
            <a:endParaRPr lang="en-US" sz="1050" dirty="0"/>
          </a:p>
        </p:txBody>
      </p:sp>
      <p:sp>
        <p:nvSpPr>
          <p:cNvPr id="163" name="Text 160"/>
          <p:cNvSpPr/>
          <p:nvPr/>
        </p:nvSpPr>
        <p:spPr>
          <a:xfrm>
            <a:off x="8547815" y="1422961"/>
            <a:ext cx="834952" cy="12312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8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（多场景赋能）</a:t>
            </a:r>
            <a:endParaRPr lang="en-US" sz="1050" dirty="0"/>
          </a:p>
        </p:txBody>
      </p:sp>
      <p:sp>
        <p:nvSpPr>
          <p:cNvPr id="164" name="Text 161"/>
          <p:cNvSpPr/>
          <p:nvPr/>
        </p:nvSpPr>
        <p:spPr>
          <a:xfrm>
            <a:off x="8719767" y="1684751"/>
            <a:ext cx="477115" cy="12312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8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企业应用</a:t>
            </a:r>
            <a:endParaRPr lang="en-US" sz="1050" dirty="0"/>
          </a:p>
        </p:txBody>
      </p:sp>
      <p:sp>
        <p:nvSpPr>
          <p:cNvPr id="165" name="Text 162"/>
          <p:cNvSpPr/>
          <p:nvPr/>
        </p:nvSpPr>
        <p:spPr>
          <a:xfrm>
            <a:off x="8822372" y="1842354"/>
            <a:ext cx="613433" cy="1055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战略决策支持</a:t>
            </a:r>
            <a:endParaRPr lang="en-US" sz="900" dirty="0"/>
          </a:p>
        </p:txBody>
      </p:sp>
      <p:sp>
        <p:nvSpPr>
          <p:cNvPr id="166" name="Text 163"/>
          <p:cNvSpPr/>
          <p:nvPr/>
        </p:nvSpPr>
        <p:spPr>
          <a:xfrm>
            <a:off x="8756412" y="1845651"/>
            <a:ext cx="29316" cy="98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67" name="Text 164"/>
          <p:cNvSpPr/>
          <p:nvPr/>
        </p:nvSpPr>
        <p:spPr>
          <a:xfrm>
            <a:off x="8822372" y="1955278"/>
            <a:ext cx="613433" cy="1055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投资立项评估</a:t>
            </a:r>
            <a:endParaRPr lang="en-US" sz="900" dirty="0"/>
          </a:p>
        </p:txBody>
      </p:sp>
      <p:sp>
        <p:nvSpPr>
          <p:cNvPr id="168" name="Text 165"/>
          <p:cNvSpPr/>
          <p:nvPr/>
        </p:nvSpPr>
        <p:spPr>
          <a:xfrm>
            <a:off x="8756412" y="1958576"/>
            <a:ext cx="29316" cy="98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69" name="Text 166"/>
          <p:cNvSpPr/>
          <p:nvPr/>
        </p:nvSpPr>
        <p:spPr>
          <a:xfrm>
            <a:off x="8822372" y="2068202"/>
            <a:ext cx="613433" cy="1055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项目投标支持</a:t>
            </a:r>
            <a:endParaRPr lang="en-US" sz="900" dirty="0"/>
          </a:p>
        </p:txBody>
      </p:sp>
      <p:sp>
        <p:nvSpPr>
          <p:cNvPr id="170" name="Text 167"/>
          <p:cNvSpPr/>
          <p:nvPr/>
        </p:nvSpPr>
        <p:spPr>
          <a:xfrm>
            <a:off x="8756412" y="2071500"/>
            <a:ext cx="29316" cy="98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71" name="Text 168"/>
          <p:cNvSpPr/>
          <p:nvPr/>
        </p:nvSpPr>
        <p:spPr>
          <a:xfrm>
            <a:off x="8822372" y="2181127"/>
            <a:ext cx="613433" cy="1055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绩效考核应用</a:t>
            </a:r>
            <a:endParaRPr lang="en-US" sz="900" dirty="0"/>
          </a:p>
        </p:txBody>
      </p:sp>
      <p:sp>
        <p:nvSpPr>
          <p:cNvPr id="172" name="Text 169"/>
          <p:cNvSpPr/>
          <p:nvPr/>
        </p:nvSpPr>
        <p:spPr>
          <a:xfrm>
            <a:off x="8756412" y="2184425"/>
            <a:ext cx="29316" cy="98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73" name="Text 170"/>
          <p:cNvSpPr/>
          <p:nvPr/>
        </p:nvSpPr>
        <p:spPr>
          <a:xfrm>
            <a:off x="8822372" y="2294051"/>
            <a:ext cx="613433" cy="1055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风险预警控制</a:t>
            </a:r>
            <a:endParaRPr lang="en-US" sz="900" dirty="0"/>
          </a:p>
        </p:txBody>
      </p:sp>
      <p:sp>
        <p:nvSpPr>
          <p:cNvPr id="174" name="Text 171"/>
          <p:cNvSpPr/>
          <p:nvPr/>
        </p:nvSpPr>
        <p:spPr>
          <a:xfrm>
            <a:off x="8756412" y="2297350"/>
            <a:ext cx="29316" cy="98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75" name="Text 172"/>
          <p:cNvSpPr/>
          <p:nvPr/>
        </p:nvSpPr>
        <p:spPr>
          <a:xfrm>
            <a:off x="8532146" y="2984029"/>
            <a:ext cx="954230" cy="12312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8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外部合作伙伴应用</a:t>
            </a:r>
            <a:endParaRPr lang="en-US" sz="1050" dirty="0"/>
          </a:p>
        </p:txBody>
      </p:sp>
      <p:sp>
        <p:nvSpPr>
          <p:cNvPr id="176" name="Text 173"/>
          <p:cNvSpPr/>
          <p:nvPr/>
        </p:nvSpPr>
        <p:spPr>
          <a:xfrm>
            <a:off x="8822372" y="3141631"/>
            <a:ext cx="613433" cy="1055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金融机构授信</a:t>
            </a:r>
            <a:endParaRPr lang="en-US" sz="900" dirty="0"/>
          </a:p>
        </p:txBody>
      </p:sp>
      <p:sp>
        <p:nvSpPr>
          <p:cNvPr id="177" name="Text 174"/>
          <p:cNvSpPr/>
          <p:nvPr/>
        </p:nvSpPr>
        <p:spPr>
          <a:xfrm>
            <a:off x="8756412" y="3144929"/>
            <a:ext cx="29316" cy="98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78" name="Text 175"/>
          <p:cNvSpPr/>
          <p:nvPr/>
        </p:nvSpPr>
        <p:spPr>
          <a:xfrm>
            <a:off x="8822372" y="3254556"/>
            <a:ext cx="715673" cy="1055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供应商准入评估</a:t>
            </a:r>
            <a:endParaRPr lang="en-US" sz="900" dirty="0"/>
          </a:p>
        </p:txBody>
      </p:sp>
      <p:sp>
        <p:nvSpPr>
          <p:cNvPr id="179" name="Text 176"/>
          <p:cNvSpPr/>
          <p:nvPr/>
        </p:nvSpPr>
        <p:spPr>
          <a:xfrm>
            <a:off x="8756412" y="3257854"/>
            <a:ext cx="29316" cy="98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80" name="Text 177"/>
          <p:cNvSpPr/>
          <p:nvPr/>
        </p:nvSpPr>
        <p:spPr>
          <a:xfrm>
            <a:off x="8822372" y="3367480"/>
            <a:ext cx="613433" cy="1055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合作伙伴尽调</a:t>
            </a:r>
            <a:endParaRPr lang="en-US" sz="900" dirty="0"/>
          </a:p>
        </p:txBody>
      </p:sp>
      <p:sp>
        <p:nvSpPr>
          <p:cNvPr id="181" name="Text 178"/>
          <p:cNvSpPr/>
          <p:nvPr/>
        </p:nvSpPr>
        <p:spPr>
          <a:xfrm>
            <a:off x="8756412" y="3370778"/>
            <a:ext cx="29316" cy="98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82" name="Text 179"/>
          <p:cNvSpPr/>
          <p:nvPr/>
        </p:nvSpPr>
        <p:spPr>
          <a:xfrm>
            <a:off x="8822372" y="3480405"/>
            <a:ext cx="613433" cy="1055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保险承保参考</a:t>
            </a:r>
            <a:endParaRPr lang="en-US" sz="900" dirty="0"/>
          </a:p>
        </p:txBody>
      </p:sp>
      <p:sp>
        <p:nvSpPr>
          <p:cNvPr id="183" name="Text 180"/>
          <p:cNvSpPr/>
          <p:nvPr/>
        </p:nvSpPr>
        <p:spPr>
          <a:xfrm>
            <a:off x="8756412" y="3483702"/>
            <a:ext cx="29316" cy="98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84" name="Text 181"/>
          <p:cNvSpPr/>
          <p:nvPr/>
        </p:nvSpPr>
        <p:spPr>
          <a:xfrm>
            <a:off x="8822372" y="3593329"/>
            <a:ext cx="613433" cy="1055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法律合规尽职</a:t>
            </a:r>
            <a:endParaRPr lang="en-US" sz="900" dirty="0"/>
          </a:p>
        </p:txBody>
      </p:sp>
      <p:sp>
        <p:nvSpPr>
          <p:cNvPr id="185" name="Text 182"/>
          <p:cNvSpPr/>
          <p:nvPr/>
        </p:nvSpPr>
        <p:spPr>
          <a:xfrm>
            <a:off x="8756412" y="3596628"/>
            <a:ext cx="29316" cy="98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86" name="Text 183"/>
          <p:cNvSpPr/>
          <p:nvPr/>
        </p:nvSpPr>
        <p:spPr>
          <a:xfrm>
            <a:off x="8611115" y="4229952"/>
            <a:ext cx="715673" cy="12312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8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行业组织应用</a:t>
            </a:r>
            <a:endParaRPr lang="en-US" sz="1050" dirty="0"/>
          </a:p>
        </p:txBody>
      </p:sp>
      <p:sp>
        <p:nvSpPr>
          <p:cNvPr id="187" name="Text 184"/>
          <p:cNvSpPr/>
          <p:nvPr/>
        </p:nvSpPr>
        <p:spPr>
          <a:xfrm>
            <a:off x="8822372" y="4387554"/>
            <a:ext cx="613433" cy="1055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行业能力对标</a:t>
            </a:r>
            <a:endParaRPr lang="en-US" sz="900" dirty="0"/>
          </a:p>
        </p:txBody>
      </p:sp>
      <p:sp>
        <p:nvSpPr>
          <p:cNvPr id="188" name="Text 185"/>
          <p:cNvSpPr/>
          <p:nvPr/>
        </p:nvSpPr>
        <p:spPr>
          <a:xfrm>
            <a:off x="8756412" y="4390852"/>
            <a:ext cx="29316" cy="98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89" name="Text 186"/>
          <p:cNvSpPr/>
          <p:nvPr/>
        </p:nvSpPr>
        <p:spPr>
          <a:xfrm>
            <a:off x="8822372" y="4500479"/>
            <a:ext cx="613433" cy="1055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标准制定参考</a:t>
            </a:r>
            <a:endParaRPr lang="en-US" sz="900" dirty="0"/>
          </a:p>
        </p:txBody>
      </p:sp>
      <p:sp>
        <p:nvSpPr>
          <p:cNvPr id="190" name="Text 187"/>
          <p:cNvSpPr/>
          <p:nvPr/>
        </p:nvSpPr>
        <p:spPr>
          <a:xfrm>
            <a:off x="8756412" y="4503776"/>
            <a:ext cx="29316" cy="98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91" name="Text 188"/>
          <p:cNvSpPr/>
          <p:nvPr/>
        </p:nvSpPr>
        <p:spPr>
          <a:xfrm>
            <a:off x="8822372" y="4613403"/>
            <a:ext cx="613433" cy="1055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行业洞察分析</a:t>
            </a:r>
            <a:endParaRPr lang="en-US" sz="900" dirty="0"/>
          </a:p>
        </p:txBody>
      </p:sp>
      <p:sp>
        <p:nvSpPr>
          <p:cNvPr id="192" name="Text 189"/>
          <p:cNvSpPr/>
          <p:nvPr/>
        </p:nvSpPr>
        <p:spPr>
          <a:xfrm>
            <a:off x="8756412" y="4616701"/>
            <a:ext cx="29316" cy="98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93" name="Text 190"/>
          <p:cNvSpPr/>
          <p:nvPr/>
        </p:nvSpPr>
        <p:spPr>
          <a:xfrm>
            <a:off x="8822372" y="4726327"/>
            <a:ext cx="613433" cy="1055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政策研究支持</a:t>
            </a:r>
            <a:endParaRPr lang="en-US" sz="900" dirty="0"/>
          </a:p>
        </p:txBody>
      </p:sp>
      <p:sp>
        <p:nvSpPr>
          <p:cNvPr id="194" name="Text 191"/>
          <p:cNvSpPr/>
          <p:nvPr/>
        </p:nvSpPr>
        <p:spPr>
          <a:xfrm>
            <a:off x="8756412" y="4729625"/>
            <a:ext cx="29316" cy="98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95" name="Text 192"/>
          <p:cNvSpPr/>
          <p:nvPr/>
        </p:nvSpPr>
        <p:spPr>
          <a:xfrm>
            <a:off x="8822372" y="4839252"/>
            <a:ext cx="613433" cy="1055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公共服务支撑</a:t>
            </a:r>
            <a:endParaRPr lang="en-US" sz="900" dirty="0"/>
          </a:p>
        </p:txBody>
      </p:sp>
      <p:sp>
        <p:nvSpPr>
          <p:cNvPr id="196" name="Text 193"/>
          <p:cNvSpPr/>
          <p:nvPr/>
        </p:nvSpPr>
        <p:spPr>
          <a:xfrm>
            <a:off x="8756412" y="4842551"/>
            <a:ext cx="29316" cy="98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97" name="Text 194"/>
          <p:cNvSpPr/>
          <p:nvPr/>
        </p:nvSpPr>
        <p:spPr>
          <a:xfrm>
            <a:off x="9987677" y="1293971"/>
            <a:ext cx="491040" cy="1392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8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运营保障</a:t>
            </a:r>
            <a:endParaRPr lang="en-US" sz="1050" dirty="0"/>
          </a:p>
        </p:txBody>
      </p:sp>
      <p:sp>
        <p:nvSpPr>
          <p:cNvPr id="198" name="Text 195"/>
          <p:cNvSpPr/>
          <p:nvPr/>
        </p:nvSpPr>
        <p:spPr>
          <a:xfrm>
            <a:off x="9879025" y="1422961"/>
            <a:ext cx="715673" cy="12312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8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（安全合规）</a:t>
            </a:r>
            <a:endParaRPr lang="en-US" sz="1050" dirty="0"/>
          </a:p>
        </p:txBody>
      </p:sp>
      <p:sp>
        <p:nvSpPr>
          <p:cNvPr id="199" name="Text 196"/>
          <p:cNvSpPr/>
          <p:nvPr/>
        </p:nvSpPr>
        <p:spPr>
          <a:xfrm>
            <a:off x="9899729" y="1737374"/>
            <a:ext cx="131921" cy="1392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680" dirty="0"/>
          </a:p>
        </p:txBody>
      </p:sp>
      <p:sp>
        <p:nvSpPr>
          <p:cNvPr id="200" name="Text 197"/>
          <p:cNvSpPr/>
          <p:nvPr/>
        </p:nvSpPr>
        <p:spPr>
          <a:xfrm>
            <a:off x="10178230" y="1722716"/>
            <a:ext cx="477115" cy="12312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8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分类分级</a:t>
            </a:r>
            <a:endParaRPr lang="en-US" sz="1050" dirty="0"/>
          </a:p>
        </p:txBody>
      </p:sp>
      <p:sp>
        <p:nvSpPr>
          <p:cNvPr id="201" name="Text 198"/>
          <p:cNvSpPr/>
          <p:nvPr/>
        </p:nvSpPr>
        <p:spPr>
          <a:xfrm>
            <a:off x="10156243" y="1880317"/>
            <a:ext cx="511195" cy="1055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数据与能力</a:t>
            </a:r>
            <a:endParaRPr lang="en-US" sz="900" dirty="0"/>
          </a:p>
        </p:txBody>
      </p:sp>
      <p:sp>
        <p:nvSpPr>
          <p:cNvPr id="202" name="Text 199"/>
          <p:cNvSpPr/>
          <p:nvPr/>
        </p:nvSpPr>
        <p:spPr>
          <a:xfrm>
            <a:off x="10112269" y="1992875"/>
            <a:ext cx="29316" cy="10627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03" name="Text 200"/>
          <p:cNvSpPr/>
          <p:nvPr/>
        </p:nvSpPr>
        <p:spPr>
          <a:xfrm>
            <a:off x="10156243" y="1993242"/>
            <a:ext cx="613433" cy="1055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分类分级管理</a:t>
            </a:r>
            <a:endParaRPr lang="en-US" sz="900" dirty="0"/>
          </a:p>
        </p:txBody>
      </p:sp>
      <p:sp>
        <p:nvSpPr>
          <p:cNvPr id="204" name="Text 201"/>
          <p:cNvSpPr/>
          <p:nvPr/>
        </p:nvSpPr>
        <p:spPr>
          <a:xfrm>
            <a:off x="10112269" y="2140466"/>
            <a:ext cx="29316" cy="10627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05" name="Text 202"/>
          <p:cNvSpPr/>
          <p:nvPr/>
        </p:nvSpPr>
        <p:spPr>
          <a:xfrm>
            <a:off x="9899729" y="2521571"/>
            <a:ext cx="131921" cy="1392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680" dirty="0"/>
          </a:p>
        </p:txBody>
      </p:sp>
      <p:sp>
        <p:nvSpPr>
          <p:cNvPr id="206" name="Text 203"/>
          <p:cNvSpPr/>
          <p:nvPr/>
        </p:nvSpPr>
        <p:spPr>
          <a:xfrm>
            <a:off x="10178230" y="2506914"/>
            <a:ext cx="477115" cy="12312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8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授权管理</a:t>
            </a:r>
            <a:endParaRPr lang="en-US" sz="1050" dirty="0"/>
          </a:p>
        </p:txBody>
      </p:sp>
      <p:sp>
        <p:nvSpPr>
          <p:cNvPr id="207" name="Text 204"/>
          <p:cNvSpPr/>
          <p:nvPr/>
        </p:nvSpPr>
        <p:spPr>
          <a:xfrm>
            <a:off x="10163572" y="2664516"/>
            <a:ext cx="511195" cy="1055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访问主体与</a:t>
            </a:r>
            <a:endParaRPr lang="en-US" sz="900" dirty="0"/>
          </a:p>
        </p:txBody>
      </p:sp>
      <p:sp>
        <p:nvSpPr>
          <p:cNvPr id="208" name="Text 205"/>
          <p:cNvSpPr/>
          <p:nvPr/>
        </p:nvSpPr>
        <p:spPr>
          <a:xfrm>
            <a:off x="10119598" y="2777074"/>
            <a:ext cx="29316" cy="10627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09" name="Text 206"/>
          <p:cNvSpPr/>
          <p:nvPr/>
        </p:nvSpPr>
        <p:spPr>
          <a:xfrm>
            <a:off x="10156243" y="2777440"/>
            <a:ext cx="613433" cy="1055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范围授权管理</a:t>
            </a:r>
            <a:endParaRPr lang="en-US" sz="900" dirty="0"/>
          </a:p>
        </p:txBody>
      </p:sp>
      <p:sp>
        <p:nvSpPr>
          <p:cNvPr id="210" name="Text 207"/>
          <p:cNvSpPr/>
          <p:nvPr/>
        </p:nvSpPr>
        <p:spPr>
          <a:xfrm>
            <a:off x="10112269" y="2779184"/>
            <a:ext cx="29316" cy="10627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11" name="Text 208"/>
          <p:cNvSpPr/>
          <p:nvPr/>
        </p:nvSpPr>
        <p:spPr>
          <a:xfrm>
            <a:off x="9899729" y="3298442"/>
            <a:ext cx="131921" cy="1392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680" dirty="0"/>
          </a:p>
        </p:txBody>
      </p:sp>
      <p:sp>
        <p:nvSpPr>
          <p:cNvPr id="212" name="Text 209"/>
          <p:cNvSpPr/>
          <p:nvPr/>
        </p:nvSpPr>
        <p:spPr>
          <a:xfrm>
            <a:off x="10178230" y="3283784"/>
            <a:ext cx="477115" cy="12312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8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权限控制</a:t>
            </a:r>
            <a:endParaRPr lang="en-US" sz="1050" dirty="0"/>
          </a:p>
        </p:txBody>
      </p:sp>
      <p:sp>
        <p:nvSpPr>
          <p:cNvPr id="213" name="Text 210"/>
          <p:cNvSpPr/>
          <p:nvPr/>
        </p:nvSpPr>
        <p:spPr>
          <a:xfrm>
            <a:off x="10156243" y="3441385"/>
            <a:ext cx="511195" cy="1055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细粒度权限</a:t>
            </a:r>
            <a:endParaRPr lang="en-US" sz="900" dirty="0"/>
          </a:p>
        </p:txBody>
      </p:sp>
      <p:sp>
        <p:nvSpPr>
          <p:cNvPr id="214" name="Text 211"/>
          <p:cNvSpPr/>
          <p:nvPr/>
        </p:nvSpPr>
        <p:spPr>
          <a:xfrm>
            <a:off x="10112269" y="3441019"/>
            <a:ext cx="29316" cy="10627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15" name="Text 212"/>
          <p:cNvSpPr/>
          <p:nvPr/>
        </p:nvSpPr>
        <p:spPr>
          <a:xfrm>
            <a:off x="10156243" y="3554310"/>
            <a:ext cx="511195" cy="1055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与策略控制</a:t>
            </a:r>
            <a:endParaRPr lang="en-US" sz="900" dirty="0"/>
          </a:p>
        </p:txBody>
      </p:sp>
      <p:sp>
        <p:nvSpPr>
          <p:cNvPr id="216" name="Text 213"/>
          <p:cNvSpPr/>
          <p:nvPr/>
        </p:nvSpPr>
        <p:spPr>
          <a:xfrm>
            <a:off x="10112269" y="3553943"/>
            <a:ext cx="29316" cy="10627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17" name="Text 214"/>
          <p:cNvSpPr/>
          <p:nvPr/>
        </p:nvSpPr>
        <p:spPr>
          <a:xfrm>
            <a:off x="9899729" y="4082640"/>
            <a:ext cx="131921" cy="1392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680" dirty="0"/>
          </a:p>
        </p:txBody>
      </p:sp>
      <p:sp>
        <p:nvSpPr>
          <p:cNvPr id="218" name="Text 215"/>
          <p:cNvSpPr/>
          <p:nvPr/>
        </p:nvSpPr>
        <p:spPr>
          <a:xfrm>
            <a:off x="10178230" y="4067982"/>
            <a:ext cx="477115" cy="12312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8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数据脱敏</a:t>
            </a:r>
            <a:endParaRPr lang="en-US" sz="1050" dirty="0"/>
          </a:p>
        </p:txBody>
      </p:sp>
      <p:sp>
        <p:nvSpPr>
          <p:cNvPr id="219" name="Text 216"/>
          <p:cNvSpPr/>
          <p:nvPr/>
        </p:nvSpPr>
        <p:spPr>
          <a:xfrm>
            <a:off x="10156243" y="4225584"/>
            <a:ext cx="613433" cy="1055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敏感数据识别</a:t>
            </a:r>
            <a:endParaRPr lang="en-US" sz="900" dirty="0"/>
          </a:p>
        </p:txBody>
      </p:sp>
      <p:sp>
        <p:nvSpPr>
          <p:cNvPr id="220" name="Text 217"/>
          <p:cNvSpPr/>
          <p:nvPr/>
        </p:nvSpPr>
        <p:spPr>
          <a:xfrm>
            <a:off x="10112269" y="4193937"/>
            <a:ext cx="29316" cy="10627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21" name="Text 218"/>
          <p:cNvSpPr/>
          <p:nvPr/>
        </p:nvSpPr>
        <p:spPr>
          <a:xfrm>
            <a:off x="10156243" y="4338508"/>
            <a:ext cx="511195" cy="1055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与脱敏处理</a:t>
            </a:r>
            <a:endParaRPr lang="en-US" sz="900" dirty="0"/>
          </a:p>
        </p:txBody>
      </p:sp>
      <p:sp>
        <p:nvSpPr>
          <p:cNvPr id="222" name="Text 219"/>
          <p:cNvSpPr/>
          <p:nvPr/>
        </p:nvSpPr>
        <p:spPr>
          <a:xfrm>
            <a:off x="10112269" y="4338142"/>
            <a:ext cx="29316" cy="10627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23" name="Text 220"/>
          <p:cNvSpPr/>
          <p:nvPr/>
        </p:nvSpPr>
        <p:spPr>
          <a:xfrm>
            <a:off x="9899729" y="4859510"/>
            <a:ext cx="131921" cy="1392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680" dirty="0"/>
          </a:p>
        </p:txBody>
      </p:sp>
      <p:sp>
        <p:nvSpPr>
          <p:cNvPr id="224" name="Text 221"/>
          <p:cNvSpPr/>
          <p:nvPr/>
        </p:nvSpPr>
        <p:spPr>
          <a:xfrm>
            <a:off x="10178230" y="4844852"/>
            <a:ext cx="477115" cy="12312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8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发布审核</a:t>
            </a:r>
            <a:endParaRPr lang="en-US" sz="1050" dirty="0"/>
          </a:p>
        </p:txBody>
      </p:sp>
      <p:sp>
        <p:nvSpPr>
          <p:cNvPr id="225" name="Text 222"/>
          <p:cNvSpPr/>
          <p:nvPr/>
        </p:nvSpPr>
        <p:spPr>
          <a:xfrm>
            <a:off x="10156243" y="5002453"/>
            <a:ext cx="511195" cy="1055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对外发布前</a:t>
            </a:r>
            <a:endParaRPr lang="en-US" sz="900" dirty="0"/>
          </a:p>
        </p:txBody>
      </p:sp>
      <p:sp>
        <p:nvSpPr>
          <p:cNvPr id="226" name="Text 223"/>
          <p:cNvSpPr/>
          <p:nvPr/>
        </p:nvSpPr>
        <p:spPr>
          <a:xfrm>
            <a:off x="10112269" y="5002087"/>
            <a:ext cx="29316" cy="10627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27" name="Text 224"/>
          <p:cNvSpPr/>
          <p:nvPr/>
        </p:nvSpPr>
        <p:spPr>
          <a:xfrm>
            <a:off x="10156243" y="5115378"/>
            <a:ext cx="408956" cy="1055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合规审核</a:t>
            </a:r>
            <a:endParaRPr lang="en-US" sz="900" dirty="0"/>
          </a:p>
        </p:txBody>
      </p:sp>
      <p:sp>
        <p:nvSpPr>
          <p:cNvPr id="228" name="Text 225"/>
          <p:cNvSpPr/>
          <p:nvPr/>
        </p:nvSpPr>
        <p:spPr>
          <a:xfrm>
            <a:off x="10112269" y="5115012"/>
            <a:ext cx="29316" cy="10627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29" name="Text 226"/>
          <p:cNvSpPr/>
          <p:nvPr/>
        </p:nvSpPr>
        <p:spPr>
          <a:xfrm>
            <a:off x="9899729" y="5643708"/>
            <a:ext cx="131921" cy="1392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680" dirty="0"/>
          </a:p>
        </p:txBody>
      </p:sp>
      <p:sp>
        <p:nvSpPr>
          <p:cNvPr id="230" name="Text 227"/>
          <p:cNvSpPr/>
          <p:nvPr/>
        </p:nvSpPr>
        <p:spPr>
          <a:xfrm>
            <a:off x="10178230" y="5629050"/>
            <a:ext cx="477115" cy="12312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8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审计追踪</a:t>
            </a:r>
            <a:endParaRPr lang="en-US" sz="1050" dirty="0"/>
          </a:p>
        </p:txBody>
      </p:sp>
      <p:sp>
        <p:nvSpPr>
          <p:cNvPr id="231" name="Text 228"/>
          <p:cNvSpPr/>
          <p:nvPr/>
        </p:nvSpPr>
        <p:spPr>
          <a:xfrm>
            <a:off x="10156243" y="5786652"/>
            <a:ext cx="511195" cy="1055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全链路操作</a:t>
            </a:r>
            <a:endParaRPr lang="en-US" sz="900" dirty="0"/>
          </a:p>
        </p:txBody>
      </p:sp>
      <p:sp>
        <p:nvSpPr>
          <p:cNvPr id="232" name="Text 229"/>
          <p:cNvSpPr/>
          <p:nvPr/>
        </p:nvSpPr>
        <p:spPr>
          <a:xfrm>
            <a:off x="10112269" y="5786286"/>
            <a:ext cx="29316" cy="10627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33" name="Text 230"/>
          <p:cNvSpPr/>
          <p:nvPr/>
        </p:nvSpPr>
        <p:spPr>
          <a:xfrm>
            <a:off x="10156243" y="5899576"/>
            <a:ext cx="613433" cy="1055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日志留存审计</a:t>
            </a:r>
            <a:endParaRPr lang="en-US" sz="900" dirty="0"/>
          </a:p>
        </p:txBody>
      </p:sp>
      <p:sp>
        <p:nvSpPr>
          <p:cNvPr id="234" name="Text 231"/>
          <p:cNvSpPr/>
          <p:nvPr/>
        </p:nvSpPr>
        <p:spPr>
          <a:xfrm>
            <a:off x="10112269" y="5899210"/>
            <a:ext cx="29316" cy="10627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35" name="Text 232"/>
          <p:cNvSpPr/>
          <p:nvPr/>
        </p:nvSpPr>
        <p:spPr>
          <a:xfrm>
            <a:off x="1705954" y="5786623"/>
            <a:ext cx="622961" cy="15390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8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服务价值层</a:t>
            </a:r>
            <a:endParaRPr lang="en-US" sz="1050" dirty="0"/>
          </a:p>
        </p:txBody>
      </p:sp>
      <p:sp>
        <p:nvSpPr>
          <p:cNvPr id="236" name="Text 233"/>
          <p:cNvSpPr/>
          <p:nvPr/>
        </p:nvSpPr>
        <p:spPr>
          <a:xfrm>
            <a:off x="1405467" y="5999162"/>
            <a:ext cx="1312067" cy="1392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8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（能力输出与服务支撑）</a:t>
            </a:r>
            <a:endParaRPr lang="en-US" sz="1050" dirty="0"/>
          </a:p>
        </p:txBody>
      </p:sp>
      <p:sp>
        <p:nvSpPr>
          <p:cNvPr id="237" name="Text 234"/>
          <p:cNvSpPr/>
          <p:nvPr/>
        </p:nvSpPr>
        <p:spPr>
          <a:xfrm>
            <a:off x="3125390" y="5710402"/>
            <a:ext cx="715673" cy="12312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8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基础评估服务</a:t>
            </a:r>
            <a:endParaRPr lang="en-US" sz="1050" dirty="0"/>
          </a:p>
        </p:txBody>
      </p:sp>
      <p:sp>
        <p:nvSpPr>
          <p:cNvPr id="238" name="Text 235"/>
          <p:cNvSpPr/>
          <p:nvPr/>
        </p:nvSpPr>
        <p:spPr>
          <a:xfrm>
            <a:off x="3281680" y="5868004"/>
            <a:ext cx="715673" cy="1055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标准化评估服务</a:t>
            </a:r>
            <a:endParaRPr lang="en-US" sz="900" dirty="0"/>
          </a:p>
        </p:txBody>
      </p:sp>
      <p:sp>
        <p:nvSpPr>
          <p:cNvPr id="239" name="Text 236"/>
          <p:cNvSpPr/>
          <p:nvPr/>
        </p:nvSpPr>
        <p:spPr>
          <a:xfrm>
            <a:off x="3215719" y="5871302"/>
            <a:ext cx="29316" cy="98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40" name="Text 237"/>
          <p:cNvSpPr/>
          <p:nvPr/>
        </p:nvSpPr>
        <p:spPr>
          <a:xfrm>
            <a:off x="3281680" y="5980928"/>
            <a:ext cx="613433" cy="1055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快速评估工具</a:t>
            </a:r>
            <a:endParaRPr lang="en-US" sz="900" dirty="0"/>
          </a:p>
        </p:txBody>
      </p:sp>
      <p:sp>
        <p:nvSpPr>
          <p:cNvPr id="241" name="Text 238"/>
          <p:cNvSpPr/>
          <p:nvPr/>
        </p:nvSpPr>
        <p:spPr>
          <a:xfrm>
            <a:off x="3215719" y="5984226"/>
            <a:ext cx="29316" cy="98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42" name="Text 239"/>
          <p:cNvSpPr/>
          <p:nvPr/>
        </p:nvSpPr>
        <p:spPr>
          <a:xfrm>
            <a:off x="3281680" y="6093853"/>
            <a:ext cx="613433" cy="1055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评估模板中心</a:t>
            </a:r>
            <a:endParaRPr lang="en-US" sz="900" dirty="0"/>
          </a:p>
        </p:txBody>
      </p:sp>
      <p:sp>
        <p:nvSpPr>
          <p:cNvPr id="243" name="Text 240"/>
          <p:cNvSpPr/>
          <p:nvPr/>
        </p:nvSpPr>
        <p:spPr>
          <a:xfrm>
            <a:off x="3215719" y="6097150"/>
            <a:ext cx="29316" cy="98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44" name="Text 241"/>
          <p:cNvSpPr/>
          <p:nvPr/>
        </p:nvSpPr>
        <p:spPr>
          <a:xfrm>
            <a:off x="4459260" y="5710402"/>
            <a:ext cx="715673" cy="12312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8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专项评估服务</a:t>
            </a:r>
            <a:endParaRPr lang="en-US" sz="1050" dirty="0"/>
          </a:p>
        </p:txBody>
      </p:sp>
      <p:sp>
        <p:nvSpPr>
          <p:cNvPr id="245" name="Text 242"/>
          <p:cNvSpPr/>
          <p:nvPr/>
        </p:nvSpPr>
        <p:spPr>
          <a:xfrm>
            <a:off x="4608221" y="5868004"/>
            <a:ext cx="613433" cy="1055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专项能力评估</a:t>
            </a:r>
            <a:endParaRPr lang="en-US" sz="900" dirty="0"/>
          </a:p>
        </p:txBody>
      </p:sp>
      <p:sp>
        <p:nvSpPr>
          <p:cNvPr id="246" name="Text 243"/>
          <p:cNvSpPr/>
          <p:nvPr/>
        </p:nvSpPr>
        <p:spPr>
          <a:xfrm>
            <a:off x="4542261" y="5871302"/>
            <a:ext cx="29316" cy="98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47" name="Text 244"/>
          <p:cNvSpPr/>
          <p:nvPr/>
        </p:nvSpPr>
        <p:spPr>
          <a:xfrm>
            <a:off x="4608221" y="5980928"/>
            <a:ext cx="613433" cy="1055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行业场景评估</a:t>
            </a:r>
            <a:endParaRPr lang="en-US" sz="900" dirty="0"/>
          </a:p>
        </p:txBody>
      </p:sp>
      <p:sp>
        <p:nvSpPr>
          <p:cNvPr id="248" name="Text 245"/>
          <p:cNvSpPr/>
          <p:nvPr/>
        </p:nvSpPr>
        <p:spPr>
          <a:xfrm>
            <a:off x="4542261" y="5984226"/>
            <a:ext cx="29316" cy="98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49" name="Text 246"/>
          <p:cNvSpPr/>
          <p:nvPr/>
        </p:nvSpPr>
        <p:spPr>
          <a:xfrm>
            <a:off x="4608221" y="6093853"/>
            <a:ext cx="715673" cy="1055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定制化评估服务</a:t>
            </a:r>
            <a:endParaRPr lang="en-US" sz="900" dirty="0"/>
          </a:p>
        </p:txBody>
      </p:sp>
      <p:sp>
        <p:nvSpPr>
          <p:cNvPr id="250" name="Text 247"/>
          <p:cNvSpPr/>
          <p:nvPr/>
        </p:nvSpPr>
        <p:spPr>
          <a:xfrm>
            <a:off x="4542261" y="6097150"/>
            <a:ext cx="29316" cy="98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51" name="Text 248"/>
          <p:cNvSpPr/>
          <p:nvPr/>
        </p:nvSpPr>
        <p:spPr>
          <a:xfrm>
            <a:off x="5837104" y="5710402"/>
            <a:ext cx="715673" cy="12312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8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监测订阅服务</a:t>
            </a:r>
            <a:endParaRPr lang="en-US" sz="1050" dirty="0"/>
          </a:p>
        </p:txBody>
      </p:sp>
      <p:sp>
        <p:nvSpPr>
          <p:cNvPr id="252" name="Text 249"/>
          <p:cNvSpPr/>
          <p:nvPr/>
        </p:nvSpPr>
        <p:spPr>
          <a:xfrm>
            <a:off x="5978737" y="5868004"/>
            <a:ext cx="613433" cy="1055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能力动态监测</a:t>
            </a:r>
            <a:endParaRPr lang="en-US" sz="900" dirty="0"/>
          </a:p>
        </p:txBody>
      </p:sp>
      <p:sp>
        <p:nvSpPr>
          <p:cNvPr id="253" name="Text 250"/>
          <p:cNvSpPr/>
          <p:nvPr/>
        </p:nvSpPr>
        <p:spPr>
          <a:xfrm>
            <a:off x="5912776" y="5871302"/>
            <a:ext cx="29316" cy="98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54" name="Text 251"/>
          <p:cNvSpPr/>
          <p:nvPr/>
        </p:nvSpPr>
        <p:spPr>
          <a:xfrm>
            <a:off x="5978737" y="5980928"/>
            <a:ext cx="613433" cy="1055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风险预警订阅</a:t>
            </a:r>
            <a:endParaRPr lang="en-US" sz="900" dirty="0"/>
          </a:p>
        </p:txBody>
      </p:sp>
      <p:sp>
        <p:nvSpPr>
          <p:cNvPr id="255" name="Text 252"/>
          <p:cNvSpPr/>
          <p:nvPr/>
        </p:nvSpPr>
        <p:spPr>
          <a:xfrm>
            <a:off x="5912776" y="5984226"/>
            <a:ext cx="29316" cy="98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56" name="Text 253"/>
          <p:cNvSpPr/>
          <p:nvPr/>
        </p:nvSpPr>
        <p:spPr>
          <a:xfrm>
            <a:off x="5978737" y="6093853"/>
            <a:ext cx="613433" cy="1055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指标变化推送</a:t>
            </a:r>
            <a:endParaRPr lang="en-US" sz="900" dirty="0"/>
          </a:p>
        </p:txBody>
      </p:sp>
      <p:sp>
        <p:nvSpPr>
          <p:cNvPr id="257" name="Text 254"/>
          <p:cNvSpPr/>
          <p:nvPr/>
        </p:nvSpPr>
        <p:spPr>
          <a:xfrm>
            <a:off x="5912776" y="6097150"/>
            <a:ext cx="29316" cy="98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58" name="Text 255"/>
          <p:cNvSpPr/>
          <p:nvPr/>
        </p:nvSpPr>
        <p:spPr>
          <a:xfrm>
            <a:off x="7229606" y="5710402"/>
            <a:ext cx="715673" cy="12312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8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国际交流服务</a:t>
            </a:r>
            <a:endParaRPr lang="en-US" sz="1050" dirty="0"/>
          </a:p>
        </p:txBody>
      </p:sp>
      <p:sp>
        <p:nvSpPr>
          <p:cNvPr id="259" name="Text 256"/>
          <p:cNvSpPr/>
          <p:nvPr/>
        </p:nvSpPr>
        <p:spPr>
          <a:xfrm>
            <a:off x="7371239" y="5868004"/>
            <a:ext cx="613433" cy="1055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国际标准对接</a:t>
            </a:r>
            <a:endParaRPr lang="en-US" sz="900" dirty="0"/>
          </a:p>
        </p:txBody>
      </p:sp>
      <p:sp>
        <p:nvSpPr>
          <p:cNvPr id="260" name="Text 257"/>
          <p:cNvSpPr/>
          <p:nvPr/>
        </p:nvSpPr>
        <p:spPr>
          <a:xfrm>
            <a:off x="7305278" y="5871302"/>
            <a:ext cx="29316" cy="98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61" name="Text 258"/>
          <p:cNvSpPr/>
          <p:nvPr/>
        </p:nvSpPr>
        <p:spPr>
          <a:xfrm>
            <a:off x="7371239" y="5980928"/>
            <a:ext cx="613433" cy="1055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跨境互认支持</a:t>
            </a:r>
            <a:endParaRPr lang="en-US" sz="900" dirty="0"/>
          </a:p>
        </p:txBody>
      </p:sp>
      <p:sp>
        <p:nvSpPr>
          <p:cNvPr id="262" name="Text 259"/>
          <p:cNvSpPr/>
          <p:nvPr/>
        </p:nvSpPr>
        <p:spPr>
          <a:xfrm>
            <a:off x="7305278" y="5984226"/>
            <a:ext cx="29316" cy="98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63" name="Text 260"/>
          <p:cNvSpPr/>
          <p:nvPr/>
        </p:nvSpPr>
        <p:spPr>
          <a:xfrm>
            <a:off x="7371239" y="6093853"/>
            <a:ext cx="613433" cy="1055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国别信息服务</a:t>
            </a:r>
            <a:endParaRPr lang="en-US" sz="900" dirty="0"/>
          </a:p>
        </p:txBody>
      </p:sp>
      <p:sp>
        <p:nvSpPr>
          <p:cNvPr id="264" name="Text 261"/>
          <p:cNvSpPr/>
          <p:nvPr/>
        </p:nvSpPr>
        <p:spPr>
          <a:xfrm>
            <a:off x="7305278" y="6097150"/>
            <a:ext cx="29316" cy="98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65" name="Text 262"/>
          <p:cNvSpPr/>
          <p:nvPr/>
        </p:nvSpPr>
        <p:spPr>
          <a:xfrm>
            <a:off x="8622108" y="5710402"/>
            <a:ext cx="715673" cy="12312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8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生态协作服务</a:t>
            </a:r>
            <a:endParaRPr lang="en-US" sz="1050" dirty="0"/>
          </a:p>
        </p:txBody>
      </p:sp>
      <p:sp>
        <p:nvSpPr>
          <p:cNvPr id="266" name="Text 263"/>
          <p:cNvSpPr/>
          <p:nvPr/>
        </p:nvSpPr>
        <p:spPr>
          <a:xfrm>
            <a:off x="8763741" y="5868004"/>
            <a:ext cx="613433" cy="1055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合作生态对接</a:t>
            </a:r>
            <a:endParaRPr lang="en-US" sz="900" dirty="0"/>
          </a:p>
        </p:txBody>
      </p:sp>
      <p:sp>
        <p:nvSpPr>
          <p:cNvPr id="267" name="Text 264"/>
          <p:cNvSpPr/>
          <p:nvPr/>
        </p:nvSpPr>
        <p:spPr>
          <a:xfrm>
            <a:off x="8697780" y="5871302"/>
            <a:ext cx="29316" cy="98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68" name="Text 265"/>
          <p:cNvSpPr/>
          <p:nvPr/>
        </p:nvSpPr>
        <p:spPr>
          <a:xfrm>
            <a:off x="8763741" y="5980928"/>
            <a:ext cx="613433" cy="1055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能力开放共享</a:t>
            </a:r>
            <a:endParaRPr lang="en-US" sz="900" dirty="0"/>
          </a:p>
        </p:txBody>
      </p:sp>
      <p:sp>
        <p:nvSpPr>
          <p:cNvPr id="269" name="Text 266"/>
          <p:cNvSpPr/>
          <p:nvPr/>
        </p:nvSpPr>
        <p:spPr>
          <a:xfrm>
            <a:off x="8697780" y="5984226"/>
            <a:ext cx="29316" cy="98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70" name="Text 267"/>
          <p:cNvSpPr/>
          <p:nvPr/>
        </p:nvSpPr>
        <p:spPr>
          <a:xfrm>
            <a:off x="8763741" y="6093853"/>
            <a:ext cx="613433" cy="10553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2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生态共建共赢</a:t>
            </a:r>
            <a:endParaRPr lang="en-US" sz="900" dirty="0"/>
          </a:p>
        </p:txBody>
      </p:sp>
      <p:sp>
        <p:nvSpPr>
          <p:cNvPr id="271" name="Text 268"/>
          <p:cNvSpPr/>
          <p:nvPr/>
        </p:nvSpPr>
        <p:spPr>
          <a:xfrm>
            <a:off x="8697780" y="6097150"/>
            <a:ext cx="29316" cy="989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72" name="Template Title"/>
          <p:cNvSpPr txBox="1"/>
          <p:nvPr/>
        </p:nvSpPr>
        <p:spPr>
          <a:xfrm>
            <a:off x="552450" y="228600"/>
            <a:ext cx="72390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mid">
            <a:spAutoFit/>
          </a:bodyPr>
          <a:lstStyle/>
          <a:p>
            <a:pPr algn="l"/>
            <a:r>
              <a:rPr lang="zh-CN" sz="2500" dirty="0" b="1">
                <a:solidFill>
                  <a:srgbClr val="0B3B75"/>
                </a:solidFill>
                <a:latin typeface="Microsoft YaHei"/>
                <a:ea typeface="Microsoft YaHei"/>
              </a:rPr>
              <a:t>总体架构</a:t>
            </a:r>
          </a:p>
        </p:txBody>
      </p:sp>
      <p:sp>
        <p:nvSpPr>
          <p:cNvPr id="273" name="CEC Red Divider"/>
          <p:cNvSpPr/>
          <p:nvPr/>
        </p:nvSpPr>
        <p:spPr>
          <a:xfrm>
            <a:off x="0" y="895350"/>
            <a:ext cx="12192000" cy="66675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txBody/>
      </p:sp>
      <p:sp>
        <p:nvSpPr>
          <p:cNvPr id="274" name="Page Number"/>
          <p:cNvSpPr txBox="1"/>
          <p:nvPr/>
        </p:nvSpPr>
        <p:spPr>
          <a:xfrm>
            <a:off x="11353800" y="6667500"/>
            <a:ext cx="51435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mid">
            <a:spAutoFit/>
          </a:bodyPr>
          <a:lstStyle/>
          <a:p>
            <a:pPr algn="r"/>
            <a:r>
              <a:rPr lang="zh-CN" sz="1000" dirty="0" b="1">
                <a:solidFill>
                  <a:srgbClr val="666666"/>
                </a:solidFill>
                <a:latin typeface="Microsoft YaHei"/>
                <a:ea typeface="Microsoft YaHei"/>
              </a:rPr>
              <a:t>6</a:t>
            </a:r>
          </a:p>
        </p:txBody>
      </p:sp>
      <p:pic>
        <p:nvPicPr>
          <p:cNvPr id="275" name="CEC Logo"/>
          <p:cNvPicPr>
            <a:picLocks noChangeAspect="1"/>
          </p:cNvPicPr>
          <p:nvPr/>
        </p:nvPicPr>
        <p:blipFill>
          <a:blip r:embed="rIdLogo1"/>
          <a:stretch>
            <a:fillRect/>
          </a:stretch>
        </p:blipFill>
        <p:spPr>
          <a:xfrm>
            <a:off x="10001250" y="123825"/>
            <a:ext cx="2000250" cy="6667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CyberPPT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CyberPPT dual image editable overlay</dc:title>
  <dc:subject>dual_image_editable_overlay</dc:subject>
  <dc:creator>CyberPPT</dc:creator>
  <cp:lastModifiedBy>CyberPPT</cp:lastModifiedBy>
  <cp:revision>1</cp:revision>
  <dcterms:created xsi:type="dcterms:W3CDTF">2026-07-05T05:49:04Z</dcterms:created>
  <dcterms:modified xsi:type="dcterms:W3CDTF">2026-07-05T05:49:04Z</dcterms:modified>
</cp:coreProperties>
</file>