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image" Target="../media/image-1-1.png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ns0:Relationship Id="rIdLogo1" Type="http://schemas.openxmlformats.org/officeDocument/2006/relationships/image" Target="../media/cec_logo.png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olumes/DOC/CyberPPT/image2pptx_runs/20260705-110458_page006_dual_image/project/images/normalized/page_006_background_1280x7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168" y="990600"/>
            <a:ext cx="10265664" cy="57744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92992" y="1568044"/>
            <a:ext cx="160401" cy="160401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888982" y="1568044"/>
            <a:ext cx="160401" cy="160401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84972" y="1568044"/>
            <a:ext cx="160401" cy="160401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292992" y="2610650"/>
            <a:ext cx="160401" cy="160401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888982" y="2610650"/>
            <a:ext cx="160401" cy="160401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84972" y="2610650"/>
            <a:ext cx="160401" cy="160401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92992" y="3653257"/>
            <a:ext cx="160401" cy="160401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88982" y="3653257"/>
            <a:ext cx="160401" cy="160401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84972" y="3653257"/>
            <a:ext cx="160401" cy="160401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258406" y="1612154"/>
            <a:ext cx="144361" cy="144361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258406" y="2470299"/>
            <a:ext cx="144361" cy="144361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258406" y="3320425"/>
            <a:ext cx="144361" cy="144361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258406" y="4178570"/>
            <a:ext cx="144361" cy="144361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258406" y="5028695"/>
            <a:ext cx="144361" cy="144361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258406" y="5886841"/>
            <a:ext cx="144361" cy="144361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428331" y="1134961"/>
            <a:ext cx="553383" cy="1523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数据基础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321463" y="1276114"/>
            <a:ext cx="783158" cy="1347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（多源汇聚）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361106" y="1604936"/>
            <a:ext cx="856253" cy="1347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企业/业务数据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604772" y="1777399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经营管理数据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532592" y="1784216"/>
            <a:ext cx="32080" cy="1002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1604772" y="1900972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项目执行数据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532592" y="1786590"/>
            <a:ext cx="32080" cy="1002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1604772" y="2024545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合同订单数据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532592" y="1908591"/>
            <a:ext cx="32080" cy="1002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1604772" y="2148118"/>
            <a:ext cx="78315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绩效与指标数据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532592" y="2151726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1604772" y="2271690"/>
            <a:ext cx="224561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397654" y="2615462"/>
            <a:ext cx="783158" cy="1347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内部职能数据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1604772" y="2787926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人力资源数据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532592" y="2638351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1604772" y="2911498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财务管理数据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532592" y="2915107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1604772" y="3035071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法务合规数据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532592" y="3038680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1604772" y="3158644"/>
            <a:ext cx="78315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采购供应链数据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532592" y="3162253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1604772" y="3282217"/>
            <a:ext cx="224561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397654" y="3642029"/>
            <a:ext cx="783158" cy="1347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外部公共数据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1604772" y="3814492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工商税务数据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532592" y="3818101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1604772" y="3938065"/>
            <a:ext cx="733931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信用/司法数据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532592" y="3941674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1604772" y="4061638"/>
            <a:ext cx="89503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进出口与海关数据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532592" y="4065246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1604772" y="4185210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宏观经济数据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532592" y="4188819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1604772" y="4308783"/>
            <a:ext cx="224561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1267127" y="4671803"/>
            <a:ext cx="1044211" cy="1363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外部专业机构数据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1604772" y="4846319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评级评估数据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1532592" y="4849928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1604772" y="4969892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行业基准数据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1532592" y="4973501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1604772" y="5093465"/>
            <a:ext cx="886087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ESG/HSE评估数据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1532592" y="5097074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7" name="Text 54"/>
          <p:cNvSpPr/>
          <p:nvPr/>
        </p:nvSpPr>
        <p:spPr>
          <a:xfrm>
            <a:off x="1604772" y="5217038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风险情报数据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1532592" y="5220647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1604772" y="5340611"/>
            <a:ext cx="224561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4082967" y="1134961"/>
            <a:ext cx="2863158" cy="1604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核心能力评估空间（评估模型与能力引擎）</a:t>
            </a:r>
            <a:endParaRPr lang="en-US" sz="1050" dirty="0"/>
          </a:p>
        </p:txBody>
      </p:sp>
      <p:sp>
        <p:nvSpPr>
          <p:cNvPr id="61" name="Text 58"/>
          <p:cNvSpPr/>
          <p:nvPr/>
        </p:nvSpPr>
        <p:spPr>
          <a:xfrm>
            <a:off x="3292992" y="1576064"/>
            <a:ext cx="160401" cy="1684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720" dirty="0"/>
          </a:p>
        </p:txBody>
      </p:sp>
      <p:sp>
        <p:nvSpPr>
          <p:cNvPr id="62" name="Text 59"/>
          <p:cNvSpPr/>
          <p:nvPr/>
        </p:nvSpPr>
        <p:spPr>
          <a:xfrm>
            <a:off x="3641464" y="1562590"/>
            <a:ext cx="522105" cy="1347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目录管理</a:t>
            </a:r>
            <a:endParaRPr lang="en-US" sz="1050" dirty="0"/>
          </a:p>
        </p:txBody>
      </p:sp>
      <p:sp>
        <p:nvSpPr>
          <p:cNvPr id="63" name="Text 60"/>
          <p:cNvSpPr/>
          <p:nvPr/>
        </p:nvSpPr>
        <p:spPr>
          <a:xfrm>
            <a:off x="3746125" y="1735053"/>
            <a:ext cx="733931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指标/能力目录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3673945" y="1738662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3746125" y="1858626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评估维度管理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3673945" y="1862235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3746125" y="1982199"/>
            <a:ext cx="78315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分类与标签管理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3673945" y="2028154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3746125" y="2105772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目录版本管理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3673945" y="2109381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4888982" y="1576064"/>
            <a:ext cx="160401" cy="1684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5229434" y="1562590"/>
            <a:ext cx="522105" cy="1347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身份认证</a:t>
            </a:r>
            <a:endParaRPr lang="en-US" sz="1050" dirty="0"/>
          </a:p>
        </p:txBody>
      </p:sp>
      <p:sp>
        <p:nvSpPr>
          <p:cNvPr id="73" name="Text 70"/>
          <p:cNvSpPr/>
          <p:nvPr/>
        </p:nvSpPr>
        <p:spPr>
          <a:xfrm>
            <a:off x="5374196" y="1735053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主体身份管理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5302015" y="1738662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5" name="Text 72"/>
          <p:cNvSpPr/>
          <p:nvPr/>
        </p:nvSpPr>
        <p:spPr>
          <a:xfrm>
            <a:off x="5374196" y="1858626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人员身份管理</a:t>
            </a:r>
            <a:endParaRPr lang="en-US" sz="900" dirty="0"/>
          </a:p>
        </p:txBody>
      </p:sp>
      <p:sp>
        <p:nvSpPr>
          <p:cNvPr id="76" name="Text 73"/>
          <p:cNvSpPr/>
          <p:nvPr/>
        </p:nvSpPr>
        <p:spPr>
          <a:xfrm>
            <a:off x="5302015" y="1862235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7" name="Text 74"/>
          <p:cNvSpPr/>
          <p:nvPr/>
        </p:nvSpPr>
        <p:spPr>
          <a:xfrm>
            <a:off x="5374196" y="1982199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可信身份校验</a:t>
            </a:r>
            <a:endParaRPr lang="en-US" sz="900" dirty="0"/>
          </a:p>
        </p:txBody>
      </p:sp>
      <p:sp>
        <p:nvSpPr>
          <p:cNvPr id="78" name="Text 75"/>
          <p:cNvSpPr/>
          <p:nvPr/>
        </p:nvSpPr>
        <p:spPr>
          <a:xfrm>
            <a:off x="5302015" y="1985808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9" name="Text 76"/>
          <p:cNvSpPr/>
          <p:nvPr/>
        </p:nvSpPr>
        <p:spPr>
          <a:xfrm>
            <a:off x="5374196" y="2105772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认证策略配置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5302015" y="1985808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1" name="Text 78"/>
          <p:cNvSpPr/>
          <p:nvPr/>
        </p:nvSpPr>
        <p:spPr>
          <a:xfrm>
            <a:off x="6484972" y="1576064"/>
            <a:ext cx="160401" cy="1684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6857504" y="1562590"/>
            <a:ext cx="522105" cy="1347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授权控制</a:t>
            </a:r>
            <a:endParaRPr lang="en-US" sz="1050" dirty="0"/>
          </a:p>
        </p:txBody>
      </p:sp>
      <p:sp>
        <p:nvSpPr>
          <p:cNvPr id="83" name="Text 80"/>
          <p:cNvSpPr/>
          <p:nvPr/>
        </p:nvSpPr>
        <p:spPr>
          <a:xfrm>
            <a:off x="6994246" y="1735053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数据资源授权</a:t>
            </a:r>
            <a:endParaRPr lang="en-US" sz="900" dirty="0"/>
          </a:p>
        </p:txBody>
      </p:sp>
      <p:sp>
        <p:nvSpPr>
          <p:cNvPr id="84" name="Text 81"/>
          <p:cNvSpPr/>
          <p:nvPr/>
        </p:nvSpPr>
        <p:spPr>
          <a:xfrm>
            <a:off x="6922065" y="1738662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5" name="Text 82"/>
          <p:cNvSpPr/>
          <p:nvPr/>
        </p:nvSpPr>
        <p:spPr>
          <a:xfrm>
            <a:off x="6994246" y="1858626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能力访问授权</a:t>
            </a:r>
            <a:endParaRPr lang="en-US" sz="900" dirty="0"/>
          </a:p>
        </p:txBody>
      </p:sp>
      <p:sp>
        <p:nvSpPr>
          <p:cNvPr id="86" name="Text 83"/>
          <p:cNvSpPr/>
          <p:nvPr/>
        </p:nvSpPr>
        <p:spPr>
          <a:xfrm>
            <a:off x="6922065" y="1862235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7" name="Text 84"/>
          <p:cNvSpPr/>
          <p:nvPr/>
        </p:nvSpPr>
        <p:spPr>
          <a:xfrm>
            <a:off x="6994246" y="1982199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角色权限管理</a:t>
            </a:r>
            <a:endParaRPr lang="en-US" sz="900" dirty="0"/>
          </a:p>
        </p:txBody>
      </p:sp>
      <p:sp>
        <p:nvSpPr>
          <p:cNvPr id="88" name="Text 85"/>
          <p:cNvSpPr/>
          <p:nvPr/>
        </p:nvSpPr>
        <p:spPr>
          <a:xfrm>
            <a:off x="6922065" y="1985808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9" name="Text 86"/>
          <p:cNvSpPr/>
          <p:nvPr/>
        </p:nvSpPr>
        <p:spPr>
          <a:xfrm>
            <a:off x="6994246" y="2105772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授权策略管理</a:t>
            </a:r>
            <a:endParaRPr lang="en-US" sz="900" dirty="0"/>
          </a:p>
        </p:txBody>
      </p:sp>
      <p:sp>
        <p:nvSpPr>
          <p:cNvPr id="90" name="Text 87"/>
          <p:cNvSpPr/>
          <p:nvPr/>
        </p:nvSpPr>
        <p:spPr>
          <a:xfrm>
            <a:off x="6922065" y="2109381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1" name="Text 88"/>
          <p:cNvSpPr/>
          <p:nvPr/>
        </p:nvSpPr>
        <p:spPr>
          <a:xfrm>
            <a:off x="3292992" y="2618670"/>
            <a:ext cx="160401" cy="1684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20" dirty="0"/>
          </a:p>
        </p:txBody>
      </p:sp>
      <p:sp>
        <p:nvSpPr>
          <p:cNvPr id="92" name="Text 89"/>
          <p:cNvSpPr/>
          <p:nvPr/>
        </p:nvSpPr>
        <p:spPr>
          <a:xfrm>
            <a:off x="3641464" y="2605196"/>
            <a:ext cx="522105" cy="1347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规则调用</a:t>
            </a:r>
            <a:endParaRPr lang="en-US" sz="1050" dirty="0"/>
          </a:p>
        </p:txBody>
      </p:sp>
      <p:sp>
        <p:nvSpPr>
          <p:cNvPr id="93" name="Text 90"/>
          <p:cNvSpPr/>
          <p:nvPr/>
        </p:nvSpPr>
        <p:spPr>
          <a:xfrm>
            <a:off x="3746125" y="2777660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评估规则引擎</a:t>
            </a:r>
            <a:endParaRPr lang="en-US" sz="900" dirty="0"/>
          </a:p>
        </p:txBody>
      </p:sp>
      <p:sp>
        <p:nvSpPr>
          <p:cNvPr id="94" name="Text 91"/>
          <p:cNvSpPr/>
          <p:nvPr/>
        </p:nvSpPr>
        <p:spPr>
          <a:xfrm>
            <a:off x="3673945" y="2781269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5" name="Text 92"/>
          <p:cNvSpPr/>
          <p:nvPr/>
        </p:nvSpPr>
        <p:spPr>
          <a:xfrm>
            <a:off x="3746125" y="2901233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评分算法管理</a:t>
            </a:r>
            <a:endParaRPr lang="en-US" sz="900" dirty="0"/>
          </a:p>
        </p:txBody>
      </p:sp>
      <p:sp>
        <p:nvSpPr>
          <p:cNvPr id="96" name="Text 93"/>
          <p:cNvSpPr/>
          <p:nvPr/>
        </p:nvSpPr>
        <p:spPr>
          <a:xfrm>
            <a:off x="3673945" y="2904842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7" name="Text 94"/>
          <p:cNvSpPr/>
          <p:nvPr/>
        </p:nvSpPr>
        <p:spPr>
          <a:xfrm>
            <a:off x="3746125" y="3024805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规则版本管理</a:t>
            </a:r>
            <a:endParaRPr lang="en-US" sz="900" dirty="0"/>
          </a:p>
        </p:txBody>
      </p:sp>
      <p:sp>
        <p:nvSpPr>
          <p:cNvPr id="98" name="Text 95"/>
          <p:cNvSpPr/>
          <p:nvPr/>
        </p:nvSpPr>
        <p:spPr>
          <a:xfrm>
            <a:off x="3673945" y="3028414"/>
            <a:ext cx="32080" cy="10827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3746125" y="3148378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规则执行日志</a:t>
            </a:r>
            <a:endParaRPr lang="en-US" sz="900" dirty="0"/>
          </a:p>
        </p:txBody>
      </p:sp>
      <p:sp>
        <p:nvSpPr>
          <p:cNvPr id="100" name="Text 97"/>
          <p:cNvSpPr/>
          <p:nvPr/>
        </p:nvSpPr>
        <p:spPr>
          <a:xfrm>
            <a:off x="3673945" y="3151987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1" name="Text 98"/>
          <p:cNvSpPr/>
          <p:nvPr/>
        </p:nvSpPr>
        <p:spPr>
          <a:xfrm>
            <a:off x="4888982" y="2618670"/>
            <a:ext cx="160401" cy="1684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720" dirty="0"/>
          </a:p>
        </p:txBody>
      </p:sp>
      <p:sp>
        <p:nvSpPr>
          <p:cNvPr id="102" name="Text 99"/>
          <p:cNvSpPr/>
          <p:nvPr/>
        </p:nvSpPr>
        <p:spPr>
          <a:xfrm>
            <a:off x="5229434" y="2605196"/>
            <a:ext cx="522105" cy="1347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证据管理</a:t>
            </a:r>
            <a:endParaRPr lang="en-US" sz="1050" dirty="0"/>
          </a:p>
        </p:txBody>
      </p:sp>
      <p:sp>
        <p:nvSpPr>
          <p:cNvPr id="103" name="Text 100"/>
          <p:cNvSpPr/>
          <p:nvPr/>
        </p:nvSpPr>
        <p:spPr>
          <a:xfrm>
            <a:off x="5374196" y="2777660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证据采集接入</a:t>
            </a:r>
            <a:endParaRPr lang="en-US" sz="900" dirty="0"/>
          </a:p>
        </p:txBody>
      </p:sp>
      <p:sp>
        <p:nvSpPr>
          <p:cNvPr id="104" name="Text 101"/>
          <p:cNvSpPr/>
          <p:nvPr/>
        </p:nvSpPr>
        <p:spPr>
          <a:xfrm>
            <a:off x="5302015" y="2781269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5" name="Text 102"/>
          <p:cNvSpPr/>
          <p:nvPr/>
        </p:nvSpPr>
        <p:spPr>
          <a:xfrm>
            <a:off x="5374196" y="2901233"/>
            <a:ext cx="559399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证据标准化</a:t>
            </a:r>
            <a:endParaRPr lang="en-US" sz="900" dirty="0"/>
          </a:p>
        </p:txBody>
      </p:sp>
      <p:sp>
        <p:nvSpPr>
          <p:cNvPr id="106" name="Text 103"/>
          <p:cNvSpPr/>
          <p:nvPr/>
        </p:nvSpPr>
        <p:spPr>
          <a:xfrm>
            <a:off x="5302015" y="2904842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7" name="Text 104"/>
          <p:cNvSpPr/>
          <p:nvPr/>
        </p:nvSpPr>
        <p:spPr>
          <a:xfrm>
            <a:off x="5374196" y="3024805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证据质量校验</a:t>
            </a:r>
            <a:endParaRPr lang="en-US" sz="900" dirty="0"/>
          </a:p>
        </p:txBody>
      </p:sp>
      <p:sp>
        <p:nvSpPr>
          <p:cNvPr id="108" name="Text 105"/>
          <p:cNvSpPr/>
          <p:nvPr/>
        </p:nvSpPr>
        <p:spPr>
          <a:xfrm>
            <a:off x="5302015" y="3028414"/>
            <a:ext cx="32080" cy="10827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9" name="Text 106"/>
          <p:cNvSpPr/>
          <p:nvPr/>
        </p:nvSpPr>
        <p:spPr>
          <a:xfrm>
            <a:off x="5374196" y="3148378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证据关联映射</a:t>
            </a:r>
            <a:endParaRPr lang="en-US" sz="900" dirty="0"/>
          </a:p>
        </p:txBody>
      </p:sp>
      <p:sp>
        <p:nvSpPr>
          <p:cNvPr id="110" name="Text 107"/>
          <p:cNvSpPr/>
          <p:nvPr/>
        </p:nvSpPr>
        <p:spPr>
          <a:xfrm>
            <a:off x="5302015" y="3151987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1" name="Text 108"/>
          <p:cNvSpPr/>
          <p:nvPr/>
        </p:nvSpPr>
        <p:spPr>
          <a:xfrm>
            <a:off x="6484972" y="2618670"/>
            <a:ext cx="160401" cy="1684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720" dirty="0"/>
          </a:p>
        </p:txBody>
      </p:sp>
      <p:sp>
        <p:nvSpPr>
          <p:cNvPr id="112" name="Text 109"/>
          <p:cNvSpPr/>
          <p:nvPr/>
        </p:nvSpPr>
        <p:spPr>
          <a:xfrm>
            <a:off x="6857504" y="2605196"/>
            <a:ext cx="522105" cy="1347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能力评估</a:t>
            </a:r>
            <a:endParaRPr lang="en-US" sz="1050" dirty="0"/>
          </a:p>
        </p:txBody>
      </p:sp>
      <p:sp>
        <p:nvSpPr>
          <p:cNvPr id="113" name="Text 110"/>
          <p:cNvSpPr/>
          <p:nvPr/>
        </p:nvSpPr>
        <p:spPr>
          <a:xfrm>
            <a:off x="6994246" y="2777660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能力评分计算</a:t>
            </a:r>
            <a:endParaRPr lang="en-US" sz="900" dirty="0"/>
          </a:p>
        </p:txBody>
      </p:sp>
      <p:sp>
        <p:nvSpPr>
          <p:cNvPr id="114" name="Text 111"/>
          <p:cNvSpPr/>
          <p:nvPr/>
        </p:nvSpPr>
        <p:spPr>
          <a:xfrm>
            <a:off x="6922065" y="2781269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5" name="Text 112"/>
          <p:cNvSpPr/>
          <p:nvPr/>
        </p:nvSpPr>
        <p:spPr>
          <a:xfrm>
            <a:off x="6994246" y="2901233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维度权重配置</a:t>
            </a:r>
            <a:endParaRPr lang="en-US" sz="900" dirty="0"/>
          </a:p>
        </p:txBody>
      </p:sp>
      <p:sp>
        <p:nvSpPr>
          <p:cNvPr id="116" name="Text 113"/>
          <p:cNvSpPr/>
          <p:nvPr/>
        </p:nvSpPr>
        <p:spPr>
          <a:xfrm>
            <a:off x="6922065" y="2904842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7" name="Text 114"/>
          <p:cNvSpPr/>
          <p:nvPr/>
        </p:nvSpPr>
        <p:spPr>
          <a:xfrm>
            <a:off x="6994246" y="3024805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评估结果校验</a:t>
            </a:r>
            <a:endParaRPr lang="en-US" sz="900" dirty="0"/>
          </a:p>
        </p:txBody>
      </p:sp>
      <p:sp>
        <p:nvSpPr>
          <p:cNvPr id="118" name="Text 115"/>
          <p:cNvSpPr/>
          <p:nvPr/>
        </p:nvSpPr>
        <p:spPr>
          <a:xfrm>
            <a:off x="6922065" y="3028414"/>
            <a:ext cx="32080" cy="10827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9" name="Text 116"/>
          <p:cNvSpPr/>
          <p:nvPr/>
        </p:nvSpPr>
        <p:spPr>
          <a:xfrm>
            <a:off x="6994246" y="3148378"/>
            <a:ext cx="559399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敏感项校验</a:t>
            </a:r>
            <a:endParaRPr lang="en-US" sz="900" dirty="0"/>
          </a:p>
        </p:txBody>
      </p:sp>
      <p:sp>
        <p:nvSpPr>
          <p:cNvPr id="120" name="Text 117"/>
          <p:cNvSpPr/>
          <p:nvPr/>
        </p:nvSpPr>
        <p:spPr>
          <a:xfrm>
            <a:off x="6922065" y="3151987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1" name="Text 118"/>
          <p:cNvSpPr/>
          <p:nvPr/>
        </p:nvSpPr>
        <p:spPr>
          <a:xfrm>
            <a:off x="3292992" y="3661277"/>
            <a:ext cx="160401" cy="1684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720" dirty="0"/>
          </a:p>
        </p:txBody>
      </p:sp>
      <p:sp>
        <p:nvSpPr>
          <p:cNvPr id="122" name="Text 119"/>
          <p:cNvSpPr/>
          <p:nvPr/>
        </p:nvSpPr>
        <p:spPr>
          <a:xfrm>
            <a:off x="3641464" y="3647803"/>
            <a:ext cx="522105" cy="1347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结果生成</a:t>
            </a:r>
            <a:endParaRPr lang="en-US" sz="1050" dirty="0"/>
          </a:p>
        </p:txBody>
      </p:sp>
      <p:sp>
        <p:nvSpPr>
          <p:cNvPr id="123" name="Text 120"/>
          <p:cNvSpPr/>
          <p:nvPr/>
        </p:nvSpPr>
        <p:spPr>
          <a:xfrm>
            <a:off x="3746125" y="3820266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评估报告生成</a:t>
            </a:r>
            <a:endParaRPr lang="en-US" sz="900" dirty="0"/>
          </a:p>
        </p:txBody>
      </p:sp>
      <p:sp>
        <p:nvSpPr>
          <p:cNvPr id="124" name="Text 121"/>
          <p:cNvSpPr/>
          <p:nvPr/>
        </p:nvSpPr>
        <p:spPr>
          <a:xfrm>
            <a:off x="3673945" y="3823875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5" name="Text 122"/>
          <p:cNvSpPr/>
          <p:nvPr/>
        </p:nvSpPr>
        <p:spPr>
          <a:xfrm>
            <a:off x="3746125" y="3943839"/>
            <a:ext cx="559399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结果可视化</a:t>
            </a:r>
            <a:endParaRPr lang="en-US" sz="900" dirty="0"/>
          </a:p>
        </p:txBody>
      </p:sp>
      <p:sp>
        <p:nvSpPr>
          <p:cNvPr id="126" name="Text 123"/>
          <p:cNvSpPr/>
          <p:nvPr/>
        </p:nvSpPr>
        <p:spPr>
          <a:xfrm>
            <a:off x="3673945" y="3947448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7" name="Text 124"/>
          <p:cNvSpPr/>
          <p:nvPr/>
        </p:nvSpPr>
        <p:spPr>
          <a:xfrm>
            <a:off x="3746125" y="4067412"/>
            <a:ext cx="559399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结论与建议</a:t>
            </a:r>
            <a:endParaRPr lang="en-US" sz="900" dirty="0"/>
          </a:p>
        </p:txBody>
      </p:sp>
      <p:sp>
        <p:nvSpPr>
          <p:cNvPr id="128" name="Text 125"/>
          <p:cNvSpPr/>
          <p:nvPr/>
        </p:nvSpPr>
        <p:spPr>
          <a:xfrm>
            <a:off x="3673945" y="4071021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9" name="Text 126"/>
          <p:cNvSpPr/>
          <p:nvPr/>
        </p:nvSpPr>
        <p:spPr>
          <a:xfrm>
            <a:off x="3746125" y="4190985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结果导出共享</a:t>
            </a:r>
            <a:endParaRPr lang="en-US" sz="900" dirty="0"/>
          </a:p>
        </p:txBody>
      </p:sp>
      <p:sp>
        <p:nvSpPr>
          <p:cNvPr id="130" name="Text 127"/>
          <p:cNvSpPr/>
          <p:nvPr/>
        </p:nvSpPr>
        <p:spPr>
          <a:xfrm>
            <a:off x="3673945" y="4194594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1" name="Text 128"/>
          <p:cNvSpPr/>
          <p:nvPr/>
        </p:nvSpPr>
        <p:spPr>
          <a:xfrm>
            <a:off x="4888982" y="3661277"/>
            <a:ext cx="160401" cy="1684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720" dirty="0"/>
          </a:p>
        </p:txBody>
      </p:sp>
      <p:sp>
        <p:nvSpPr>
          <p:cNvPr id="132" name="Text 129"/>
          <p:cNvSpPr/>
          <p:nvPr/>
        </p:nvSpPr>
        <p:spPr>
          <a:xfrm>
            <a:off x="5229434" y="3647803"/>
            <a:ext cx="522105" cy="1347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版本溯源</a:t>
            </a:r>
            <a:endParaRPr lang="en-US" sz="1050" dirty="0"/>
          </a:p>
        </p:txBody>
      </p:sp>
      <p:sp>
        <p:nvSpPr>
          <p:cNvPr id="133" name="Text 130"/>
          <p:cNvSpPr/>
          <p:nvPr/>
        </p:nvSpPr>
        <p:spPr>
          <a:xfrm>
            <a:off x="5374196" y="3820266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版本记录管理</a:t>
            </a:r>
            <a:endParaRPr lang="en-US" sz="900" dirty="0"/>
          </a:p>
        </p:txBody>
      </p:sp>
      <p:sp>
        <p:nvSpPr>
          <p:cNvPr id="134" name="Text 131"/>
          <p:cNvSpPr/>
          <p:nvPr/>
        </p:nvSpPr>
        <p:spPr>
          <a:xfrm>
            <a:off x="5302015" y="3823875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5" name="Text 132"/>
          <p:cNvSpPr/>
          <p:nvPr/>
        </p:nvSpPr>
        <p:spPr>
          <a:xfrm>
            <a:off x="5374196" y="3943839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变更影响追踪</a:t>
            </a:r>
            <a:endParaRPr lang="en-US" sz="900" dirty="0"/>
          </a:p>
        </p:txBody>
      </p:sp>
      <p:sp>
        <p:nvSpPr>
          <p:cNvPr id="136" name="Text 133"/>
          <p:cNvSpPr/>
          <p:nvPr/>
        </p:nvSpPr>
        <p:spPr>
          <a:xfrm>
            <a:off x="5302015" y="3947448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7" name="Text 134"/>
          <p:cNvSpPr/>
          <p:nvPr/>
        </p:nvSpPr>
        <p:spPr>
          <a:xfrm>
            <a:off x="5374196" y="4067412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溯源链路管理</a:t>
            </a:r>
            <a:endParaRPr lang="en-US" sz="900" dirty="0"/>
          </a:p>
        </p:txBody>
      </p:sp>
      <p:sp>
        <p:nvSpPr>
          <p:cNvPr id="138" name="Text 135"/>
          <p:cNvSpPr/>
          <p:nvPr/>
        </p:nvSpPr>
        <p:spPr>
          <a:xfrm>
            <a:off x="5302015" y="4071021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9" name="Text 136"/>
          <p:cNvSpPr/>
          <p:nvPr/>
        </p:nvSpPr>
        <p:spPr>
          <a:xfrm>
            <a:off x="5374196" y="4190985"/>
            <a:ext cx="559399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回溯与对比</a:t>
            </a:r>
            <a:endParaRPr lang="en-US" sz="900" dirty="0"/>
          </a:p>
        </p:txBody>
      </p:sp>
      <p:sp>
        <p:nvSpPr>
          <p:cNvPr id="140" name="Text 137"/>
          <p:cNvSpPr/>
          <p:nvPr/>
        </p:nvSpPr>
        <p:spPr>
          <a:xfrm>
            <a:off x="5302015" y="4194594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1" name="Text 138"/>
          <p:cNvSpPr/>
          <p:nvPr/>
        </p:nvSpPr>
        <p:spPr>
          <a:xfrm>
            <a:off x="6484972" y="3661277"/>
            <a:ext cx="160401" cy="1684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720" dirty="0"/>
          </a:p>
        </p:txBody>
      </p:sp>
      <p:sp>
        <p:nvSpPr>
          <p:cNvPr id="142" name="Text 139"/>
          <p:cNvSpPr/>
          <p:nvPr/>
        </p:nvSpPr>
        <p:spPr>
          <a:xfrm>
            <a:off x="6857504" y="3647803"/>
            <a:ext cx="522105" cy="1347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证书审核</a:t>
            </a:r>
            <a:endParaRPr lang="en-US" sz="1050" dirty="0"/>
          </a:p>
        </p:txBody>
      </p:sp>
      <p:sp>
        <p:nvSpPr>
          <p:cNvPr id="143" name="Text 140"/>
          <p:cNvSpPr/>
          <p:nvPr/>
        </p:nvSpPr>
        <p:spPr>
          <a:xfrm>
            <a:off x="6994246" y="3820266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结果合规审核</a:t>
            </a:r>
            <a:endParaRPr lang="en-US" sz="900" dirty="0"/>
          </a:p>
        </p:txBody>
      </p:sp>
      <p:sp>
        <p:nvSpPr>
          <p:cNvPr id="144" name="Text 141"/>
          <p:cNvSpPr/>
          <p:nvPr/>
        </p:nvSpPr>
        <p:spPr>
          <a:xfrm>
            <a:off x="6922065" y="3823875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5" name="Text 142"/>
          <p:cNvSpPr/>
          <p:nvPr/>
        </p:nvSpPr>
        <p:spPr>
          <a:xfrm>
            <a:off x="6994246" y="3943839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证书签发管理</a:t>
            </a:r>
            <a:endParaRPr lang="en-US" sz="900" dirty="0"/>
          </a:p>
        </p:txBody>
      </p:sp>
      <p:sp>
        <p:nvSpPr>
          <p:cNvPr id="146" name="Text 143"/>
          <p:cNvSpPr/>
          <p:nvPr/>
        </p:nvSpPr>
        <p:spPr>
          <a:xfrm>
            <a:off x="6922065" y="3947448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7" name="Text 144"/>
          <p:cNvSpPr/>
          <p:nvPr/>
        </p:nvSpPr>
        <p:spPr>
          <a:xfrm>
            <a:off x="6994246" y="4067412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证书状态管理</a:t>
            </a:r>
            <a:endParaRPr lang="en-US" sz="900" dirty="0"/>
          </a:p>
        </p:txBody>
      </p:sp>
      <p:sp>
        <p:nvSpPr>
          <p:cNvPr id="148" name="Text 145"/>
          <p:cNvSpPr/>
          <p:nvPr/>
        </p:nvSpPr>
        <p:spPr>
          <a:xfrm>
            <a:off x="6922065" y="4071021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9" name="Text 146"/>
          <p:cNvSpPr/>
          <p:nvPr/>
        </p:nvSpPr>
        <p:spPr>
          <a:xfrm>
            <a:off x="6994246" y="4190985"/>
            <a:ext cx="559399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撤销与更新</a:t>
            </a:r>
            <a:endParaRPr lang="en-US" sz="900" dirty="0"/>
          </a:p>
        </p:txBody>
      </p:sp>
      <p:sp>
        <p:nvSpPr>
          <p:cNvPr id="150" name="Text 147"/>
          <p:cNvSpPr/>
          <p:nvPr/>
        </p:nvSpPr>
        <p:spPr>
          <a:xfrm>
            <a:off x="6922065" y="4194594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51" name="Text 148"/>
          <p:cNvSpPr/>
          <p:nvPr/>
        </p:nvSpPr>
        <p:spPr>
          <a:xfrm>
            <a:off x="8048481" y="3067793"/>
            <a:ext cx="522105" cy="2726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反馈迭代</a:t>
            </a:r>
            <a:endParaRPr lang="en-US" sz="1050" dirty="0"/>
          </a:p>
        </p:txBody>
      </p:sp>
      <p:sp>
        <p:nvSpPr>
          <p:cNvPr id="152" name="Text 149"/>
          <p:cNvSpPr/>
          <p:nvPr/>
        </p:nvSpPr>
        <p:spPr>
          <a:xfrm>
            <a:off x="5542617" y="4592003"/>
            <a:ext cx="522105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证据支撑</a:t>
            </a:r>
            <a:endParaRPr lang="en-US" sz="900" dirty="0"/>
          </a:p>
        </p:txBody>
      </p:sp>
      <p:sp>
        <p:nvSpPr>
          <p:cNvPr id="153" name="Text 150"/>
          <p:cNvSpPr/>
          <p:nvPr/>
        </p:nvSpPr>
        <p:spPr>
          <a:xfrm>
            <a:off x="4299252" y="4808144"/>
            <a:ext cx="2422569" cy="1363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对象/证据池（评估对象与关键证据沉淀）</a:t>
            </a:r>
            <a:endParaRPr lang="en-US" sz="1050" dirty="0"/>
          </a:p>
        </p:txBody>
      </p:sp>
      <p:sp>
        <p:nvSpPr>
          <p:cNvPr id="154" name="Text 151"/>
          <p:cNvSpPr/>
          <p:nvPr/>
        </p:nvSpPr>
        <p:spPr>
          <a:xfrm>
            <a:off x="3409283" y="5193909"/>
            <a:ext cx="522105" cy="1347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企业主体</a:t>
            </a:r>
            <a:endParaRPr lang="en-US" sz="1050" dirty="0"/>
          </a:p>
        </p:txBody>
      </p:sp>
      <p:sp>
        <p:nvSpPr>
          <p:cNvPr id="155" name="Text 152"/>
          <p:cNvSpPr/>
          <p:nvPr/>
        </p:nvSpPr>
        <p:spPr>
          <a:xfrm>
            <a:off x="4187228" y="5193909"/>
            <a:ext cx="522105" cy="1347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海外项目</a:t>
            </a:r>
            <a:endParaRPr lang="en-US" sz="1050" dirty="0"/>
          </a:p>
        </p:txBody>
      </p:sp>
      <p:sp>
        <p:nvSpPr>
          <p:cNvPr id="156" name="Text 153"/>
          <p:cNvSpPr/>
          <p:nvPr/>
        </p:nvSpPr>
        <p:spPr>
          <a:xfrm>
            <a:off x="4997253" y="5193909"/>
            <a:ext cx="522105" cy="1347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技术设备</a:t>
            </a:r>
            <a:endParaRPr lang="en-US" sz="1050" dirty="0"/>
          </a:p>
        </p:txBody>
      </p:sp>
      <p:sp>
        <p:nvSpPr>
          <p:cNvPr id="157" name="Text 154"/>
          <p:cNvSpPr/>
          <p:nvPr/>
        </p:nvSpPr>
        <p:spPr>
          <a:xfrm>
            <a:off x="5823318" y="5193909"/>
            <a:ext cx="522105" cy="1347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财务信用</a:t>
            </a:r>
            <a:endParaRPr lang="en-US" sz="1050" dirty="0"/>
          </a:p>
        </p:txBody>
      </p:sp>
      <p:sp>
        <p:nvSpPr>
          <p:cNvPr id="158" name="Text 155"/>
          <p:cNvSpPr/>
          <p:nvPr/>
        </p:nvSpPr>
        <p:spPr>
          <a:xfrm>
            <a:off x="6633343" y="5105688"/>
            <a:ext cx="511663" cy="1347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E&amp;S/HSE</a:t>
            </a:r>
            <a:endParaRPr lang="en-US" sz="1050" dirty="0"/>
          </a:p>
        </p:txBody>
      </p:sp>
      <p:sp>
        <p:nvSpPr>
          <p:cNvPr id="159" name="Text 156"/>
          <p:cNvSpPr/>
          <p:nvPr/>
        </p:nvSpPr>
        <p:spPr>
          <a:xfrm>
            <a:off x="6745624" y="5225989"/>
            <a:ext cx="261053" cy="1347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</a:t>
            </a:r>
            <a:endParaRPr lang="en-US" sz="1050" dirty="0"/>
          </a:p>
        </p:txBody>
      </p:sp>
      <p:sp>
        <p:nvSpPr>
          <p:cNvPr id="160" name="Text 157"/>
          <p:cNvSpPr/>
          <p:nvPr/>
        </p:nvSpPr>
        <p:spPr>
          <a:xfrm>
            <a:off x="7467429" y="5105688"/>
            <a:ext cx="522105" cy="1347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国别市场</a:t>
            </a:r>
            <a:endParaRPr lang="en-US" sz="1050" dirty="0"/>
          </a:p>
        </p:txBody>
      </p:sp>
      <p:sp>
        <p:nvSpPr>
          <p:cNvPr id="161" name="Text 158"/>
          <p:cNvSpPr/>
          <p:nvPr/>
        </p:nvSpPr>
        <p:spPr>
          <a:xfrm>
            <a:off x="7571689" y="5225989"/>
            <a:ext cx="391579" cy="1347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与风险</a:t>
            </a:r>
            <a:endParaRPr lang="en-US" sz="1050" dirty="0"/>
          </a:p>
        </p:txBody>
      </p:sp>
      <p:sp>
        <p:nvSpPr>
          <p:cNvPr id="162" name="Text 159"/>
          <p:cNvSpPr/>
          <p:nvPr/>
        </p:nvSpPr>
        <p:spPr>
          <a:xfrm>
            <a:off x="8967178" y="1134961"/>
            <a:ext cx="545363" cy="1523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结果应用</a:t>
            </a:r>
            <a:endParaRPr lang="en-US" sz="1050" dirty="0"/>
          </a:p>
        </p:txBody>
      </p:sp>
      <p:sp>
        <p:nvSpPr>
          <p:cNvPr id="163" name="Text 160"/>
          <p:cNvSpPr/>
          <p:nvPr/>
        </p:nvSpPr>
        <p:spPr>
          <a:xfrm>
            <a:off x="8779011" y="1276114"/>
            <a:ext cx="913685" cy="1347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（多场景赋能）</a:t>
            </a:r>
            <a:endParaRPr lang="en-US" sz="1050" dirty="0"/>
          </a:p>
        </p:txBody>
      </p:sp>
      <p:sp>
        <p:nvSpPr>
          <p:cNvPr id="164" name="Text 161"/>
          <p:cNvSpPr/>
          <p:nvPr/>
        </p:nvSpPr>
        <p:spPr>
          <a:xfrm>
            <a:off x="8967178" y="1562590"/>
            <a:ext cx="522105" cy="1347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企业应用</a:t>
            </a:r>
            <a:endParaRPr lang="en-US" sz="1050" dirty="0"/>
          </a:p>
        </p:txBody>
      </p:sp>
      <p:sp>
        <p:nvSpPr>
          <p:cNvPr id="165" name="Text 162"/>
          <p:cNvSpPr/>
          <p:nvPr/>
        </p:nvSpPr>
        <p:spPr>
          <a:xfrm>
            <a:off x="9079459" y="1735053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战略决策支持</a:t>
            </a:r>
            <a:endParaRPr lang="en-US" sz="900" dirty="0"/>
          </a:p>
        </p:txBody>
      </p:sp>
      <p:sp>
        <p:nvSpPr>
          <p:cNvPr id="166" name="Text 163"/>
          <p:cNvSpPr/>
          <p:nvPr/>
        </p:nvSpPr>
        <p:spPr>
          <a:xfrm>
            <a:off x="9007278" y="1738662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67" name="Text 164"/>
          <p:cNvSpPr/>
          <p:nvPr/>
        </p:nvSpPr>
        <p:spPr>
          <a:xfrm>
            <a:off x="9079459" y="1858626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投资立项评估</a:t>
            </a:r>
            <a:endParaRPr lang="en-US" sz="900" dirty="0"/>
          </a:p>
        </p:txBody>
      </p:sp>
      <p:sp>
        <p:nvSpPr>
          <p:cNvPr id="168" name="Text 165"/>
          <p:cNvSpPr/>
          <p:nvPr/>
        </p:nvSpPr>
        <p:spPr>
          <a:xfrm>
            <a:off x="9007278" y="1862235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69" name="Text 166"/>
          <p:cNvSpPr/>
          <p:nvPr/>
        </p:nvSpPr>
        <p:spPr>
          <a:xfrm>
            <a:off x="9079459" y="1982199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项目投标支持</a:t>
            </a:r>
            <a:endParaRPr lang="en-US" sz="900" dirty="0"/>
          </a:p>
        </p:txBody>
      </p:sp>
      <p:sp>
        <p:nvSpPr>
          <p:cNvPr id="170" name="Text 167"/>
          <p:cNvSpPr/>
          <p:nvPr/>
        </p:nvSpPr>
        <p:spPr>
          <a:xfrm>
            <a:off x="9007278" y="1985808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1" name="Text 168"/>
          <p:cNvSpPr/>
          <p:nvPr/>
        </p:nvSpPr>
        <p:spPr>
          <a:xfrm>
            <a:off x="9079459" y="2105772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绩效考核应用</a:t>
            </a:r>
            <a:endParaRPr lang="en-US" sz="900" dirty="0"/>
          </a:p>
        </p:txBody>
      </p:sp>
      <p:sp>
        <p:nvSpPr>
          <p:cNvPr id="172" name="Text 169"/>
          <p:cNvSpPr/>
          <p:nvPr/>
        </p:nvSpPr>
        <p:spPr>
          <a:xfrm>
            <a:off x="9007278" y="2109381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3" name="Text 170"/>
          <p:cNvSpPr/>
          <p:nvPr/>
        </p:nvSpPr>
        <p:spPr>
          <a:xfrm>
            <a:off x="9079459" y="2229345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风险预警控制</a:t>
            </a:r>
            <a:endParaRPr lang="en-US" sz="900" dirty="0"/>
          </a:p>
        </p:txBody>
      </p:sp>
      <p:sp>
        <p:nvSpPr>
          <p:cNvPr id="174" name="Text 171"/>
          <p:cNvSpPr/>
          <p:nvPr/>
        </p:nvSpPr>
        <p:spPr>
          <a:xfrm>
            <a:off x="9007278" y="2232954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5" name="Text 172"/>
          <p:cNvSpPr/>
          <p:nvPr/>
        </p:nvSpPr>
        <p:spPr>
          <a:xfrm>
            <a:off x="8761865" y="2984384"/>
            <a:ext cx="1044211" cy="1347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外部合作伙伴应用</a:t>
            </a:r>
            <a:endParaRPr lang="en-US" sz="1050" dirty="0"/>
          </a:p>
        </p:txBody>
      </p:sp>
      <p:sp>
        <p:nvSpPr>
          <p:cNvPr id="176" name="Text 173"/>
          <p:cNvSpPr/>
          <p:nvPr/>
        </p:nvSpPr>
        <p:spPr>
          <a:xfrm>
            <a:off x="9079459" y="3156848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金融机构授信</a:t>
            </a:r>
            <a:endParaRPr lang="en-US" sz="900" dirty="0"/>
          </a:p>
        </p:txBody>
      </p:sp>
      <p:sp>
        <p:nvSpPr>
          <p:cNvPr id="177" name="Text 174"/>
          <p:cNvSpPr/>
          <p:nvPr/>
        </p:nvSpPr>
        <p:spPr>
          <a:xfrm>
            <a:off x="9007278" y="3160457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8" name="Text 175"/>
          <p:cNvSpPr/>
          <p:nvPr/>
        </p:nvSpPr>
        <p:spPr>
          <a:xfrm>
            <a:off x="9079459" y="3280421"/>
            <a:ext cx="78315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供应商准入评估</a:t>
            </a:r>
            <a:endParaRPr lang="en-US" sz="900" dirty="0"/>
          </a:p>
        </p:txBody>
      </p:sp>
      <p:sp>
        <p:nvSpPr>
          <p:cNvPr id="179" name="Text 176"/>
          <p:cNvSpPr/>
          <p:nvPr/>
        </p:nvSpPr>
        <p:spPr>
          <a:xfrm>
            <a:off x="9007278" y="3284029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0" name="Text 177"/>
          <p:cNvSpPr/>
          <p:nvPr/>
        </p:nvSpPr>
        <p:spPr>
          <a:xfrm>
            <a:off x="9079459" y="3403993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合作伙伴尽调</a:t>
            </a:r>
            <a:endParaRPr lang="en-US" sz="900" dirty="0"/>
          </a:p>
        </p:txBody>
      </p:sp>
      <p:sp>
        <p:nvSpPr>
          <p:cNvPr id="181" name="Text 178"/>
          <p:cNvSpPr/>
          <p:nvPr/>
        </p:nvSpPr>
        <p:spPr>
          <a:xfrm>
            <a:off x="9007278" y="3407602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2" name="Text 179"/>
          <p:cNvSpPr/>
          <p:nvPr/>
        </p:nvSpPr>
        <p:spPr>
          <a:xfrm>
            <a:off x="9079459" y="3527566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保险承保参考</a:t>
            </a:r>
            <a:endParaRPr lang="en-US" sz="900" dirty="0"/>
          </a:p>
        </p:txBody>
      </p:sp>
      <p:sp>
        <p:nvSpPr>
          <p:cNvPr id="183" name="Text 180"/>
          <p:cNvSpPr/>
          <p:nvPr/>
        </p:nvSpPr>
        <p:spPr>
          <a:xfrm>
            <a:off x="9007278" y="3531175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4" name="Text 181"/>
          <p:cNvSpPr/>
          <p:nvPr/>
        </p:nvSpPr>
        <p:spPr>
          <a:xfrm>
            <a:off x="9079459" y="3651139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法律合规尽职</a:t>
            </a:r>
            <a:endParaRPr lang="en-US" sz="900" dirty="0"/>
          </a:p>
        </p:txBody>
      </p:sp>
      <p:sp>
        <p:nvSpPr>
          <p:cNvPr id="185" name="Text 182"/>
          <p:cNvSpPr/>
          <p:nvPr/>
        </p:nvSpPr>
        <p:spPr>
          <a:xfrm>
            <a:off x="9007278" y="3654749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6" name="Text 183"/>
          <p:cNvSpPr/>
          <p:nvPr/>
        </p:nvSpPr>
        <p:spPr>
          <a:xfrm>
            <a:off x="8848281" y="4347793"/>
            <a:ext cx="783158" cy="1347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行业组织应用</a:t>
            </a:r>
            <a:endParaRPr lang="en-US" sz="1050" dirty="0"/>
          </a:p>
        </p:txBody>
      </p:sp>
      <p:sp>
        <p:nvSpPr>
          <p:cNvPr id="187" name="Text 184"/>
          <p:cNvSpPr/>
          <p:nvPr/>
        </p:nvSpPr>
        <p:spPr>
          <a:xfrm>
            <a:off x="9079459" y="4520256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行业能力对标</a:t>
            </a:r>
            <a:endParaRPr lang="en-US" sz="900" dirty="0"/>
          </a:p>
        </p:txBody>
      </p:sp>
      <p:sp>
        <p:nvSpPr>
          <p:cNvPr id="188" name="Text 185"/>
          <p:cNvSpPr/>
          <p:nvPr/>
        </p:nvSpPr>
        <p:spPr>
          <a:xfrm>
            <a:off x="9007278" y="4523865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9" name="Text 186"/>
          <p:cNvSpPr/>
          <p:nvPr/>
        </p:nvSpPr>
        <p:spPr>
          <a:xfrm>
            <a:off x="9079459" y="4643829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标准制定参考</a:t>
            </a:r>
            <a:endParaRPr lang="en-US" sz="900" dirty="0"/>
          </a:p>
        </p:txBody>
      </p:sp>
      <p:sp>
        <p:nvSpPr>
          <p:cNvPr id="190" name="Text 187"/>
          <p:cNvSpPr/>
          <p:nvPr/>
        </p:nvSpPr>
        <p:spPr>
          <a:xfrm>
            <a:off x="9007278" y="4647438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1" name="Text 188"/>
          <p:cNvSpPr/>
          <p:nvPr/>
        </p:nvSpPr>
        <p:spPr>
          <a:xfrm>
            <a:off x="9079459" y="4767402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行业洞察分析</a:t>
            </a:r>
            <a:endParaRPr lang="en-US" sz="900" dirty="0"/>
          </a:p>
        </p:txBody>
      </p:sp>
      <p:sp>
        <p:nvSpPr>
          <p:cNvPr id="192" name="Text 189"/>
          <p:cNvSpPr/>
          <p:nvPr/>
        </p:nvSpPr>
        <p:spPr>
          <a:xfrm>
            <a:off x="9007278" y="4771011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3" name="Text 190"/>
          <p:cNvSpPr/>
          <p:nvPr/>
        </p:nvSpPr>
        <p:spPr>
          <a:xfrm>
            <a:off x="9079459" y="4890975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政策研究支持</a:t>
            </a:r>
            <a:endParaRPr lang="en-US" sz="900" dirty="0"/>
          </a:p>
        </p:txBody>
      </p:sp>
      <p:sp>
        <p:nvSpPr>
          <p:cNvPr id="194" name="Text 191"/>
          <p:cNvSpPr/>
          <p:nvPr/>
        </p:nvSpPr>
        <p:spPr>
          <a:xfrm>
            <a:off x="9007278" y="4894584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5" name="Text 192"/>
          <p:cNvSpPr/>
          <p:nvPr/>
        </p:nvSpPr>
        <p:spPr>
          <a:xfrm>
            <a:off x="9079459" y="5014547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公共服务支撑</a:t>
            </a:r>
            <a:endParaRPr lang="en-US" sz="900" dirty="0"/>
          </a:p>
        </p:txBody>
      </p:sp>
      <p:sp>
        <p:nvSpPr>
          <p:cNvPr id="196" name="Text 193"/>
          <p:cNvSpPr/>
          <p:nvPr/>
        </p:nvSpPr>
        <p:spPr>
          <a:xfrm>
            <a:off x="9007278" y="5018157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7" name="Text 194"/>
          <p:cNvSpPr/>
          <p:nvPr/>
        </p:nvSpPr>
        <p:spPr>
          <a:xfrm>
            <a:off x="10354647" y="1134961"/>
            <a:ext cx="537343" cy="1523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运营保障</a:t>
            </a:r>
            <a:endParaRPr lang="en-US" sz="1050" dirty="0"/>
          </a:p>
        </p:txBody>
      </p:sp>
      <p:sp>
        <p:nvSpPr>
          <p:cNvPr id="198" name="Text 195"/>
          <p:cNvSpPr/>
          <p:nvPr/>
        </p:nvSpPr>
        <p:spPr>
          <a:xfrm>
            <a:off x="10235749" y="1276114"/>
            <a:ext cx="783158" cy="1347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（安全合规）</a:t>
            </a:r>
            <a:endParaRPr lang="en-US" sz="1050" dirty="0"/>
          </a:p>
        </p:txBody>
      </p:sp>
      <p:sp>
        <p:nvSpPr>
          <p:cNvPr id="199" name="Text 196"/>
          <p:cNvSpPr/>
          <p:nvPr/>
        </p:nvSpPr>
        <p:spPr>
          <a:xfrm>
            <a:off x="10258406" y="1620174"/>
            <a:ext cx="144361" cy="1523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80" dirty="0"/>
          </a:p>
        </p:txBody>
      </p:sp>
      <p:sp>
        <p:nvSpPr>
          <p:cNvPr id="200" name="Text 197"/>
          <p:cNvSpPr/>
          <p:nvPr/>
        </p:nvSpPr>
        <p:spPr>
          <a:xfrm>
            <a:off x="10563168" y="1604134"/>
            <a:ext cx="522105" cy="1347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分类分级</a:t>
            </a:r>
            <a:endParaRPr lang="en-US" sz="1050" dirty="0"/>
          </a:p>
        </p:txBody>
      </p:sp>
      <p:sp>
        <p:nvSpPr>
          <p:cNvPr id="201" name="Text 198"/>
          <p:cNvSpPr/>
          <p:nvPr/>
        </p:nvSpPr>
        <p:spPr>
          <a:xfrm>
            <a:off x="10539108" y="1776597"/>
            <a:ext cx="559399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数据与能力</a:t>
            </a:r>
            <a:endParaRPr lang="en-US" sz="900" dirty="0"/>
          </a:p>
        </p:txBody>
      </p:sp>
      <p:sp>
        <p:nvSpPr>
          <p:cNvPr id="202" name="Text 199"/>
          <p:cNvSpPr/>
          <p:nvPr/>
        </p:nvSpPr>
        <p:spPr>
          <a:xfrm>
            <a:off x="10490987" y="1899769"/>
            <a:ext cx="32080" cy="1162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3" name="Text 200"/>
          <p:cNvSpPr/>
          <p:nvPr/>
        </p:nvSpPr>
        <p:spPr>
          <a:xfrm>
            <a:off x="10539108" y="1900170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分类分级管理</a:t>
            </a:r>
            <a:endParaRPr lang="en-US" sz="900" dirty="0"/>
          </a:p>
        </p:txBody>
      </p:sp>
      <p:sp>
        <p:nvSpPr>
          <p:cNvPr id="204" name="Text 201"/>
          <p:cNvSpPr/>
          <p:nvPr/>
        </p:nvSpPr>
        <p:spPr>
          <a:xfrm>
            <a:off x="10490987" y="2061277"/>
            <a:ext cx="32080" cy="1162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5" name="Text 202"/>
          <p:cNvSpPr/>
          <p:nvPr/>
        </p:nvSpPr>
        <p:spPr>
          <a:xfrm>
            <a:off x="10258406" y="2478319"/>
            <a:ext cx="144361" cy="1523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80" dirty="0"/>
          </a:p>
        </p:txBody>
      </p:sp>
      <p:sp>
        <p:nvSpPr>
          <p:cNvPr id="206" name="Text 203"/>
          <p:cNvSpPr/>
          <p:nvPr/>
        </p:nvSpPr>
        <p:spPr>
          <a:xfrm>
            <a:off x="10563168" y="2462280"/>
            <a:ext cx="522105" cy="1347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授权管理</a:t>
            </a:r>
            <a:endParaRPr lang="en-US" sz="1050" dirty="0"/>
          </a:p>
        </p:txBody>
      </p:sp>
      <p:sp>
        <p:nvSpPr>
          <p:cNvPr id="207" name="Text 204"/>
          <p:cNvSpPr/>
          <p:nvPr/>
        </p:nvSpPr>
        <p:spPr>
          <a:xfrm>
            <a:off x="10547128" y="2634742"/>
            <a:ext cx="559399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访问主体与</a:t>
            </a:r>
            <a:endParaRPr lang="en-US" sz="900" dirty="0"/>
          </a:p>
        </p:txBody>
      </p:sp>
      <p:sp>
        <p:nvSpPr>
          <p:cNvPr id="208" name="Text 205"/>
          <p:cNvSpPr/>
          <p:nvPr/>
        </p:nvSpPr>
        <p:spPr>
          <a:xfrm>
            <a:off x="10499007" y="2757914"/>
            <a:ext cx="32080" cy="1162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9" name="Text 206"/>
          <p:cNvSpPr/>
          <p:nvPr/>
        </p:nvSpPr>
        <p:spPr>
          <a:xfrm>
            <a:off x="10539108" y="2758315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范围授权管理</a:t>
            </a:r>
            <a:endParaRPr lang="en-US" sz="900" dirty="0"/>
          </a:p>
        </p:txBody>
      </p:sp>
      <p:sp>
        <p:nvSpPr>
          <p:cNvPr id="210" name="Text 207"/>
          <p:cNvSpPr/>
          <p:nvPr/>
        </p:nvSpPr>
        <p:spPr>
          <a:xfrm>
            <a:off x="10490987" y="2760224"/>
            <a:ext cx="32080" cy="1162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1" name="Text 208"/>
          <p:cNvSpPr/>
          <p:nvPr/>
        </p:nvSpPr>
        <p:spPr>
          <a:xfrm>
            <a:off x="10258406" y="3328445"/>
            <a:ext cx="144361" cy="1523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680" dirty="0"/>
          </a:p>
        </p:txBody>
      </p:sp>
      <p:sp>
        <p:nvSpPr>
          <p:cNvPr id="212" name="Text 209"/>
          <p:cNvSpPr/>
          <p:nvPr/>
        </p:nvSpPr>
        <p:spPr>
          <a:xfrm>
            <a:off x="10563168" y="3312405"/>
            <a:ext cx="522105" cy="1347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权限控制</a:t>
            </a:r>
            <a:endParaRPr lang="en-US" sz="1050" dirty="0"/>
          </a:p>
        </p:txBody>
      </p:sp>
      <p:sp>
        <p:nvSpPr>
          <p:cNvPr id="213" name="Text 210"/>
          <p:cNvSpPr/>
          <p:nvPr/>
        </p:nvSpPr>
        <p:spPr>
          <a:xfrm>
            <a:off x="10539108" y="3484868"/>
            <a:ext cx="559399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细粒度权限</a:t>
            </a:r>
            <a:endParaRPr lang="en-US" sz="900" dirty="0"/>
          </a:p>
        </p:txBody>
      </p:sp>
      <p:sp>
        <p:nvSpPr>
          <p:cNvPr id="214" name="Text 211"/>
          <p:cNvSpPr/>
          <p:nvPr/>
        </p:nvSpPr>
        <p:spPr>
          <a:xfrm>
            <a:off x="10490987" y="3484467"/>
            <a:ext cx="32080" cy="1162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5" name="Text 212"/>
          <p:cNvSpPr/>
          <p:nvPr/>
        </p:nvSpPr>
        <p:spPr>
          <a:xfrm>
            <a:off x="10539108" y="3608440"/>
            <a:ext cx="559399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与策略控制</a:t>
            </a:r>
            <a:endParaRPr lang="en-US" sz="900" dirty="0"/>
          </a:p>
        </p:txBody>
      </p:sp>
      <p:sp>
        <p:nvSpPr>
          <p:cNvPr id="216" name="Text 213"/>
          <p:cNvSpPr/>
          <p:nvPr/>
        </p:nvSpPr>
        <p:spPr>
          <a:xfrm>
            <a:off x="10490987" y="3608040"/>
            <a:ext cx="32080" cy="1162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7" name="Text 214"/>
          <p:cNvSpPr/>
          <p:nvPr/>
        </p:nvSpPr>
        <p:spPr>
          <a:xfrm>
            <a:off x="10258406" y="4186590"/>
            <a:ext cx="144361" cy="1523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680" dirty="0"/>
          </a:p>
        </p:txBody>
      </p:sp>
      <p:sp>
        <p:nvSpPr>
          <p:cNvPr id="218" name="Text 215"/>
          <p:cNvSpPr/>
          <p:nvPr/>
        </p:nvSpPr>
        <p:spPr>
          <a:xfrm>
            <a:off x="10563168" y="4170550"/>
            <a:ext cx="522105" cy="1347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数据脱敏</a:t>
            </a:r>
            <a:endParaRPr lang="en-US" sz="1050" dirty="0"/>
          </a:p>
        </p:txBody>
      </p:sp>
      <p:sp>
        <p:nvSpPr>
          <p:cNvPr id="219" name="Text 216"/>
          <p:cNvSpPr/>
          <p:nvPr/>
        </p:nvSpPr>
        <p:spPr>
          <a:xfrm>
            <a:off x="10539108" y="4343013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敏感数据识别</a:t>
            </a:r>
            <a:endParaRPr lang="en-US" sz="900" dirty="0"/>
          </a:p>
        </p:txBody>
      </p:sp>
      <p:sp>
        <p:nvSpPr>
          <p:cNvPr id="220" name="Text 217"/>
          <p:cNvSpPr/>
          <p:nvPr/>
        </p:nvSpPr>
        <p:spPr>
          <a:xfrm>
            <a:off x="10490987" y="4308382"/>
            <a:ext cx="32080" cy="1162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1" name="Text 218"/>
          <p:cNvSpPr/>
          <p:nvPr/>
        </p:nvSpPr>
        <p:spPr>
          <a:xfrm>
            <a:off x="10539108" y="4466586"/>
            <a:ext cx="559399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与脱敏处理</a:t>
            </a:r>
            <a:endParaRPr lang="en-US" sz="900" dirty="0"/>
          </a:p>
        </p:txBody>
      </p:sp>
      <p:sp>
        <p:nvSpPr>
          <p:cNvPr id="222" name="Text 219"/>
          <p:cNvSpPr/>
          <p:nvPr/>
        </p:nvSpPr>
        <p:spPr>
          <a:xfrm>
            <a:off x="10490987" y="4466185"/>
            <a:ext cx="32080" cy="1162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3" name="Text 220"/>
          <p:cNvSpPr/>
          <p:nvPr/>
        </p:nvSpPr>
        <p:spPr>
          <a:xfrm>
            <a:off x="10258406" y="5036716"/>
            <a:ext cx="144361" cy="1523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680" dirty="0"/>
          </a:p>
        </p:txBody>
      </p:sp>
      <p:sp>
        <p:nvSpPr>
          <p:cNvPr id="224" name="Text 221"/>
          <p:cNvSpPr/>
          <p:nvPr/>
        </p:nvSpPr>
        <p:spPr>
          <a:xfrm>
            <a:off x="10563168" y="5020676"/>
            <a:ext cx="522105" cy="1347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发布审核</a:t>
            </a:r>
            <a:endParaRPr lang="en-US" sz="1050" dirty="0"/>
          </a:p>
        </p:txBody>
      </p:sp>
      <p:sp>
        <p:nvSpPr>
          <p:cNvPr id="225" name="Text 222"/>
          <p:cNvSpPr/>
          <p:nvPr/>
        </p:nvSpPr>
        <p:spPr>
          <a:xfrm>
            <a:off x="10539108" y="5193138"/>
            <a:ext cx="559399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对外发布前</a:t>
            </a:r>
            <a:endParaRPr lang="en-US" sz="900" dirty="0"/>
          </a:p>
        </p:txBody>
      </p:sp>
      <p:sp>
        <p:nvSpPr>
          <p:cNvPr id="226" name="Text 223"/>
          <p:cNvSpPr/>
          <p:nvPr/>
        </p:nvSpPr>
        <p:spPr>
          <a:xfrm>
            <a:off x="10490987" y="5192737"/>
            <a:ext cx="32080" cy="1162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7" name="Text 224"/>
          <p:cNvSpPr/>
          <p:nvPr/>
        </p:nvSpPr>
        <p:spPr>
          <a:xfrm>
            <a:off x="10539108" y="5316711"/>
            <a:ext cx="447519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合规审核</a:t>
            </a:r>
            <a:endParaRPr lang="en-US" sz="900" dirty="0"/>
          </a:p>
        </p:txBody>
      </p:sp>
      <p:sp>
        <p:nvSpPr>
          <p:cNvPr id="228" name="Text 225"/>
          <p:cNvSpPr/>
          <p:nvPr/>
        </p:nvSpPr>
        <p:spPr>
          <a:xfrm>
            <a:off x="10490987" y="5316310"/>
            <a:ext cx="32080" cy="1162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9" name="Text 226"/>
          <p:cNvSpPr/>
          <p:nvPr/>
        </p:nvSpPr>
        <p:spPr>
          <a:xfrm>
            <a:off x="10258406" y="5894860"/>
            <a:ext cx="144361" cy="1523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680" dirty="0"/>
          </a:p>
        </p:txBody>
      </p:sp>
      <p:sp>
        <p:nvSpPr>
          <p:cNvPr id="230" name="Text 227"/>
          <p:cNvSpPr/>
          <p:nvPr/>
        </p:nvSpPr>
        <p:spPr>
          <a:xfrm>
            <a:off x="10563168" y="5878821"/>
            <a:ext cx="522105" cy="1347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审计追踪</a:t>
            </a:r>
            <a:endParaRPr lang="en-US" sz="1050" dirty="0"/>
          </a:p>
        </p:txBody>
      </p:sp>
      <p:sp>
        <p:nvSpPr>
          <p:cNvPr id="231" name="Text 228"/>
          <p:cNvSpPr/>
          <p:nvPr/>
        </p:nvSpPr>
        <p:spPr>
          <a:xfrm>
            <a:off x="10539108" y="6051284"/>
            <a:ext cx="559399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全链路操作</a:t>
            </a:r>
            <a:endParaRPr lang="en-US" sz="900" dirty="0"/>
          </a:p>
        </p:txBody>
      </p:sp>
      <p:sp>
        <p:nvSpPr>
          <p:cNvPr id="232" name="Text 229"/>
          <p:cNvSpPr/>
          <p:nvPr/>
        </p:nvSpPr>
        <p:spPr>
          <a:xfrm>
            <a:off x="10490987" y="6050883"/>
            <a:ext cx="32080" cy="1162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3" name="Text 230"/>
          <p:cNvSpPr/>
          <p:nvPr/>
        </p:nvSpPr>
        <p:spPr>
          <a:xfrm>
            <a:off x="10539108" y="6174856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日志留存审计</a:t>
            </a:r>
            <a:endParaRPr lang="en-US" sz="900" dirty="0"/>
          </a:p>
        </p:txBody>
      </p:sp>
      <p:sp>
        <p:nvSpPr>
          <p:cNvPr id="234" name="Text 231"/>
          <p:cNvSpPr/>
          <p:nvPr/>
        </p:nvSpPr>
        <p:spPr>
          <a:xfrm>
            <a:off x="10490987" y="6174456"/>
            <a:ext cx="32080" cy="1162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5" name="Text 232"/>
          <p:cNvSpPr/>
          <p:nvPr/>
        </p:nvSpPr>
        <p:spPr>
          <a:xfrm>
            <a:off x="1291990" y="6051252"/>
            <a:ext cx="681704" cy="1684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服务价值层</a:t>
            </a:r>
            <a:endParaRPr lang="en-US" sz="1050" dirty="0"/>
          </a:p>
        </p:txBody>
      </p:sp>
      <p:sp>
        <p:nvSpPr>
          <p:cNvPr id="236" name="Text 233"/>
          <p:cNvSpPr/>
          <p:nvPr/>
        </p:nvSpPr>
        <p:spPr>
          <a:xfrm>
            <a:off x="963168" y="6283833"/>
            <a:ext cx="1435789" cy="1523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（能力输出与服务支撑）</a:t>
            </a:r>
            <a:endParaRPr lang="en-US" sz="1050" dirty="0"/>
          </a:p>
        </p:txBody>
      </p:sp>
      <p:sp>
        <p:nvSpPr>
          <p:cNvPr id="237" name="Text 234"/>
          <p:cNvSpPr/>
          <p:nvPr/>
        </p:nvSpPr>
        <p:spPr>
          <a:xfrm>
            <a:off x="2845273" y="5967843"/>
            <a:ext cx="783158" cy="1347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基础评估服务</a:t>
            </a:r>
            <a:endParaRPr lang="en-US" sz="1050" dirty="0"/>
          </a:p>
        </p:txBody>
      </p:sp>
      <p:sp>
        <p:nvSpPr>
          <p:cNvPr id="238" name="Text 235"/>
          <p:cNvSpPr/>
          <p:nvPr/>
        </p:nvSpPr>
        <p:spPr>
          <a:xfrm>
            <a:off x="3016301" y="6140307"/>
            <a:ext cx="78315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标准化评估服务</a:t>
            </a:r>
            <a:endParaRPr lang="en-US" sz="900" dirty="0"/>
          </a:p>
        </p:txBody>
      </p:sp>
      <p:sp>
        <p:nvSpPr>
          <p:cNvPr id="239" name="Text 236"/>
          <p:cNvSpPr/>
          <p:nvPr/>
        </p:nvSpPr>
        <p:spPr>
          <a:xfrm>
            <a:off x="2944120" y="6143915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0" name="Text 237"/>
          <p:cNvSpPr/>
          <p:nvPr/>
        </p:nvSpPr>
        <p:spPr>
          <a:xfrm>
            <a:off x="3016301" y="6263879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快速评估工具</a:t>
            </a:r>
            <a:endParaRPr lang="en-US" sz="900" dirty="0"/>
          </a:p>
        </p:txBody>
      </p:sp>
      <p:sp>
        <p:nvSpPr>
          <p:cNvPr id="241" name="Text 238"/>
          <p:cNvSpPr/>
          <p:nvPr/>
        </p:nvSpPr>
        <p:spPr>
          <a:xfrm>
            <a:off x="2944120" y="6267488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2" name="Text 239"/>
          <p:cNvSpPr/>
          <p:nvPr/>
        </p:nvSpPr>
        <p:spPr>
          <a:xfrm>
            <a:off x="3016301" y="6387452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评估模板中心</a:t>
            </a:r>
            <a:endParaRPr lang="en-US" sz="900" dirty="0"/>
          </a:p>
        </p:txBody>
      </p:sp>
      <p:sp>
        <p:nvSpPr>
          <p:cNvPr id="243" name="Text 240"/>
          <p:cNvSpPr/>
          <p:nvPr/>
        </p:nvSpPr>
        <p:spPr>
          <a:xfrm>
            <a:off x="2944120" y="6391061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4" name="Text 241"/>
          <p:cNvSpPr/>
          <p:nvPr/>
        </p:nvSpPr>
        <p:spPr>
          <a:xfrm>
            <a:off x="4304922" y="5967843"/>
            <a:ext cx="783158" cy="1347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专项评估服务</a:t>
            </a:r>
            <a:endParaRPr lang="en-US" sz="1050" dirty="0"/>
          </a:p>
        </p:txBody>
      </p:sp>
      <p:sp>
        <p:nvSpPr>
          <p:cNvPr id="245" name="Text 242"/>
          <p:cNvSpPr/>
          <p:nvPr/>
        </p:nvSpPr>
        <p:spPr>
          <a:xfrm>
            <a:off x="4467930" y="6140307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专项能力评估</a:t>
            </a:r>
            <a:endParaRPr lang="en-US" sz="900" dirty="0"/>
          </a:p>
        </p:txBody>
      </p:sp>
      <p:sp>
        <p:nvSpPr>
          <p:cNvPr id="246" name="Text 243"/>
          <p:cNvSpPr/>
          <p:nvPr/>
        </p:nvSpPr>
        <p:spPr>
          <a:xfrm>
            <a:off x="4395749" y="6143915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7" name="Text 244"/>
          <p:cNvSpPr/>
          <p:nvPr/>
        </p:nvSpPr>
        <p:spPr>
          <a:xfrm>
            <a:off x="4467930" y="6263879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行业场景评估</a:t>
            </a:r>
            <a:endParaRPr lang="en-US" sz="900" dirty="0"/>
          </a:p>
        </p:txBody>
      </p:sp>
      <p:sp>
        <p:nvSpPr>
          <p:cNvPr id="248" name="Text 245"/>
          <p:cNvSpPr/>
          <p:nvPr/>
        </p:nvSpPr>
        <p:spPr>
          <a:xfrm>
            <a:off x="4395749" y="6267488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9" name="Text 246"/>
          <p:cNvSpPr/>
          <p:nvPr/>
        </p:nvSpPr>
        <p:spPr>
          <a:xfrm>
            <a:off x="4467930" y="6387452"/>
            <a:ext cx="78315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定制化评估服务</a:t>
            </a:r>
            <a:endParaRPr lang="en-US" sz="900" dirty="0"/>
          </a:p>
        </p:txBody>
      </p:sp>
      <p:sp>
        <p:nvSpPr>
          <p:cNvPr id="250" name="Text 247"/>
          <p:cNvSpPr/>
          <p:nvPr/>
        </p:nvSpPr>
        <p:spPr>
          <a:xfrm>
            <a:off x="4395749" y="6391061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1" name="Text 248"/>
          <p:cNvSpPr/>
          <p:nvPr/>
        </p:nvSpPr>
        <p:spPr>
          <a:xfrm>
            <a:off x="5812691" y="5967843"/>
            <a:ext cx="783158" cy="1347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监测订阅服务</a:t>
            </a:r>
            <a:endParaRPr lang="en-US" sz="1050" dirty="0"/>
          </a:p>
        </p:txBody>
      </p:sp>
      <p:sp>
        <p:nvSpPr>
          <p:cNvPr id="252" name="Text 249"/>
          <p:cNvSpPr/>
          <p:nvPr/>
        </p:nvSpPr>
        <p:spPr>
          <a:xfrm>
            <a:off x="5967679" y="6140307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能力动态监测</a:t>
            </a:r>
            <a:endParaRPr lang="en-US" sz="900" dirty="0"/>
          </a:p>
        </p:txBody>
      </p:sp>
      <p:sp>
        <p:nvSpPr>
          <p:cNvPr id="253" name="Text 250"/>
          <p:cNvSpPr/>
          <p:nvPr/>
        </p:nvSpPr>
        <p:spPr>
          <a:xfrm>
            <a:off x="5895499" y="6143915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4" name="Text 251"/>
          <p:cNvSpPr/>
          <p:nvPr/>
        </p:nvSpPr>
        <p:spPr>
          <a:xfrm>
            <a:off x="5967679" y="6263879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风险预警订阅</a:t>
            </a:r>
            <a:endParaRPr lang="en-US" sz="900" dirty="0"/>
          </a:p>
        </p:txBody>
      </p:sp>
      <p:sp>
        <p:nvSpPr>
          <p:cNvPr id="255" name="Text 252"/>
          <p:cNvSpPr/>
          <p:nvPr/>
        </p:nvSpPr>
        <p:spPr>
          <a:xfrm>
            <a:off x="5895499" y="6267488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6" name="Text 253"/>
          <p:cNvSpPr/>
          <p:nvPr/>
        </p:nvSpPr>
        <p:spPr>
          <a:xfrm>
            <a:off x="5967679" y="6387452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指标变化推送</a:t>
            </a:r>
            <a:endParaRPr lang="en-US" sz="900" dirty="0"/>
          </a:p>
        </p:txBody>
      </p:sp>
      <p:sp>
        <p:nvSpPr>
          <p:cNvPr id="257" name="Text 254"/>
          <p:cNvSpPr/>
          <p:nvPr/>
        </p:nvSpPr>
        <p:spPr>
          <a:xfrm>
            <a:off x="5895499" y="6391061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8" name="Text 255"/>
          <p:cNvSpPr/>
          <p:nvPr/>
        </p:nvSpPr>
        <p:spPr>
          <a:xfrm>
            <a:off x="7336501" y="5967843"/>
            <a:ext cx="783158" cy="1347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国际交流服务</a:t>
            </a:r>
            <a:endParaRPr lang="en-US" sz="1050" dirty="0"/>
          </a:p>
        </p:txBody>
      </p:sp>
      <p:sp>
        <p:nvSpPr>
          <p:cNvPr id="259" name="Text 256"/>
          <p:cNvSpPr/>
          <p:nvPr/>
        </p:nvSpPr>
        <p:spPr>
          <a:xfrm>
            <a:off x="7491489" y="6140307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国际标准对接</a:t>
            </a:r>
            <a:endParaRPr lang="en-US" sz="900" dirty="0"/>
          </a:p>
        </p:txBody>
      </p:sp>
      <p:sp>
        <p:nvSpPr>
          <p:cNvPr id="260" name="Text 257"/>
          <p:cNvSpPr/>
          <p:nvPr/>
        </p:nvSpPr>
        <p:spPr>
          <a:xfrm>
            <a:off x="7419308" y="6143915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1" name="Text 258"/>
          <p:cNvSpPr/>
          <p:nvPr/>
        </p:nvSpPr>
        <p:spPr>
          <a:xfrm>
            <a:off x="7491489" y="6263879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跨境互认支持</a:t>
            </a:r>
            <a:endParaRPr lang="en-US" sz="900" dirty="0"/>
          </a:p>
        </p:txBody>
      </p:sp>
      <p:sp>
        <p:nvSpPr>
          <p:cNvPr id="262" name="Text 259"/>
          <p:cNvSpPr/>
          <p:nvPr/>
        </p:nvSpPr>
        <p:spPr>
          <a:xfrm>
            <a:off x="7419308" y="6267488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3" name="Text 260"/>
          <p:cNvSpPr/>
          <p:nvPr/>
        </p:nvSpPr>
        <p:spPr>
          <a:xfrm>
            <a:off x="7491489" y="6387452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国别信息服务</a:t>
            </a:r>
            <a:endParaRPr lang="en-US" sz="900" dirty="0"/>
          </a:p>
        </p:txBody>
      </p:sp>
      <p:sp>
        <p:nvSpPr>
          <p:cNvPr id="264" name="Text 261"/>
          <p:cNvSpPr/>
          <p:nvPr/>
        </p:nvSpPr>
        <p:spPr>
          <a:xfrm>
            <a:off x="7419308" y="6391061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5" name="Text 262"/>
          <p:cNvSpPr/>
          <p:nvPr/>
        </p:nvSpPr>
        <p:spPr>
          <a:xfrm>
            <a:off x="8860310" y="5967843"/>
            <a:ext cx="783158" cy="1347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生态协作服务</a:t>
            </a:r>
            <a:endParaRPr lang="en-US" sz="1050" dirty="0"/>
          </a:p>
        </p:txBody>
      </p:sp>
      <p:sp>
        <p:nvSpPr>
          <p:cNvPr id="266" name="Text 263"/>
          <p:cNvSpPr/>
          <p:nvPr/>
        </p:nvSpPr>
        <p:spPr>
          <a:xfrm>
            <a:off x="9015298" y="6140307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合作生态对接</a:t>
            </a:r>
            <a:endParaRPr lang="en-US" sz="900" dirty="0"/>
          </a:p>
        </p:txBody>
      </p:sp>
      <p:sp>
        <p:nvSpPr>
          <p:cNvPr id="267" name="Text 264"/>
          <p:cNvSpPr/>
          <p:nvPr/>
        </p:nvSpPr>
        <p:spPr>
          <a:xfrm>
            <a:off x="8943118" y="6143915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8" name="Text 265"/>
          <p:cNvSpPr/>
          <p:nvPr/>
        </p:nvSpPr>
        <p:spPr>
          <a:xfrm>
            <a:off x="9015298" y="6263879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能力开放共享</a:t>
            </a:r>
            <a:endParaRPr lang="en-US" sz="900" dirty="0"/>
          </a:p>
        </p:txBody>
      </p:sp>
      <p:sp>
        <p:nvSpPr>
          <p:cNvPr id="269" name="Text 266"/>
          <p:cNvSpPr/>
          <p:nvPr/>
        </p:nvSpPr>
        <p:spPr>
          <a:xfrm>
            <a:off x="8943118" y="6267488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70" name="Text 267"/>
          <p:cNvSpPr/>
          <p:nvPr/>
        </p:nvSpPr>
        <p:spPr>
          <a:xfrm>
            <a:off x="9015298" y="6387452"/>
            <a:ext cx="671278" cy="1154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生态共建共赢</a:t>
            </a:r>
            <a:endParaRPr lang="en-US" sz="900" dirty="0"/>
          </a:p>
        </p:txBody>
      </p:sp>
      <p:sp>
        <p:nvSpPr>
          <p:cNvPr id="271" name="Text 268"/>
          <p:cNvSpPr/>
          <p:nvPr/>
        </p:nvSpPr>
        <p:spPr>
          <a:xfrm>
            <a:off x="8943118" y="6391061"/>
            <a:ext cx="32080" cy="1082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72" name="Template Title"/>
          <p:cNvSpPr txBox="1"/>
          <p:nvPr/>
        </p:nvSpPr>
        <p:spPr>
          <a:xfrm>
            <a:off x="552450" y="228600"/>
            <a:ext cx="72390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mid">
            <a:spAutoFit/>
          </a:bodyPr>
          <a:lstStyle/>
          <a:p>
            <a:pPr algn="l"/>
            <a:r>
              <a:rPr lang="zh-CN" sz="2500" dirty="0" b="1">
                <a:solidFill>
                  <a:srgbClr val="0B3B75"/>
                </a:solidFill>
                <a:latin typeface="Microsoft YaHei"/>
                <a:ea typeface="Microsoft YaHei"/>
              </a:rPr>
              <a:t>总体架构</a:t>
            </a:r>
          </a:p>
        </p:txBody>
      </p:sp>
      <p:sp>
        <p:nvSpPr>
          <p:cNvPr id="273" name="CEC Red Divider"/>
          <p:cNvSpPr/>
          <p:nvPr/>
        </p:nvSpPr>
        <p:spPr>
          <a:xfrm>
            <a:off x="0" y="895350"/>
            <a:ext cx="12192000" cy="66675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/>
      </p:sp>
      <p:sp>
        <p:nvSpPr>
          <p:cNvPr id="274" name="Page Number"/>
          <p:cNvSpPr txBox="1"/>
          <p:nvPr/>
        </p:nvSpPr>
        <p:spPr>
          <a:xfrm>
            <a:off x="11353800" y="6667500"/>
            <a:ext cx="51435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mid">
            <a:spAutoFit/>
          </a:bodyPr>
          <a:lstStyle/>
          <a:p>
            <a:pPr algn="r"/>
            <a:r>
              <a:rPr lang="zh-CN" sz="1000" dirty="0" b="1">
                <a:solidFill>
                  <a:srgbClr val="666666"/>
                </a:solidFill>
                <a:latin typeface="Microsoft YaHei"/>
                <a:ea typeface="Microsoft YaHei"/>
              </a:rPr>
              <a:t>6</a:t>
            </a:r>
          </a:p>
        </p:txBody>
      </p:sp>
      <p:pic>
        <p:nvPicPr>
          <p:cNvPr id="275" name="CEC Logo"/>
          <p:cNvPicPr>
            <a:picLocks noChangeAspect="1"/>
          </p:cNvPicPr>
          <p:nvPr/>
        </p:nvPicPr>
        <p:blipFill>
          <a:blip r:embed="rIdLogo1"/>
          <a:stretch>
            <a:fillRect/>
          </a:stretch>
        </p:blipFill>
        <p:spPr>
          <a:xfrm>
            <a:off x="10001250" y="123825"/>
            <a:ext cx="2000250" cy="666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CyberPPT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CyberPPT dual image editable overlay</dc:title>
  <dc:subject>dual_image_editable_overlay</dc:subject>
  <dc:creator>CyberPPT</dc:creator>
  <cp:lastModifiedBy>CyberPPT</cp:lastModifiedBy>
  <cp:revision>1</cp:revision>
  <dcterms:created xsi:type="dcterms:W3CDTF">2026-07-05T05:49:04Z</dcterms:created>
  <dcterms:modified xsi:type="dcterms:W3CDTF">2026-07-05T05:49:04Z</dcterms:modified>
</cp:coreProperties>
</file>